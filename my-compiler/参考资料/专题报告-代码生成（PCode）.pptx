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588" r:id="rId2"/>
    <p:sldId id="539" r:id="rId3"/>
    <p:sldId id="444" r:id="rId4"/>
    <p:sldId id="550" r:id="rId5"/>
    <p:sldId id="551" r:id="rId6"/>
    <p:sldId id="552" r:id="rId7"/>
    <p:sldId id="553" r:id="rId8"/>
    <p:sldId id="554" r:id="rId9"/>
    <p:sldId id="560" r:id="rId10"/>
    <p:sldId id="555" r:id="rId11"/>
    <p:sldId id="557" r:id="rId12"/>
    <p:sldId id="332" r:id="rId13"/>
    <p:sldId id="331" r:id="rId14"/>
    <p:sldId id="564" r:id="rId15"/>
    <p:sldId id="333" r:id="rId16"/>
    <p:sldId id="334" r:id="rId17"/>
    <p:sldId id="335" r:id="rId18"/>
    <p:sldId id="561" r:id="rId19"/>
    <p:sldId id="562" r:id="rId20"/>
    <p:sldId id="563" r:id="rId21"/>
    <p:sldId id="565" r:id="rId22"/>
    <p:sldId id="566" r:id="rId23"/>
    <p:sldId id="567" r:id="rId24"/>
    <p:sldId id="572" r:id="rId25"/>
    <p:sldId id="575" r:id="rId26"/>
    <p:sldId id="577" r:id="rId27"/>
    <p:sldId id="585" r:id="rId28"/>
    <p:sldId id="586" r:id="rId29"/>
    <p:sldId id="587" r:id="rId30"/>
    <p:sldId id="584"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23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445BEB-A174-4E1C-B2E2-26D6AF56AC5D}" type="datetimeFigureOut">
              <a:rPr lang="zh-CN" altLang="en-US" smtClean="0"/>
              <a:t>2025/9/13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6B1BE-7BE1-4F07-BA3B-F7632A7C4D17}" type="slidenum">
              <a:rPr lang="zh-CN" altLang="en-US" smtClean="0"/>
              <a:t>‹#›</a:t>
            </a:fld>
            <a:endParaRPr lang="zh-CN" altLang="en-US"/>
          </a:p>
        </p:txBody>
      </p:sp>
    </p:spTree>
    <p:extLst>
      <p:ext uri="{BB962C8B-B14F-4D97-AF65-F5344CB8AC3E}">
        <p14:creationId xmlns:p14="http://schemas.microsoft.com/office/powerpoint/2010/main" val="2876794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a:t>
            </a:fld>
            <a:endParaRPr lang="zh-CN" altLang="en-US"/>
          </a:p>
        </p:txBody>
      </p:sp>
    </p:spTree>
    <p:extLst>
      <p:ext uri="{BB962C8B-B14F-4D97-AF65-F5344CB8AC3E}">
        <p14:creationId xmlns:p14="http://schemas.microsoft.com/office/powerpoint/2010/main" val="364806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1413363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4</a:t>
            </a:fld>
            <a:endParaRPr lang="zh-CN" altLang="en-US"/>
          </a:p>
        </p:txBody>
      </p:sp>
    </p:spTree>
    <p:extLst>
      <p:ext uri="{BB962C8B-B14F-4D97-AF65-F5344CB8AC3E}">
        <p14:creationId xmlns:p14="http://schemas.microsoft.com/office/powerpoint/2010/main" val="3009233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5</a:t>
            </a:fld>
            <a:endParaRPr lang="zh-CN" altLang="en-US"/>
          </a:p>
        </p:txBody>
      </p:sp>
    </p:spTree>
    <p:extLst>
      <p:ext uri="{BB962C8B-B14F-4D97-AF65-F5344CB8AC3E}">
        <p14:creationId xmlns:p14="http://schemas.microsoft.com/office/powerpoint/2010/main" val="1550309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6</a:t>
            </a:fld>
            <a:endParaRPr lang="zh-CN" altLang="en-US"/>
          </a:p>
        </p:txBody>
      </p:sp>
    </p:spTree>
    <p:extLst>
      <p:ext uri="{BB962C8B-B14F-4D97-AF65-F5344CB8AC3E}">
        <p14:creationId xmlns:p14="http://schemas.microsoft.com/office/powerpoint/2010/main" val="4255283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7</a:t>
            </a:fld>
            <a:endParaRPr lang="zh-CN" altLang="en-US"/>
          </a:p>
        </p:txBody>
      </p:sp>
    </p:spTree>
    <p:extLst>
      <p:ext uri="{BB962C8B-B14F-4D97-AF65-F5344CB8AC3E}">
        <p14:creationId xmlns:p14="http://schemas.microsoft.com/office/powerpoint/2010/main" val="3246746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1091756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9</a:t>
            </a:fld>
            <a:endParaRPr lang="zh-CN" altLang="en-US"/>
          </a:p>
        </p:txBody>
      </p:sp>
    </p:spTree>
    <p:extLst>
      <p:ext uri="{BB962C8B-B14F-4D97-AF65-F5344CB8AC3E}">
        <p14:creationId xmlns:p14="http://schemas.microsoft.com/office/powerpoint/2010/main" val="44686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10</a:t>
            </a:fld>
            <a:endParaRPr lang="zh-CN" altLang="en-US"/>
          </a:p>
        </p:txBody>
      </p:sp>
    </p:spTree>
    <p:extLst>
      <p:ext uri="{BB962C8B-B14F-4D97-AF65-F5344CB8AC3E}">
        <p14:creationId xmlns:p14="http://schemas.microsoft.com/office/powerpoint/2010/main" val="733354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11</a:t>
            </a:fld>
            <a:endParaRPr lang="zh-CN" altLang="en-US"/>
          </a:p>
        </p:txBody>
      </p:sp>
    </p:spTree>
    <p:extLst>
      <p:ext uri="{BB962C8B-B14F-4D97-AF65-F5344CB8AC3E}">
        <p14:creationId xmlns:p14="http://schemas.microsoft.com/office/powerpoint/2010/main" val="634938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24</a:t>
            </a:fld>
            <a:endParaRPr lang="zh-CN" altLang="en-US"/>
          </a:p>
        </p:txBody>
      </p:sp>
    </p:spTree>
    <p:extLst>
      <p:ext uri="{BB962C8B-B14F-4D97-AF65-F5344CB8AC3E}">
        <p14:creationId xmlns:p14="http://schemas.microsoft.com/office/powerpoint/2010/main" val="1166948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25</a:t>
            </a:fld>
            <a:endParaRPr lang="zh-CN" altLang="en-US"/>
          </a:p>
        </p:txBody>
      </p:sp>
    </p:spTree>
    <p:extLst>
      <p:ext uri="{BB962C8B-B14F-4D97-AF65-F5344CB8AC3E}">
        <p14:creationId xmlns:p14="http://schemas.microsoft.com/office/powerpoint/2010/main" val="1262121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26</a:t>
            </a:fld>
            <a:endParaRPr lang="zh-CN" altLang="en-US"/>
          </a:p>
        </p:txBody>
      </p:sp>
    </p:spTree>
    <p:extLst>
      <p:ext uri="{BB962C8B-B14F-4D97-AF65-F5344CB8AC3E}">
        <p14:creationId xmlns:p14="http://schemas.microsoft.com/office/powerpoint/2010/main" val="3075349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594F-B526-3B25-FFDD-672C193154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684EC0-A26D-B3E3-B672-4D84AB64C9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CC03B7-ED18-3F58-0217-7D1776430A25}"/>
              </a:ext>
            </a:extLst>
          </p:cNvPr>
          <p:cNvSpPr>
            <a:spLocks noGrp="1"/>
          </p:cNvSpPr>
          <p:nvPr>
            <p:ph type="body" idx="1"/>
          </p:nvPr>
        </p:nvSpPr>
        <p:spPr/>
        <p:txBody>
          <a:bodyPr/>
          <a:lstStyle/>
          <a:p>
            <a:endParaRPr lang="zh-CN" altLang="en-US" sz="800" dirty="0"/>
          </a:p>
        </p:txBody>
      </p:sp>
      <p:sp>
        <p:nvSpPr>
          <p:cNvPr id="4" name="灯片编号占位符 3">
            <a:extLst>
              <a:ext uri="{FF2B5EF4-FFF2-40B4-BE49-F238E27FC236}">
                <a16:creationId xmlns:a16="http://schemas.microsoft.com/office/drawing/2014/main" id="{969CDB23-6B5A-9687-9498-1A60C8799549}"/>
              </a:ext>
            </a:extLst>
          </p:cNvPr>
          <p:cNvSpPr>
            <a:spLocks noGrp="1"/>
          </p:cNvSpPr>
          <p:nvPr>
            <p:ph type="sldNum" sz="quarter" idx="5"/>
          </p:nvPr>
        </p:nvSpPr>
        <p:spPr/>
        <p:txBody>
          <a:bodyPr/>
          <a:lstStyle/>
          <a:p>
            <a:fld id="{A3ED8765-8EF3-408C-9341-152904E414ED}" type="slidenum">
              <a:rPr lang="zh-CN" altLang="en-US" smtClean="0"/>
              <a:t>27</a:t>
            </a:fld>
            <a:endParaRPr lang="zh-CN" altLang="en-US"/>
          </a:p>
        </p:txBody>
      </p:sp>
    </p:spTree>
    <p:extLst>
      <p:ext uri="{BB962C8B-B14F-4D97-AF65-F5344CB8AC3E}">
        <p14:creationId xmlns:p14="http://schemas.microsoft.com/office/powerpoint/2010/main" val="1002237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B19F-C2CE-ED8F-6061-C54225EEC4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17BF7A-55BD-61E8-7D7C-0B575E02FC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C692F8-4486-64CB-5738-18FB609B4792}"/>
              </a:ext>
            </a:extLst>
          </p:cNvPr>
          <p:cNvSpPr>
            <a:spLocks noGrp="1"/>
          </p:cNvSpPr>
          <p:nvPr>
            <p:ph type="body" idx="1"/>
          </p:nvPr>
        </p:nvSpPr>
        <p:spPr/>
        <p:txBody>
          <a:bodyPr/>
          <a:lstStyle/>
          <a:p>
            <a:endParaRPr lang="zh-CN" altLang="en-US" sz="800" dirty="0"/>
          </a:p>
        </p:txBody>
      </p:sp>
      <p:sp>
        <p:nvSpPr>
          <p:cNvPr id="4" name="灯片编号占位符 3">
            <a:extLst>
              <a:ext uri="{FF2B5EF4-FFF2-40B4-BE49-F238E27FC236}">
                <a16:creationId xmlns:a16="http://schemas.microsoft.com/office/drawing/2014/main" id="{E63A346D-D867-177C-0C2B-F614025305B2}"/>
              </a:ext>
            </a:extLst>
          </p:cNvPr>
          <p:cNvSpPr>
            <a:spLocks noGrp="1"/>
          </p:cNvSpPr>
          <p:nvPr>
            <p:ph type="sldNum" sz="quarter" idx="5"/>
          </p:nvPr>
        </p:nvSpPr>
        <p:spPr/>
        <p:txBody>
          <a:bodyPr/>
          <a:lstStyle/>
          <a:p>
            <a:fld id="{A3ED8765-8EF3-408C-9341-152904E414ED}" type="slidenum">
              <a:rPr lang="zh-CN" altLang="en-US" smtClean="0"/>
              <a:t>28</a:t>
            </a:fld>
            <a:endParaRPr lang="zh-CN" altLang="en-US"/>
          </a:p>
        </p:txBody>
      </p:sp>
    </p:spTree>
    <p:extLst>
      <p:ext uri="{BB962C8B-B14F-4D97-AF65-F5344CB8AC3E}">
        <p14:creationId xmlns:p14="http://schemas.microsoft.com/office/powerpoint/2010/main" val="3693807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34002-D9DB-0C0A-AEEF-0C6EBFEF28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B509F3-4D81-A124-79EA-B088313F41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83B4DB-8B01-5AB0-B241-49B1304B41EC}"/>
              </a:ext>
            </a:extLst>
          </p:cNvPr>
          <p:cNvSpPr>
            <a:spLocks noGrp="1"/>
          </p:cNvSpPr>
          <p:nvPr>
            <p:ph type="body" idx="1"/>
          </p:nvPr>
        </p:nvSpPr>
        <p:spPr/>
        <p:txBody>
          <a:bodyPr/>
          <a:lstStyle/>
          <a:p>
            <a:endParaRPr lang="zh-CN" altLang="en-US" sz="800" dirty="0"/>
          </a:p>
        </p:txBody>
      </p:sp>
      <p:sp>
        <p:nvSpPr>
          <p:cNvPr id="4" name="灯片编号占位符 3">
            <a:extLst>
              <a:ext uri="{FF2B5EF4-FFF2-40B4-BE49-F238E27FC236}">
                <a16:creationId xmlns:a16="http://schemas.microsoft.com/office/drawing/2014/main" id="{BC77520E-EA4F-19F7-E86F-122EE0C9843F}"/>
              </a:ext>
            </a:extLst>
          </p:cNvPr>
          <p:cNvSpPr>
            <a:spLocks noGrp="1"/>
          </p:cNvSpPr>
          <p:nvPr>
            <p:ph type="sldNum" sz="quarter" idx="5"/>
          </p:nvPr>
        </p:nvSpPr>
        <p:spPr/>
        <p:txBody>
          <a:bodyPr/>
          <a:lstStyle/>
          <a:p>
            <a:fld id="{A3ED8765-8EF3-408C-9341-152904E414ED}" type="slidenum">
              <a:rPr lang="zh-CN" altLang="en-US" smtClean="0"/>
              <a:t>29</a:t>
            </a:fld>
            <a:endParaRPr lang="zh-CN" altLang="en-US"/>
          </a:p>
        </p:txBody>
      </p:sp>
    </p:spTree>
    <p:extLst>
      <p:ext uri="{BB962C8B-B14F-4D97-AF65-F5344CB8AC3E}">
        <p14:creationId xmlns:p14="http://schemas.microsoft.com/office/powerpoint/2010/main" val="1334179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800"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30</a:t>
            </a:fld>
            <a:endParaRPr lang="zh-CN" altLang="en-US"/>
          </a:p>
        </p:txBody>
      </p:sp>
    </p:spTree>
    <p:extLst>
      <p:ext uri="{BB962C8B-B14F-4D97-AF65-F5344CB8AC3E}">
        <p14:creationId xmlns:p14="http://schemas.microsoft.com/office/powerpoint/2010/main" val="425596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7A78D7-91A7-E882-CBC6-02E1449FF47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A21F939-0D14-195F-DA1F-826894D1C2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FE14004-DC0B-55A8-E1D0-B9A7E7F64A69}"/>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04336EF6-F7BE-6477-5D96-45C0370BD6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0EE9C1-6818-597E-3C95-38E4526FC69F}"/>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234128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D35A4-D5A8-33BB-76A4-430B154FF4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9B4585-9037-5067-3560-63070A34BFF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0AD518-77BA-2488-5027-AD4CAC064D6C}"/>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F403FBBF-00F6-3186-E4BE-CF38FAD01F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AFC4B2-C8D2-EA79-FCA9-4DA955225F08}"/>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516458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A2EF4-5033-5761-3C14-193024FCE71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8704256-72E9-9C4B-5CAD-158DF104AE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477F611-D3AC-C1A3-8953-4E36D82772DD}"/>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FFF295AB-48F9-60D1-14E6-92B0B4FA07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E0B0A6-9758-B623-32A4-64F31F8062B0}"/>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325205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9E82F8-66B5-C5C2-DC73-02DD05A6F1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2DE09A-BEE0-3E1A-D789-DA1185A3A8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C97251A-E3DA-F3A8-C8A9-EA1C9443730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48700FC-B93E-0F4B-D885-397C3A047391}"/>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FB919A37-FC4D-8082-B8FC-6108CEE601C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F33731-7D3D-25C2-5B0C-418B60DF0F89}"/>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02665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B9B90-05E8-19F2-86E7-186B59B7290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7932785-796A-B2FB-89BE-CC821A1359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87931CA-88C2-96CC-B540-593D9EA56C3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98F698C-14A1-051F-9D51-6A07FD663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BEA1324-3B34-B93A-0F95-8C9135E6C5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55791E6-786E-218F-AD5B-A9C3FEC2EC8B}"/>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8" name="页脚占位符 7">
            <a:extLst>
              <a:ext uri="{FF2B5EF4-FFF2-40B4-BE49-F238E27FC236}">
                <a16:creationId xmlns:a16="http://schemas.microsoft.com/office/drawing/2014/main" id="{12252CA4-95B5-E19F-EA0B-D5402F2EBFF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4D181BC-D37B-6662-DA8D-AA7B62A7FC40}"/>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4108837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F4527D-89EA-C50A-ED9D-068E563AD63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BCEC718-F42F-8DFE-FA9E-43D4B28F6C5C}"/>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4" name="页脚占位符 3">
            <a:extLst>
              <a:ext uri="{FF2B5EF4-FFF2-40B4-BE49-F238E27FC236}">
                <a16:creationId xmlns:a16="http://schemas.microsoft.com/office/drawing/2014/main" id="{80B9A23C-B1F4-592F-AF47-992512A2B52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7C96685-AD24-88A7-F3E9-88262C120234}"/>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48393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D5DA46-4C7E-B434-8BA5-561B48AC15DA}"/>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3" name="页脚占位符 2">
            <a:extLst>
              <a:ext uri="{FF2B5EF4-FFF2-40B4-BE49-F238E27FC236}">
                <a16:creationId xmlns:a16="http://schemas.microsoft.com/office/drawing/2014/main" id="{F5992A29-ACFB-945F-2F57-BC431BC9771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6B6C423-63B4-FE6E-50E1-E819996E983B}"/>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324590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78248D-3244-17BD-F9EE-7111C4DA10B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E39BD6-976B-B989-CD70-D6351168E7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E855C0F-22F1-F8E9-5CB3-0814D7B36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84D47A1-5D4C-9855-B5BA-B5184BFA2352}"/>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4FE82E85-63C1-0CCF-42CF-B72AE6D3FE6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337A19-223D-5595-1AD2-21306141AC0D}"/>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1593690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14BF3-905A-121B-65DD-30A36D913A8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F692C8-4E6C-3456-4B14-3AFCE41409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77205BB-F2E5-C7F3-1A50-057851E5F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7183BC-5FAA-92B5-1A5D-F088710959C9}"/>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6980BD71-A6BA-0F1D-6ADF-35E8FE566D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C792EF-E6B2-F4FE-CA99-9813CD0C6FAE}"/>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1263879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3A4610-D377-6FF2-988B-144882E0C59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8531BA1-071A-D740-F362-2EC077F3F3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6CF72D-1301-7757-4FC0-4C910B8C9DF0}"/>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F4FE2841-9CA0-F5CD-E565-4FB8155241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296E94-5E15-7A12-A7DB-E4E4FB43D480}"/>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1725999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F8EC4D-30CC-FA0C-8EDD-A47B2E7D714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3E5BA1D-1C7F-C5C2-B6EC-9C0200B5BF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F95961-AAA8-BFDC-44D5-9C734BA198F7}"/>
              </a:ext>
            </a:extLst>
          </p:cNvPr>
          <p:cNvSpPr>
            <a:spLocks noGrp="1"/>
          </p:cNvSpPr>
          <p:nvPr>
            <p:ph type="dt" sz="half" idx="10"/>
          </p:nvPr>
        </p:nvSpPr>
        <p:spPr/>
        <p:txBody>
          <a:body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7F423723-A4A3-D115-5B50-1F227CDD80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9FB6F4-B82F-022D-309A-78F1C837DB42}"/>
              </a:ext>
            </a:extLst>
          </p:cNvPr>
          <p:cNvSpPr>
            <a:spLocks noGrp="1"/>
          </p:cNvSpPr>
          <p:nvPr>
            <p:ph type="sldNum" sz="quarter" idx="12"/>
          </p:nvPr>
        </p:nvSpPr>
        <p:spPr/>
        <p:txBody>
          <a:body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60286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Date Placeholder 1">
            <a:extLst>
              <a:ext uri="{FF2B5EF4-FFF2-40B4-BE49-F238E27FC236}">
                <a16:creationId xmlns:a16="http://schemas.microsoft.com/office/drawing/2014/main" id="{E2276466-61D6-871E-EA44-7CBD910F31D1}"/>
              </a:ext>
            </a:extLst>
          </p:cNvPr>
          <p:cNvSpPr>
            <a:spLocks noGrp="1"/>
          </p:cNvSpPr>
          <p:nvPr>
            <p:ph type="dt" sz="half" idx="10"/>
          </p:nvPr>
        </p:nvSpPr>
        <p:spPr>
          <a:xfrm>
            <a:off x="5504656" y="6438900"/>
            <a:ext cx="1802924" cy="215900"/>
          </a:xfrm>
        </p:spPr>
        <p:txBody>
          <a:bodyPr/>
          <a:lstStyle/>
          <a:p>
            <a:fld id="{B89795D8-7546-4F97-9E86-55CD1BFC3EF2}" type="datetime1">
              <a:rPr lang="zh-CN" altLang="en-US" smtClean="0"/>
              <a:t>2025/9/13</a:t>
            </a:fld>
            <a:endParaRPr lang="zh-CN" altLang="en-US"/>
          </a:p>
        </p:txBody>
      </p:sp>
      <p:sp>
        <p:nvSpPr>
          <p:cNvPr id="7" name="Footer Placeholder 2">
            <a:extLst>
              <a:ext uri="{FF2B5EF4-FFF2-40B4-BE49-F238E27FC236}">
                <a16:creationId xmlns:a16="http://schemas.microsoft.com/office/drawing/2014/main" id="{E436265D-F201-9D4B-B460-3A0284E48D1D}"/>
              </a:ext>
            </a:extLst>
          </p:cNvPr>
          <p:cNvSpPr>
            <a:spLocks noGrp="1"/>
          </p:cNvSpPr>
          <p:nvPr>
            <p:ph type="ftr" sz="quarter" idx="11"/>
          </p:nvPr>
        </p:nvSpPr>
        <p:spPr>
          <a:xfrm>
            <a:off x="660401" y="6438900"/>
            <a:ext cx="3992171" cy="215900"/>
          </a:xfrm>
        </p:spPr>
        <p:txBody>
          <a:bodyPr/>
          <a:lstStyle/>
          <a:p>
            <a:endParaRPr lang="zh-CN" altLang="en-US"/>
          </a:p>
        </p:txBody>
      </p:sp>
      <p:sp>
        <p:nvSpPr>
          <p:cNvPr id="8" name="Slide Number Placeholder 3">
            <a:extLst>
              <a:ext uri="{FF2B5EF4-FFF2-40B4-BE49-F238E27FC236}">
                <a16:creationId xmlns:a16="http://schemas.microsoft.com/office/drawing/2014/main" id="{C0D0E658-4A72-C97C-093E-382DC7E816DE}"/>
              </a:ext>
            </a:extLst>
          </p:cNvPr>
          <p:cNvSpPr>
            <a:spLocks noGrp="1"/>
          </p:cNvSpPr>
          <p:nvPr>
            <p:ph type="sldNum" sz="quarter" idx="12"/>
          </p:nvPr>
        </p:nvSpPr>
        <p:spPr>
          <a:xfrm>
            <a:off x="8857452" y="6438900"/>
            <a:ext cx="2661448" cy="215900"/>
          </a:xfrm>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2696220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B4A20EE-D82A-465F-A06B-F1C499754A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7" name="副标题 46">
            <a:extLst>
              <a:ext uri="{FF2B5EF4-FFF2-40B4-BE49-F238E27FC236}">
                <a16:creationId xmlns:a16="http://schemas.microsoft.com/office/drawing/2014/main" id="{CCA6D9F9-31CD-4DD0-877A-74BD109737BF}"/>
              </a:ext>
            </a:extLst>
          </p:cNvPr>
          <p:cNvSpPr>
            <a:spLocks noGrp="1"/>
          </p:cNvSpPr>
          <p:nvPr userDrawn="1">
            <p:ph type="subTitle" idx="1"/>
          </p:nvPr>
        </p:nvSpPr>
        <p:spPr>
          <a:xfrm>
            <a:off x="980265" y="3237426"/>
            <a:ext cx="6786563" cy="1048678"/>
          </a:xfrm>
        </p:spPr>
        <p:txBody>
          <a:bodyPr anchor="ctr">
            <a:normAutofit/>
          </a:bodyPr>
          <a:lstStyle>
            <a:lvl1pPr marL="0" indent="0" algn="l">
              <a:buNone/>
              <a:defRPr sz="2000">
                <a:solidFill>
                  <a:schemeClr val="accent4"/>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48" name="标题 47">
            <a:extLst>
              <a:ext uri="{FF2B5EF4-FFF2-40B4-BE49-F238E27FC236}">
                <a16:creationId xmlns:a16="http://schemas.microsoft.com/office/drawing/2014/main" id="{E94056E4-2D98-4982-A807-CA502024D974}"/>
              </a:ext>
            </a:extLst>
          </p:cNvPr>
          <p:cNvSpPr>
            <a:spLocks noGrp="1"/>
          </p:cNvSpPr>
          <p:nvPr userDrawn="1">
            <p:ph type="ctrTitle" hasCustomPrompt="1"/>
          </p:nvPr>
        </p:nvSpPr>
        <p:spPr>
          <a:xfrm>
            <a:off x="980265" y="1136650"/>
            <a:ext cx="6786563" cy="2360716"/>
          </a:xfrm>
        </p:spPr>
        <p:txBody>
          <a:bodyPr anchor="ctr">
            <a:normAutofit/>
          </a:bodyPr>
          <a:lstStyle>
            <a:lvl1pPr algn="l">
              <a:defRPr sz="4800">
                <a:solidFill>
                  <a:schemeClr val="tx1">
                    <a:lumMod val="85000"/>
                    <a:lumOff val="15000"/>
                  </a:schemeClr>
                </a:solidFill>
              </a:defRPr>
            </a:lvl1pPr>
          </a:lstStyle>
          <a:p>
            <a:r>
              <a:rPr lang="en-US" dirty="0"/>
              <a:t>Click to edit Master </a:t>
            </a:r>
            <a:br>
              <a:rPr lang="en-US" dirty="0"/>
            </a:br>
            <a:r>
              <a:rPr lang="en-US" dirty="0"/>
              <a:t>title style</a:t>
            </a:r>
            <a:endParaRPr lang="zh-CN" altLang="en-US" dirty="0"/>
          </a:p>
        </p:txBody>
      </p:sp>
      <p:sp>
        <p:nvSpPr>
          <p:cNvPr id="49" name="文本占位符 48">
            <a:extLst>
              <a:ext uri="{FF2B5EF4-FFF2-40B4-BE49-F238E27FC236}">
                <a16:creationId xmlns:a16="http://schemas.microsoft.com/office/drawing/2014/main" id="{70E1BFD4-2916-47D9-B1AD-41346A9F900E}"/>
              </a:ext>
            </a:extLst>
          </p:cNvPr>
          <p:cNvSpPr>
            <a:spLocks noGrp="1"/>
          </p:cNvSpPr>
          <p:nvPr userDrawn="1">
            <p:ph type="body" sz="quarter" idx="10" hasCustomPrompt="1"/>
          </p:nvPr>
        </p:nvSpPr>
        <p:spPr>
          <a:xfrm>
            <a:off x="980268" y="5094264"/>
            <a:ext cx="5357061" cy="296271"/>
          </a:xfrm>
        </p:spPr>
        <p:txBody>
          <a:bodyPr vert="horz" anchor="ctr">
            <a:noAutofit/>
          </a:bodyPr>
          <a:lstStyle>
            <a:lvl1pPr marL="0" indent="0" algn="l">
              <a:buNone/>
              <a:defRPr sz="1500" b="0">
                <a:solidFill>
                  <a:schemeClr val="bg2">
                    <a:lumMod val="75000"/>
                  </a:schemeClr>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0" name="文本占位符 49">
            <a:extLst>
              <a:ext uri="{FF2B5EF4-FFF2-40B4-BE49-F238E27FC236}">
                <a16:creationId xmlns:a16="http://schemas.microsoft.com/office/drawing/2014/main" id="{FEDB75A0-018A-4ED1-B969-EED58E77D4F1}"/>
              </a:ext>
            </a:extLst>
          </p:cNvPr>
          <p:cNvSpPr>
            <a:spLocks noGrp="1"/>
          </p:cNvSpPr>
          <p:nvPr userDrawn="1">
            <p:ph type="body" sz="quarter" idx="11" hasCustomPrompt="1"/>
          </p:nvPr>
        </p:nvSpPr>
        <p:spPr>
          <a:xfrm>
            <a:off x="980268" y="5419205"/>
            <a:ext cx="5357061" cy="296271"/>
          </a:xfrm>
        </p:spPr>
        <p:txBody>
          <a:bodyPr vert="horz" anchor="ctr">
            <a:noAutofit/>
          </a:bodyPr>
          <a:lstStyle>
            <a:lvl1pPr marL="0" indent="0" algn="l">
              <a:buNone/>
              <a:defRPr sz="1500" b="0">
                <a:solidFill>
                  <a:schemeClr val="bg2">
                    <a:lumMod val="75000"/>
                  </a:schemeClr>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pic>
        <p:nvPicPr>
          <p:cNvPr id="6" name="图片 5">
            <a:extLst>
              <a:ext uri="{FF2B5EF4-FFF2-40B4-BE49-F238E27FC236}">
                <a16:creationId xmlns:a16="http://schemas.microsoft.com/office/drawing/2014/main" id="{FB3AD1AB-EDCC-4F6F-8722-458AEC7D4C3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9551" y="495300"/>
            <a:ext cx="12192000" cy="6858000"/>
          </a:xfrm>
          <a:prstGeom prst="rect">
            <a:avLst/>
          </a:prstGeom>
        </p:spPr>
      </p:pic>
    </p:spTree>
    <p:extLst>
      <p:ext uri="{BB962C8B-B14F-4D97-AF65-F5344CB8AC3E}">
        <p14:creationId xmlns:p14="http://schemas.microsoft.com/office/powerpoint/2010/main" val="111149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BF99062-902C-7601-A197-B51CEFB311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DD357D1-3040-B493-BD61-7F9772FBCB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81E818-A101-A5AF-E721-99A3E7A987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D83976-9D47-4F35-9634-FCCC8CB86199}"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5161256C-CB42-3C02-9787-0C2F877FA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37C96D3-0952-EDAD-8E9F-0AECE0E978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0B8CAE-004B-4DB0-8821-A9C515A3D391}" type="slidenum">
              <a:rPr lang="zh-CN" altLang="en-US" smtClean="0"/>
              <a:t>‹#›</a:t>
            </a:fld>
            <a:endParaRPr lang="zh-CN" altLang="en-US"/>
          </a:p>
        </p:txBody>
      </p:sp>
    </p:spTree>
    <p:extLst>
      <p:ext uri="{BB962C8B-B14F-4D97-AF65-F5344CB8AC3E}">
        <p14:creationId xmlns:p14="http://schemas.microsoft.com/office/powerpoint/2010/main" val="2004930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0.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3.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sz="3200" dirty="0">
                <a:latin typeface="楷体" panose="02010609060101010101" pitchFamily="49" charset="-122"/>
                <a:ea typeface="楷体" panose="02010609060101010101" pitchFamily="49" charset="-122"/>
                <a:cs typeface="+mn-ea"/>
                <a:sym typeface="+mn-lt"/>
              </a:rPr>
              <a:t>编译技术实验专题报告</a:t>
            </a:r>
            <a:br>
              <a:rPr lang="en-US" altLang="zh-CN" sz="3200" dirty="0">
                <a:latin typeface="+mn-lt"/>
                <a:ea typeface="+mn-ea"/>
                <a:cs typeface="+mn-ea"/>
                <a:sym typeface="+mn-lt"/>
              </a:rPr>
            </a:br>
            <a:br>
              <a:rPr lang="en-US" altLang="zh-CN" sz="3200" dirty="0">
                <a:latin typeface="+mn-lt"/>
                <a:ea typeface="+mn-ea"/>
                <a:cs typeface="+mn-ea"/>
                <a:sym typeface="+mn-lt"/>
              </a:rPr>
            </a:br>
            <a:r>
              <a:rPr lang="en-US" altLang="zh-CN" sz="3200" dirty="0">
                <a:latin typeface="楷体" panose="02010609060101010101" pitchFamily="49" charset="-122"/>
                <a:ea typeface="楷体" panose="02010609060101010101" pitchFamily="49" charset="-122"/>
                <a:cs typeface="+mn-ea"/>
                <a:sym typeface="+mn-lt"/>
              </a:rPr>
              <a:t>——PCODE</a:t>
            </a:r>
            <a:endParaRPr lang="zh-CN" altLang="en-US" dirty="0">
              <a:latin typeface="楷体" panose="02010609060101010101" pitchFamily="49" charset="-122"/>
              <a:ea typeface="楷体" panose="02010609060101010101" pitchFamily="49" charset="-122"/>
              <a:cs typeface="+mn-ea"/>
              <a:sym typeface="+mn-lt"/>
            </a:endParaRPr>
          </a:p>
        </p:txBody>
      </p:sp>
    </p:spTree>
    <p:extLst>
      <p:ext uri="{BB962C8B-B14F-4D97-AF65-F5344CB8AC3E}">
        <p14:creationId xmlns:p14="http://schemas.microsoft.com/office/powerpoint/2010/main" val="227174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endParaRPr lang="en-US" dirty="0"/>
          </a:p>
        </p:txBody>
      </p:sp>
      <p:sp>
        <p:nvSpPr>
          <p:cNvPr id="2" name="标题 29">
            <a:extLst>
              <a:ext uri="{FF2B5EF4-FFF2-40B4-BE49-F238E27FC236}">
                <a16:creationId xmlns:a16="http://schemas.microsoft.com/office/drawing/2014/main" id="{B6777AD1-D0F8-46FE-A26E-4DC543A9818A}"/>
              </a:ext>
            </a:extLst>
          </p:cNvPr>
          <p:cNvSpPr txBox="1">
            <a:spLocks/>
          </p:cNvSpPr>
          <p:nvPr/>
        </p:nvSpPr>
        <p:spPr>
          <a:xfrm>
            <a:off x="1357053" y="1171914"/>
            <a:ext cx="6059747" cy="3765846"/>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栈式虚拟机概览</a:t>
            </a:r>
            <a:endParaRPr lang="en-US" altLang="zh-CN" sz="2400" dirty="0">
              <a:latin typeface="楷体" panose="02010609060101010101" pitchFamily="49" charset="-122"/>
              <a:ea typeface="楷体" panose="02010609060101010101" pitchFamily="49" charset="-122"/>
            </a:endParaRPr>
          </a:p>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代码设计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代码生成</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解释执行程序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sz="2400" dirty="0"/>
          </a:p>
        </p:txBody>
      </p:sp>
      <p:grpSp>
        <p:nvGrpSpPr>
          <p:cNvPr id="3" name="组合 2">
            <a:extLst>
              <a:ext uri="{FF2B5EF4-FFF2-40B4-BE49-F238E27FC236}">
                <a16:creationId xmlns:a16="http://schemas.microsoft.com/office/drawing/2014/main" id="{BDBCE9FD-954A-1C73-71C7-AD4437FA7BCA}"/>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2042A040-54D4-CD78-3D18-0CDB5769475B}"/>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F6777494-397D-3853-6B95-F5A6803A877E}"/>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21846C7F-E3EE-5035-F9C4-D0BEE1932EEC}"/>
              </a:ext>
            </a:extLst>
          </p:cNvPr>
          <p:cNvSpPr txBox="1"/>
          <p:nvPr/>
        </p:nvSpPr>
        <p:spPr>
          <a:xfrm>
            <a:off x="405891" y="130901"/>
            <a:ext cx="4684889" cy="646331"/>
          </a:xfrm>
          <a:prstGeom prst="rect">
            <a:avLst/>
          </a:prstGeom>
          <a:noFill/>
        </p:spPr>
        <p:txBody>
          <a:bodyPr wrap="square" rtlCol="0">
            <a:spAutoFit/>
          </a:bodyPr>
          <a:lstStyle/>
          <a:p>
            <a:r>
              <a:rPr lang="zh-CN" altLang="en-US" sz="3600" b="1" dirty="0">
                <a:solidFill>
                  <a:srgbClr val="3E4150"/>
                </a:solidFill>
                <a:latin typeface="微软雅黑" panose="020B0503020204020204" pitchFamily="34" charset="-122"/>
                <a:ea typeface="微软雅黑" panose="020B0503020204020204" pitchFamily="34" charset="-122"/>
              </a:rPr>
              <a:t>目录</a:t>
            </a:r>
          </a:p>
        </p:txBody>
      </p:sp>
    </p:spTree>
    <p:custDataLst>
      <p:tags r:id="rId1"/>
    </p:custDataLst>
    <p:extLst>
      <p:ext uri="{BB962C8B-B14F-4D97-AF65-F5344CB8AC3E}">
        <p14:creationId xmlns:p14="http://schemas.microsoft.com/office/powerpoint/2010/main" val="297388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栈式虚拟机概览</a:t>
            </a:r>
            <a:endParaRPr lang="en-US" dirty="0">
              <a:latin typeface="楷体" panose="02010609060101010101" pitchFamily="49" charset="-122"/>
              <a:ea typeface="楷体" panose="02010609060101010101" pitchFamily="49" charset="-122"/>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没有众多寄存器，仅有的少数寄存器都有特定功能。</a:t>
            </a:r>
            <a:endParaRPr lang="en-US" sz="2000" b="0" dirty="0">
              <a:latin typeface="楷体" panose="02010609060101010101" pitchFamily="49" charset="-122"/>
              <a:ea typeface="楷体" panose="02010609060101010101" pitchFamily="49" charset="-122"/>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2750261"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栈式虚拟机</a:t>
            </a:r>
            <a:endParaRPr lang="en-US" sz="2400" dirty="0">
              <a:latin typeface="楷体" panose="02010609060101010101" pitchFamily="49" charset="-122"/>
              <a:ea typeface="楷体" panose="02010609060101010101" pitchFamily="49" charset="-122"/>
            </a:endParaRPr>
          </a:p>
        </p:txBody>
      </p:sp>
      <p:sp>
        <p:nvSpPr>
          <p:cNvPr id="6" name="标题 29">
            <a:extLst>
              <a:ext uri="{FF2B5EF4-FFF2-40B4-BE49-F238E27FC236}">
                <a16:creationId xmlns:a16="http://schemas.microsoft.com/office/drawing/2014/main" id="{5ED7E763-F549-698A-73C6-F731F1561245}"/>
              </a:ext>
            </a:extLst>
          </p:cNvPr>
          <p:cNvSpPr txBox="1">
            <a:spLocks/>
          </p:cNvSpPr>
          <p:nvPr/>
        </p:nvSpPr>
        <p:spPr>
          <a:xfrm>
            <a:off x="1408154" y="3004716"/>
            <a:ext cx="4030621"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运算的临时结果需要存储在内存中</a:t>
            </a:r>
            <a:endParaRPr lang="en-US" sz="2000" b="0" dirty="0">
              <a:latin typeface="楷体" panose="02010609060101010101" pitchFamily="49" charset="-122"/>
              <a:ea typeface="楷体" panose="02010609060101010101" pitchFamily="49" charset="-122"/>
            </a:endParaRPr>
          </a:p>
        </p:txBody>
      </p:sp>
      <p:sp>
        <p:nvSpPr>
          <p:cNvPr id="7" name="箭头: 下 6">
            <a:extLst>
              <a:ext uri="{FF2B5EF4-FFF2-40B4-BE49-F238E27FC236}">
                <a16:creationId xmlns:a16="http://schemas.microsoft.com/office/drawing/2014/main" id="{2C6C155A-C360-6788-1EBE-216436FA3A1F}"/>
              </a:ext>
            </a:extLst>
          </p:cNvPr>
          <p:cNvSpPr/>
          <p:nvPr/>
        </p:nvSpPr>
        <p:spPr>
          <a:xfrm>
            <a:off x="3124199" y="2505005"/>
            <a:ext cx="371475" cy="499711"/>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565C283C-880C-F94C-46FD-5774CB9A7EEE}"/>
              </a:ext>
            </a:extLst>
          </p:cNvPr>
          <p:cNvSpPr/>
          <p:nvPr/>
        </p:nvSpPr>
        <p:spPr>
          <a:xfrm>
            <a:off x="3124198" y="3646323"/>
            <a:ext cx="371475" cy="499711"/>
          </a:xfrm>
          <a:prstGeom prst="down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标题 29">
            <a:extLst>
              <a:ext uri="{FF2B5EF4-FFF2-40B4-BE49-F238E27FC236}">
                <a16:creationId xmlns:a16="http://schemas.microsoft.com/office/drawing/2014/main" id="{930D1664-C130-F028-8E0D-E7DDAD5A6EE8}"/>
              </a:ext>
            </a:extLst>
          </p:cNvPr>
          <p:cNvSpPr txBox="1">
            <a:spLocks/>
          </p:cNvSpPr>
          <p:nvPr/>
        </p:nvSpPr>
        <p:spPr>
          <a:xfrm>
            <a:off x="1408153" y="4218038"/>
            <a:ext cx="5535572"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栈式结构，所有的运算都是对栈顶元素的操作</a:t>
            </a:r>
            <a:endParaRPr lang="en-US" sz="2000" b="0" dirty="0">
              <a:latin typeface="楷体" panose="02010609060101010101" pitchFamily="49" charset="-122"/>
              <a:ea typeface="楷体" panose="02010609060101010101" pitchFamily="49" charset="-122"/>
            </a:endParaRPr>
          </a:p>
        </p:txBody>
      </p:sp>
      <p:sp>
        <p:nvSpPr>
          <p:cNvPr id="10" name="标题 29">
            <a:extLst>
              <a:ext uri="{FF2B5EF4-FFF2-40B4-BE49-F238E27FC236}">
                <a16:creationId xmlns:a16="http://schemas.microsoft.com/office/drawing/2014/main" id="{01A152B0-5035-1063-14D0-08751D21BBA3}"/>
              </a:ext>
            </a:extLst>
          </p:cNvPr>
          <p:cNvSpPr txBox="1">
            <a:spLocks/>
          </p:cNvSpPr>
          <p:nvPr/>
        </p:nvSpPr>
        <p:spPr>
          <a:xfrm>
            <a:off x="1408152" y="5181250"/>
            <a:ext cx="8421647"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solidFill>
                  <a:srgbClr val="FF0000"/>
                </a:solidFill>
                <a:latin typeface="楷体" panose="02010609060101010101" pitchFamily="49" charset="-122"/>
                <a:ea typeface="楷体" panose="02010609060101010101" pitchFamily="49" charset="-122"/>
              </a:rPr>
              <a:t>内存视为一个栈，其中存储的元素可分为两种：变量和临时变量</a:t>
            </a:r>
            <a:endParaRPr lang="en-US" sz="2000" b="0" dirty="0">
              <a:solidFill>
                <a:srgbClr val="FF0000"/>
              </a:solidFill>
              <a:latin typeface="楷体" panose="02010609060101010101" pitchFamily="49" charset="-122"/>
              <a:ea typeface="楷体" panose="02010609060101010101" pitchFamily="49" charset="-122"/>
            </a:endParaRPr>
          </a:p>
        </p:txBody>
      </p:sp>
      <p:grpSp>
        <p:nvGrpSpPr>
          <p:cNvPr id="2" name="组合 1">
            <a:extLst>
              <a:ext uri="{FF2B5EF4-FFF2-40B4-BE49-F238E27FC236}">
                <a16:creationId xmlns:a16="http://schemas.microsoft.com/office/drawing/2014/main" id="{3CE7901C-C735-83B7-5F8B-1FC3D5739624}"/>
              </a:ext>
            </a:extLst>
          </p:cNvPr>
          <p:cNvGrpSpPr/>
          <p:nvPr/>
        </p:nvGrpSpPr>
        <p:grpSpPr>
          <a:xfrm>
            <a:off x="1634" y="188687"/>
            <a:ext cx="187052" cy="592364"/>
            <a:chOff x="11571416" y="3959358"/>
            <a:chExt cx="620584" cy="1723139"/>
          </a:xfrm>
        </p:grpSpPr>
        <p:sp>
          <p:nvSpPr>
            <p:cNvPr id="11" name="矩形 10">
              <a:extLst>
                <a:ext uri="{FF2B5EF4-FFF2-40B4-BE49-F238E27FC236}">
                  <a16:creationId xmlns:a16="http://schemas.microsoft.com/office/drawing/2014/main" id="{256AD594-2D73-29EF-9107-804519D70873}"/>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87E03CA3-7CD0-32AA-E63A-E2800CF6695A}"/>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34530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栈式虚拟机概览</a:t>
            </a:r>
            <a:endParaRPr lang="en-US" dirty="0">
              <a:latin typeface="楷体" panose="02010609060101010101" pitchFamily="49" charset="-122"/>
              <a:ea typeface="楷体" panose="02010609060101010101" pitchFamily="49" charset="-122"/>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对栈顶进行入栈、出栈和计算等操作。</a:t>
            </a:r>
            <a:endParaRPr lang="en-US" sz="2000" b="0" dirty="0">
              <a:latin typeface="楷体" panose="02010609060101010101" pitchFamily="49" charset="-122"/>
              <a:ea typeface="楷体" panose="02010609060101010101" pitchFamily="49" charset="-122"/>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2750261"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栈式虚拟机运算</a:t>
            </a:r>
            <a:endParaRPr lang="en-US" sz="2400" dirty="0">
              <a:latin typeface="楷体" panose="02010609060101010101" pitchFamily="49" charset="-122"/>
              <a:ea typeface="楷体" panose="02010609060101010101" pitchFamily="49" charset="-122"/>
            </a:endParaRPr>
          </a:p>
        </p:txBody>
      </p:sp>
      <p:pic>
        <p:nvPicPr>
          <p:cNvPr id="11" name="图片 10">
            <a:extLst>
              <a:ext uri="{FF2B5EF4-FFF2-40B4-BE49-F238E27FC236}">
                <a16:creationId xmlns:a16="http://schemas.microsoft.com/office/drawing/2014/main" id="{A0CC7B94-BEF3-0D20-58A1-55EC8EEDBF24}"/>
              </a:ext>
            </a:extLst>
          </p:cNvPr>
          <p:cNvPicPr>
            <a:picLocks noChangeAspect="1"/>
          </p:cNvPicPr>
          <p:nvPr/>
        </p:nvPicPr>
        <p:blipFill>
          <a:blip r:embed="rId4"/>
          <a:stretch>
            <a:fillRect/>
          </a:stretch>
        </p:blipFill>
        <p:spPr>
          <a:xfrm>
            <a:off x="1581061" y="2549478"/>
            <a:ext cx="2478046" cy="767990"/>
          </a:xfrm>
          <a:prstGeom prst="rect">
            <a:avLst/>
          </a:prstGeom>
        </p:spPr>
      </p:pic>
      <p:pic>
        <p:nvPicPr>
          <p:cNvPr id="1026" name="Picture 2">
            <a:extLst>
              <a:ext uri="{FF2B5EF4-FFF2-40B4-BE49-F238E27FC236}">
                <a16:creationId xmlns:a16="http://schemas.microsoft.com/office/drawing/2014/main" id="{800889A4-DC15-BB8A-0B30-7340B67C79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1" y="3187648"/>
            <a:ext cx="9477375" cy="2552700"/>
          </a:xfrm>
          <a:prstGeom prst="rect">
            <a:avLst/>
          </a:prstGeom>
          <a:noFill/>
          <a:extLst>
            <a:ext uri="{909E8E84-426E-40DD-AFC4-6F175D3DCCD1}">
              <a14:hiddenFill xmlns:a14="http://schemas.microsoft.com/office/drawing/2010/main">
                <a:solidFill>
                  <a:srgbClr val="FFFFFF"/>
                </a:solidFill>
              </a14:hiddenFill>
            </a:ext>
          </a:extLst>
        </p:spPr>
      </p:pic>
      <p:sp>
        <p:nvSpPr>
          <p:cNvPr id="13" name="椭圆 12">
            <a:extLst>
              <a:ext uri="{FF2B5EF4-FFF2-40B4-BE49-F238E27FC236}">
                <a16:creationId xmlns:a16="http://schemas.microsoft.com/office/drawing/2014/main" id="{227F28FB-DB23-3AB7-5093-5DF36286FAD4}"/>
              </a:ext>
            </a:extLst>
          </p:cNvPr>
          <p:cNvSpPr/>
          <p:nvPr/>
        </p:nvSpPr>
        <p:spPr>
          <a:xfrm>
            <a:off x="2565524" y="4209976"/>
            <a:ext cx="1162050" cy="6667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6837107-0BD9-14D3-6DD1-AE445BB61C2C}"/>
              </a:ext>
            </a:extLst>
          </p:cNvPr>
          <p:cNvSpPr txBox="1"/>
          <p:nvPr/>
        </p:nvSpPr>
        <p:spPr>
          <a:xfrm>
            <a:off x="2823383" y="3819451"/>
            <a:ext cx="646331" cy="369332"/>
          </a:xfrm>
          <a:prstGeom prst="rect">
            <a:avLst/>
          </a:prstGeom>
          <a:noFill/>
        </p:spPr>
        <p:txBody>
          <a:bodyPr wrap="none" rtlCol="0">
            <a:spAutoFit/>
          </a:bodyPr>
          <a:lstStyle/>
          <a:p>
            <a:r>
              <a:rPr lang="zh-CN" altLang="en-US" dirty="0">
                <a:solidFill>
                  <a:srgbClr val="FF0000"/>
                </a:solidFill>
              </a:rPr>
              <a:t>变量</a:t>
            </a:r>
          </a:p>
        </p:txBody>
      </p:sp>
      <p:sp>
        <p:nvSpPr>
          <p:cNvPr id="15" name="椭圆 14">
            <a:extLst>
              <a:ext uri="{FF2B5EF4-FFF2-40B4-BE49-F238E27FC236}">
                <a16:creationId xmlns:a16="http://schemas.microsoft.com/office/drawing/2014/main" id="{F4651809-3726-42E5-9166-94C72C846368}"/>
              </a:ext>
            </a:extLst>
          </p:cNvPr>
          <p:cNvSpPr/>
          <p:nvPr/>
        </p:nvSpPr>
        <p:spPr>
          <a:xfrm>
            <a:off x="3727573" y="3102209"/>
            <a:ext cx="6562725" cy="11208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CC183F91-3E11-00D0-7878-4E23C28BA0BF}"/>
              </a:ext>
            </a:extLst>
          </p:cNvPr>
          <p:cNvSpPr txBox="1"/>
          <p:nvPr/>
        </p:nvSpPr>
        <p:spPr>
          <a:xfrm>
            <a:off x="1521754" y="5641121"/>
            <a:ext cx="9482083" cy="881139"/>
          </a:xfrm>
          <a:prstGeom prst="rect">
            <a:avLst/>
          </a:prstGeom>
          <a:noFill/>
        </p:spPr>
        <p:txBody>
          <a:bodyPr wrap="none" rtlCol="0">
            <a:spAutoFit/>
          </a:bodyPr>
          <a:lstStyle/>
          <a:p>
            <a:pPr algn="ctr">
              <a:lnSpc>
                <a:spcPct val="150000"/>
              </a:lnSpc>
            </a:pPr>
            <a:r>
              <a:rPr lang="zh-CN" altLang="en-US" dirty="0">
                <a:solidFill>
                  <a:srgbClr val="FF0000"/>
                </a:solidFill>
                <a:latin typeface="楷体" panose="02010609060101010101" pitchFamily="49" charset="-122"/>
                <a:ea typeface="楷体" panose="02010609060101010101" pitchFamily="49" charset="-122"/>
              </a:rPr>
              <a:t>在虚拟机解释执行的过程中，在完成某个运算后，临时变量都被出栈了，栈中只剩下变量</a:t>
            </a:r>
            <a:endParaRPr lang="en-US" altLang="zh-CN" dirty="0">
              <a:solidFill>
                <a:srgbClr val="FF0000"/>
              </a:solidFill>
              <a:latin typeface="楷体" panose="02010609060101010101" pitchFamily="49" charset="-122"/>
              <a:ea typeface="楷体" panose="02010609060101010101" pitchFamily="49" charset="-122"/>
            </a:endParaRPr>
          </a:p>
          <a:p>
            <a:pPr algn="ctr">
              <a:lnSpc>
                <a:spcPct val="150000"/>
              </a:lnSpc>
            </a:pPr>
            <a:r>
              <a:rPr lang="zh-CN" altLang="en-US" dirty="0">
                <a:solidFill>
                  <a:srgbClr val="FF0000"/>
                </a:solidFill>
                <a:latin typeface="楷体" panose="02010609060101010101" pitchFamily="49" charset="-122"/>
                <a:ea typeface="楷体" panose="02010609060101010101" pitchFamily="49" charset="-122"/>
              </a:rPr>
              <a:t>即无论经过多少个运算过程，</a:t>
            </a:r>
            <a:r>
              <a:rPr lang="zh-CN" altLang="en-US" b="1" dirty="0">
                <a:solidFill>
                  <a:srgbClr val="FF0000"/>
                </a:solidFill>
                <a:latin typeface="楷体" panose="02010609060101010101" pitchFamily="49" charset="-122"/>
                <a:ea typeface="楷体" panose="02010609060101010101" pitchFamily="49" charset="-122"/>
              </a:rPr>
              <a:t>运算完成后，栈的内容保持不变</a:t>
            </a:r>
          </a:p>
        </p:txBody>
      </p:sp>
      <p:grpSp>
        <p:nvGrpSpPr>
          <p:cNvPr id="2" name="组合 1">
            <a:extLst>
              <a:ext uri="{FF2B5EF4-FFF2-40B4-BE49-F238E27FC236}">
                <a16:creationId xmlns:a16="http://schemas.microsoft.com/office/drawing/2014/main" id="{905C7062-87FC-F56A-5775-FC0C51CE75A4}"/>
              </a:ext>
            </a:extLst>
          </p:cNvPr>
          <p:cNvGrpSpPr/>
          <p:nvPr/>
        </p:nvGrpSpPr>
        <p:grpSpPr>
          <a:xfrm>
            <a:off x="1634" y="188687"/>
            <a:ext cx="187052" cy="592364"/>
            <a:chOff x="11571416" y="3959358"/>
            <a:chExt cx="620584" cy="1723139"/>
          </a:xfrm>
        </p:grpSpPr>
        <p:sp>
          <p:nvSpPr>
            <p:cNvPr id="6" name="矩形 5">
              <a:extLst>
                <a:ext uri="{FF2B5EF4-FFF2-40B4-BE49-F238E27FC236}">
                  <a16:creationId xmlns:a16="http://schemas.microsoft.com/office/drawing/2014/main" id="{C827BE6B-5A02-FA0D-5D54-770613117931}"/>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48218DA-F832-1DE6-4C9C-DD45B6096636}"/>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50697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栈式虚拟机概览</a:t>
            </a:r>
            <a:endParaRPr lang="en-US" dirty="0">
              <a:latin typeface="楷体" panose="02010609060101010101" pitchFamily="49" charset="-122"/>
              <a:ea typeface="楷体" panose="02010609060101010101" pitchFamily="49" charset="-122"/>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PC</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NP</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EP</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3325771"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栈式虚拟机的寄存器</a:t>
            </a:r>
            <a:endParaRPr lang="en-US" sz="2400" dirty="0">
              <a:latin typeface="楷体" panose="02010609060101010101" pitchFamily="49" charset="-122"/>
              <a:ea typeface="楷体" panose="02010609060101010101" pitchFamily="49" charset="-122"/>
            </a:endParaRPr>
          </a:p>
        </p:txBody>
      </p:sp>
      <p:sp>
        <p:nvSpPr>
          <p:cNvPr id="2" name="标题 29">
            <a:extLst>
              <a:ext uri="{FF2B5EF4-FFF2-40B4-BE49-F238E27FC236}">
                <a16:creationId xmlns:a16="http://schemas.microsoft.com/office/drawing/2014/main" id="{5019F43B-B0E5-00E0-6231-8471769236E5}"/>
              </a:ext>
            </a:extLst>
          </p:cNvPr>
          <p:cNvSpPr txBox="1">
            <a:spLocks/>
          </p:cNvSpPr>
          <p:nvPr/>
        </p:nvSpPr>
        <p:spPr>
          <a:xfrm>
            <a:off x="1465304" y="2549478"/>
            <a:ext cx="7354846" cy="1460548"/>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PC</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：程序计数器，指向将要执行的指令</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：栈指针，指向栈顶</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：标志指针，指向当前活动记录基地址</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ABAB6C5D-27B5-FEDC-9374-7CAA8E6A02EF}"/>
              </a:ext>
            </a:extLst>
          </p:cNvPr>
          <p:cNvSpPr/>
          <p:nvPr/>
        </p:nvSpPr>
        <p:spPr>
          <a:xfrm>
            <a:off x="7820027" y="1812904"/>
            <a:ext cx="1638300" cy="1981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A65409C3-41C0-BAB3-C7ED-CE23A75DD9BA}"/>
              </a:ext>
            </a:extLst>
          </p:cNvPr>
          <p:cNvSpPr/>
          <p:nvPr/>
        </p:nvSpPr>
        <p:spPr>
          <a:xfrm>
            <a:off x="7820027" y="3794104"/>
            <a:ext cx="1638300" cy="1981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1471861D-566E-63F0-448D-01ECF3A42587}"/>
              </a:ext>
            </a:extLst>
          </p:cNvPr>
          <p:cNvCxnSpPr/>
          <p:nvPr/>
        </p:nvCxnSpPr>
        <p:spPr>
          <a:xfrm flipH="1">
            <a:off x="9507857" y="3790294"/>
            <a:ext cx="3238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29D246C-7291-4C7D-4C5D-1A29C2DC51C4}"/>
              </a:ext>
            </a:extLst>
          </p:cNvPr>
          <p:cNvCxnSpPr/>
          <p:nvPr/>
        </p:nvCxnSpPr>
        <p:spPr>
          <a:xfrm flipH="1">
            <a:off x="9507857" y="1812904"/>
            <a:ext cx="3238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85115E9B-B3EC-13E9-90EE-9AEB8FD954E1}"/>
              </a:ext>
            </a:extLst>
          </p:cNvPr>
          <p:cNvSpPr txBox="1"/>
          <p:nvPr/>
        </p:nvSpPr>
        <p:spPr>
          <a:xfrm>
            <a:off x="9766937" y="1628238"/>
            <a:ext cx="492443" cy="369332"/>
          </a:xfrm>
          <a:prstGeom prst="rect">
            <a:avLst/>
          </a:prstGeom>
          <a:noFill/>
        </p:spPr>
        <p:txBody>
          <a:bodyPr wrap="none" rtlCol="0">
            <a:spAutoFit/>
          </a:bodyPr>
          <a:lstStyle/>
          <a:p>
            <a:r>
              <a:rPr lang="en-US" altLang="zh-CN" dirty="0"/>
              <a:t>SP</a:t>
            </a:r>
            <a:endParaRPr lang="zh-CN" altLang="en-US" dirty="0"/>
          </a:p>
        </p:txBody>
      </p:sp>
      <p:sp>
        <p:nvSpPr>
          <p:cNvPr id="19" name="文本框 18">
            <a:extLst>
              <a:ext uri="{FF2B5EF4-FFF2-40B4-BE49-F238E27FC236}">
                <a16:creationId xmlns:a16="http://schemas.microsoft.com/office/drawing/2014/main" id="{5505FD6B-F4B0-21E7-ECE6-A84F94B8F285}"/>
              </a:ext>
            </a:extLst>
          </p:cNvPr>
          <p:cNvSpPr txBox="1"/>
          <p:nvPr/>
        </p:nvSpPr>
        <p:spPr>
          <a:xfrm>
            <a:off x="9766937" y="3605628"/>
            <a:ext cx="530915" cy="369332"/>
          </a:xfrm>
          <a:prstGeom prst="rect">
            <a:avLst/>
          </a:prstGeom>
          <a:noFill/>
        </p:spPr>
        <p:txBody>
          <a:bodyPr wrap="none" rtlCol="0">
            <a:spAutoFit/>
          </a:bodyPr>
          <a:lstStyle/>
          <a:p>
            <a:r>
              <a:rPr lang="en-US" altLang="zh-CN" dirty="0"/>
              <a:t>MP</a:t>
            </a:r>
            <a:endParaRPr lang="zh-CN" altLang="en-US" dirty="0"/>
          </a:p>
        </p:txBody>
      </p:sp>
      <p:sp>
        <p:nvSpPr>
          <p:cNvPr id="20" name="标题 29">
            <a:extLst>
              <a:ext uri="{FF2B5EF4-FFF2-40B4-BE49-F238E27FC236}">
                <a16:creationId xmlns:a16="http://schemas.microsoft.com/office/drawing/2014/main" id="{2006FF1F-3B1F-ABD6-14CE-85F7DAEB2EB1}"/>
              </a:ext>
            </a:extLst>
          </p:cNvPr>
          <p:cNvSpPr txBox="1">
            <a:spLocks/>
          </p:cNvSpPr>
          <p:nvPr/>
        </p:nvSpPr>
        <p:spPr>
          <a:xfrm>
            <a:off x="1252718" y="4308523"/>
            <a:ext cx="5780542"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共同确定了当前活动记录的位置</a:t>
            </a:r>
            <a:endParaRPr 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文本框 21">
            <a:extLst>
              <a:ext uri="{FF2B5EF4-FFF2-40B4-BE49-F238E27FC236}">
                <a16:creationId xmlns:a16="http://schemas.microsoft.com/office/drawing/2014/main" id="{266BF02A-51CD-BE32-B2D4-9B00F92C6EC5}"/>
              </a:ext>
            </a:extLst>
          </p:cNvPr>
          <p:cNvSpPr txBox="1"/>
          <p:nvPr/>
        </p:nvSpPr>
        <p:spPr>
          <a:xfrm>
            <a:off x="8322423" y="4627608"/>
            <a:ext cx="633507" cy="369332"/>
          </a:xfrm>
          <a:prstGeom prst="rect">
            <a:avLst/>
          </a:prstGeom>
          <a:noFill/>
        </p:spPr>
        <p:txBody>
          <a:bodyPr wrap="none" rtlCol="0">
            <a:spAutoFit/>
          </a:bodyPr>
          <a:lstStyle/>
          <a:p>
            <a:r>
              <a:rPr lang="en-US" altLang="zh-CN" dirty="0"/>
              <a:t>AR1</a:t>
            </a:r>
            <a:endParaRPr lang="zh-CN" altLang="en-US" dirty="0"/>
          </a:p>
        </p:txBody>
      </p:sp>
      <p:sp>
        <p:nvSpPr>
          <p:cNvPr id="23" name="文本框 22">
            <a:extLst>
              <a:ext uri="{FF2B5EF4-FFF2-40B4-BE49-F238E27FC236}">
                <a16:creationId xmlns:a16="http://schemas.microsoft.com/office/drawing/2014/main" id="{1787DC1B-4BF8-46FF-8181-49FE7C29F82C}"/>
              </a:ext>
            </a:extLst>
          </p:cNvPr>
          <p:cNvSpPr txBox="1"/>
          <p:nvPr/>
        </p:nvSpPr>
        <p:spPr>
          <a:xfrm>
            <a:off x="8322423" y="2646408"/>
            <a:ext cx="633507" cy="369332"/>
          </a:xfrm>
          <a:prstGeom prst="rect">
            <a:avLst/>
          </a:prstGeom>
          <a:noFill/>
        </p:spPr>
        <p:txBody>
          <a:bodyPr wrap="none" rtlCol="0">
            <a:spAutoFit/>
          </a:bodyPr>
          <a:lstStyle/>
          <a:p>
            <a:r>
              <a:rPr lang="en-US" altLang="zh-CN" dirty="0"/>
              <a:t>AR2</a:t>
            </a:r>
            <a:endParaRPr lang="zh-CN" altLang="en-US" dirty="0"/>
          </a:p>
        </p:txBody>
      </p:sp>
      <p:grpSp>
        <p:nvGrpSpPr>
          <p:cNvPr id="8" name="组合 7">
            <a:extLst>
              <a:ext uri="{FF2B5EF4-FFF2-40B4-BE49-F238E27FC236}">
                <a16:creationId xmlns:a16="http://schemas.microsoft.com/office/drawing/2014/main" id="{91B98F56-6ECE-3596-3361-BF4325066BC0}"/>
              </a:ext>
            </a:extLst>
          </p:cNvPr>
          <p:cNvGrpSpPr/>
          <p:nvPr/>
        </p:nvGrpSpPr>
        <p:grpSpPr>
          <a:xfrm>
            <a:off x="1634" y="188687"/>
            <a:ext cx="187052" cy="592364"/>
            <a:chOff x="11571416" y="3959358"/>
            <a:chExt cx="620584" cy="1723139"/>
          </a:xfrm>
        </p:grpSpPr>
        <p:sp>
          <p:nvSpPr>
            <p:cNvPr id="11" name="矩形 10">
              <a:extLst>
                <a:ext uri="{FF2B5EF4-FFF2-40B4-BE49-F238E27FC236}">
                  <a16:creationId xmlns:a16="http://schemas.microsoft.com/office/drawing/2014/main" id="{0B161997-FF77-ABE6-7643-76B49D9B6E73}"/>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18B34283-82C9-C54A-95AD-F0D7330C24D4}"/>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209165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down)">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325604" y="1504295"/>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对每个作用域（</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）分配一个活动记录</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的组成与理论课程的介绍比较相近，大家可以参考理论课程来理解</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325604" y="992390"/>
            <a:ext cx="3325771"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活动记录</a:t>
            </a:r>
            <a:endParaRPr lang="en-US" sz="2400" dirty="0">
              <a:latin typeface="楷体" panose="02010609060101010101" pitchFamily="49" charset="-122"/>
              <a:ea typeface="楷体" panose="02010609060101010101" pitchFamily="49" charset="-122"/>
            </a:endParaRPr>
          </a:p>
        </p:txBody>
      </p:sp>
      <p:sp>
        <p:nvSpPr>
          <p:cNvPr id="2" name="标题 29">
            <a:extLst>
              <a:ext uri="{FF2B5EF4-FFF2-40B4-BE49-F238E27FC236}">
                <a16:creationId xmlns:a16="http://schemas.microsoft.com/office/drawing/2014/main" id="{5019F43B-B0E5-00E0-6231-8471769236E5}"/>
              </a:ext>
            </a:extLst>
          </p:cNvPr>
          <p:cNvSpPr txBox="1">
            <a:spLocks/>
          </p:cNvSpPr>
          <p:nvPr/>
        </p:nvSpPr>
        <p:spPr>
          <a:xfrm>
            <a:off x="1449038" y="2512060"/>
            <a:ext cx="7354846" cy="234058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返回值：函数返回值</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返回地址：函数返回地址</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静态链（</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SL</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）：指向外层</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基地址，类似</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display</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区</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动态链（</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DL</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）：指向调用者的</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基地址，类似 </a:t>
            </a:r>
            <a:r>
              <a:rPr lang="en-US" altLang="zh-CN" sz="2000" b="0" dirty="0" err="1">
                <a:latin typeface="Times New Roman" panose="02020603050405020304" pitchFamily="18" charset="0"/>
                <a:ea typeface="楷体" panose="02010609060101010101" pitchFamily="49" charset="-122"/>
                <a:cs typeface="Times New Roman" panose="02020603050405020304" pitchFamily="18" charset="0"/>
              </a:rPr>
              <a:t>prev</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0" dirty="0" err="1">
                <a:latin typeface="Times New Roman" panose="02020603050405020304" pitchFamily="18" charset="0"/>
                <a:ea typeface="楷体" panose="02010609060101010101" pitchFamily="49" charset="-122"/>
                <a:cs typeface="Times New Roman" panose="02020603050405020304" pitchFamily="18" charset="0"/>
              </a:rPr>
              <a:t>abp</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参数区：用于传参</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局部变量区： 用户声明的变量</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临时变量区：临时运算结果（栈式结构）</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标题 29">
            <a:extLst>
              <a:ext uri="{FF2B5EF4-FFF2-40B4-BE49-F238E27FC236}">
                <a16:creationId xmlns:a16="http://schemas.microsoft.com/office/drawing/2014/main" id="{2006FF1F-3B1F-ABD6-14CE-85F7DAEB2EB1}"/>
              </a:ext>
            </a:extLst>
          </p:cNvPr>
          <p:cNvSpPr txBox="1">
            <a:spLocks/>
          </p:cNvSpPr>
          <p:nvPr/>
        </p:nvSpPr>
        <p:spPr>
          <a:xfrm>
            <a:off x="1449038" y="5923881"/>
            <a:ext cx="4313224"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每次运算完成后，临时变量区都为空</a:t>
            </a:r>
            <a:endParaRPr 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 name="图片 10">
            <a:extLst>
              <a:ext uri="{FF2B5EF4-FFF2-40B4-BE49-F238E27FC236}">
                <a16:creationId xmlns:a16="http://schemas.microsoft.com/office/drawing/2014/main" id="{6AD05364-D390-BDCF-5D8B-4F16A67DE212}"/>
              </a:ext>
            </a:extLst>
          </p:cNvPr>
          <p:cNvPicPr>
            <a:picLocks noChangeAspect="1"/>
          </p:cNvPicPr>
          <p:nvPr/>
        </p:nvPicPr>
        <p:blipFill>
          <a:blip r:embed="rId4"/>
          <a:stretch>
            <a:fillRect/>
          </a:stretch>
        </p:blipFill>
        <p:spPr>
          <a:xfrm>
            <a:off x="8880270" y="1644069"/>
            <a:ext cx="2110875" cy="3569862"/>
          </a:xfrm>
          <a:prstGeom prst="rect">
            <a:avLst/>
          </a:prstGeom>
        </p:spPr>
      </p:pic>
      <p:sp>
        <p:nvSpPr>
          <p:cNvPr id="13" name="标题 29">
            <a:extLst>
              <a:ext uri="{FF2B5EF4-FFF2-40B4-BE49-F238E27FC236}">
                <a16:creationId xmlns:a16="http://schemas.microsoft.com/office/drawing/2014/main" id="{B5A82B2C-8F33-8DE6-056F-1214A13AF335}"/>
              </a:ext>
            </a:extLst>
          </p:cNvPr>
          <p:cNvSpPr txBox="1">
            <a:spLocks/>
          </p:cNvSpPr>
          <p:nvPr/>
        </p:nvSpPr>
        <p:spPr>
          <a:xfrm>
            <a:off x="10688729" y="4894846"/>
            <a:ext cx="1060271"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低地址</a:t>
            </a:r>
            <a:endParaRPr lang="en-US" sz="2000" b="0" dirty="0">
              <a:latin typeface="楷体" panose="02010609060101010101" pitchFamily="49" charset="-122"/>
              <a:ea typeface="楷体" panose="02010609060101010101" pitchFamily="49" charset="-122"/>
            </a:endParaRPr>
          </a:p>
        </p:txBody>
      </p:sp>
      <p:sp>
        <p:nvSpPr>
          <p:cNvPr id="14" name="标题 29">
            <a:extLst>
              <a:ext uri="{FF2B5EF4-FFF2-40B4-BE49-F238E27FC236}">
                <a16:creationId xmlns:a16="http://schemas.microsoft.com/office/drawing/2014/main" id="{40997102-D2C8-DF2B-8EAB-F7D6FB68A2D2}"/>
              </a:ext>
            </a:extLst>
          </p:cNvPr>
          <p:cNvSpPr txBox="1">
            <a:spLocks/>
          </p:cNvSpPr>
          <p:nvPr/>
        </p:nvSpPr>
        <p:spPr>
          <a:xfrm>
            <a:off x="10688729" y="1324984"/>
            <a:ext cx="1060271"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高地址</a:t>
            </a:r>
            <a:endParaRPr lang="en-US" sz="2000" b="0" dirty="0">
              <a:latin typeface="楷体" panose="02010609060101010101" pitchFamily="49" charset="-122"/>
              <a:ea typeface="楷体" panose="02010609060101010101" pitchFamily="49" charset="-122"/>
            </a:endParaRPr>
          </a:p>
        </p:txBody>
      </p:sp>
      <p:grpSp>
        <p:nvGrpSpPr>
          <p:cNvPr id="6" name="组合 5">
            <a:extLst>
              <a:ext uri="{FF2B5EF4-FFF2-40B4-BE49-F238E27FC236}">
                <a16:creationId xmlns:a16="http://schemas.microsoft.com/office/drawing/2014/main" id="{3EE6A184-9974-10E7-38C4-2D2EDEA61F90}"/>
              </a:ext>
            </a:extLst>
          </p:cNvPr>
          <p:cNvGrpSpPr/>
          <p:nvPr/>
        </p:nvGrpSpPr>
        <p:grpSpPr>
          <a:xfrm>
            <a:off x="1634" y="188687"/>
            <a:ext cx="187052" cy="592364"/>
            <a:chOff x="11571416" y="3959358"/>
            <a:chExt cx="620584" cy="1723139"/>
          </a:xfrm>
        </p:grpSpPr>
        <p:sp>
          <p:nvSpPr>
            <p:cNvPr id="7" name="矩形 6">
              <a:extLst>
                <a:ext uri="{FF2B5EF4-FFF2-40B4-BE49-F238E27FC236}">
                  <a16:creationId xmlns:a16="http://schemas.microsoft.com/office/drawing/2014/main" id="{5B0B4EAE-DEE4-4CEE-7ACE-8418CC4544C6}"/>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1E7B49F-66CF-BA20-08ED-6C679C04B8DE}"/>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239957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这种活动记录布局的好处</a:t>
            </a:r>
            <a:r>
              <a:rPr lang="zh-CN" altLang="en-US" sz="2000" b="0" dirty="0">
                <a:latin typeface="+mj-ea"/>
              </a:rPr>
              <a:t>：</a:t>
            </a:r>
            <a:endParaRPr lang="en-US" sz="2000" b="0" dirty="0">
              <a:latin typeface="+mj-ea"/>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3325771"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活动记录</a:t>
            </a:r>
            <a:endParaRPr lang="en-US" sz="2400" dirty="0">
              <a:latin typeface="楷体" panose="02010609060101010101" pitchFamily="49" charset="-122"/>
              <a:ea typeface="楷体" panose="02010609060101010101" pitchFamily="49" charset="-122"/>
            </a:endParaRPr>
          </a:p>
        </p:txBody>
      </p:sp>
      <p:sp>
        <p:nvSpPr>
          <p:cNvPr id="2" name="标题 29">
            <a:extLst>
              <a:ext uri="{FF2B5EF4-FFF2-40B4-BE49-F238E27FC236}">
                <a16:creationId xmlns:a16="http://schemas.microsoft.com/office/drawing/2014/main" id="{5019F43B-B0E5-00E0-6231-8471769236E5}"/>
              </a:ext>
            </a:extLst>
          </p:cNvPr>
          <p:cNvSpPr txBox="1">
            <a:spLocks/>
          </p:cNvSpPr>
          <p:nvPr/>
        </p:nvSpPr>
        <p:spPr>
          <a:xfrm>
            <a:off x="1449038" y="2512060"/>
            <a:ext cx="6719602" cy="313690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每个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的前四个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word</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都是固定的，可以固定方式访问</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函数传参时，固定从第</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word</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传参</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函数传参后，实参即可视为变量，从而参数区与局部变量区可以视为一个整体的局部变量区</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临时变量区在高地址，作为栈顶进行出栈、入栈的操作，并且保证每次运算完后，临时变量区为空</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调用者</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SP+1</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，刚好获取函数返回值</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标题 29">
            <a:extLst>
              <a:ext uri="{FF2B5EF4-FFF2-40B4-BE49-F238E27FC236}">
                <a16:creationId xmlns:a16="http://schemas.microsoft.com/office/drawing/2014/main" id="{2006FF1F-3B1F-ABD6-14CE-85F7DAEB2EB1}"/>
              </a:ext>
            </a:extLst>
          </p:cNvPr>
          <p:cNvSpPr txBox="1">
            <a:spLocks/>
          </p:cNvSpPr>
          <p:nvPr/>
        </p:nvSpPr>
        <p:spPr>
          <a:xfrm>
            <a:off x="1868366" y="5695225"/>
            <a:ext cx="8818684"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gn="ctr">
              <a:lnSpc>
                <a:spcPct val="150000"/>
              </a:lnSpc>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建议按照该布局设计活动记录，即使是部分字段没有使用到</a:t>
            </a:r>
            <a:endPar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50000"/>
              </a:lnSpc>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（如非函数的</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，虽然没有返回值、返回地址，但也建议保留这两个字段）</a:t>
            </a:r>
            <a:endParaRPr 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 name="图片 10">
            <a:extLst>
              <a:ext uri="{FF2B5EF4-FFF2-40B4-BE49-F238E27FC236}">
                <a16:creationId xmlns:a16="http://schemas.microsoft.com/office/drawing/2014/main" id="{6AD05364-D390-BDCF-5D8B-4F16A67DE212}"/>
              </a:ext>
            </a:extLst>
          </p:cNvPr>
          <p:cNvPicPr>
            <a:picLocks noChangeAspect="1"/>
          </p:cNvPicPr>
          <p:nvPr/>
        </p:nvPicPr>
        <p:blipFill>
          <a:blip r:embed="rId4"/>
          <a:stretch>
            <a:fillRect/>
          </a:stretch>
        </p:blipFill>
        <p:spPr>
          <a:xfrm>
            <a:off x="8486005" y="1644069"/>
            <a:ext cx="2110875" cy="3569862"/>
          </a:xfrm>
          <a:prstGeom prst="rect">
            <a:avLst/>
          </a:prstGeom>
        </p:spPr>
      </p:pic>
      <p:sp>
        <p:nvSpPr>
          <p:cNvPr id="13" name="标题 29">
            <a:extLst>
              <a:ext uri="{FF2B5EF4-FFF2-40B4-BE49-F238E27FC236}">
                <a16:creationId xmlns:a16="http://schemas.microsoft.com/office/drawing/2014/main" id="{B5A82B2C-8F33-8DE6-056F-1214A13AF335}"/>
              </a:ext>
            </a:extLst>
          </p:cNvPr>
          <p:cNvSpPr txBox="1">
            <a:spLocks/>
          </p:cNvSpPr>
          <p:nvPr/>
        </p:nvSpPr>
        <p:spPr>
          <a:xfrm>
            <a:off x="10461010" y="4894846"/>
            <a:ext cx="1060271"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低地址</a:t>
            </a:r>
            <a:endParaRPr lang="en-US" sz="2000" b="0" dirty="0">
              <a:latin typeface="楷体" panose="02010609060101010101" pitchFamily="49" charset="-122"/>
              <a:ea typeface="楷体" panose="02010609060101010101" pitchFamily="49" charset="-122"/>
            </a:endParaRPr>
          </a:p>
        </p:txBody>
      </p:sp>
      <p:sp>
        <p:nvSpPr>
          <p:cNvPr id="14" name="标题 29">
            <a:extLst>
              <a:ext uri="{FF2B5EF4-FFF2-40B4-BE49-F238E27FC236}">
                <a16:creationId xmlns:a16="http://schemas.microsoft.com/office/drawing/2014/main" id="{40997102-D2C8-DF2B-8EAB-F7D6FB68A2D2}"/>
              </a:ext>
            </a:extLst>
          </p:cNvPr>
          <p:cNvSpPr txBox="1">
            <a:spLocks/>
          </p:cNvSpPr>
          <p:nvPr/>
        </p:nvSpPr>
        <p:spPr>
          <a:xfrm>
            <a:off x="10389555" y="1324984"/>
            <a:ext cx="1060271"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楷体" panose="02010609060101010101" pitchFamily="49" charset="-122"/>
                <a:ea typeface="楷体" panose="02010609060101010101" pitchFamily="49" charset="-122"/>
              </a:rPr>
              <a:t>高地址</a:t>
            </a:r>
            <a:endParaRPr lang="en-US" sz="2000" b="0" dirty="0">
              <a:latin typeface="楷体" panose="02010609060101010101" pitchFamily="49" charset="-122"/>
              <a:ea typeface="楷体" panose="02010609060101010101" pitchFamily="49" charset="-122"/>
            </a:endParaRPr>
          </a:p>
        </p:txBody>
      </p:sp>
      <p:grpSp>
        <p:nvGrpSpPr>
          <p:cNvPr id="6" name="组合 5">
            <a:extLst>
              <a:ext uri="{FF2B5EF4-FFF2-40B4-BE49-F238E27FC236}">
                <a16:creationId xmlns:a16="http://schemas.microsoft.com/office/drawing/2014/main" id="{4A71E5D9-37F7-0E9E-86B1-664CF7932478}"/>
              </a:ext>
            </a:extLst>
          </p:cNvPr>
          <p:cNvGrpSpPr/>
          <p:nvPr/>
        </p:nvGrpSpPr>
        <p:grpSpPr>
          <a:xfrm>
            <a:off x="1634" y="188687"/>
            <a:ext cx="187052" cy="592364"/>
            <a:chOff x="11571416" y="3959358"/>
            <a:chExt cx="620584" cy="1723139"/>
          </a:xfrm>
        </p:grpSpPr>
        <p:sp>
          <p:nvSpPr>
            <p:cNvPr id="7" name="矩形 6">
              <a:extLst>
                <a:ext uri="{FF2B5EF4-FFF2-40B4-BE49-F238E27FC236}">
                  <a16:creationId xmlns:a16="http://schemas.microsoft.com/office/drawing/2014/main" id="{8E448395-3699-DB62-1796-983388048381}"/>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FA3370-4E0B-99E1-BDCA-1C1D747860D2}"/>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368178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每进入一个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，为其分配一个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5202196"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活动记录的组织</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栈式活动记录</a:t>
            </a:r>
            <a:endParaRPr lang="en-US" sz="2400" dirty="0">
              <a:latin typeface="楷体" panose="02010609060101010101" pitchFamily="49" charset="-122"/>
              <a:ea typeface="楷体" panose="02010609060101010101" pitchFamily="49" charset="-122"/>
            </a:endParaRPr>
          </a:p>
        </p:txBody>
      </p:sp>
      <p:sp>
        <p:nvSpPr>
          <p:cNvPr id="2" name="标题 29">
            <a:extLst>
              <a:ext uri="{FF2B5EF4-FFF2-40B4-BE49-F238E27FC236}">
                <a16:creationId xmlns:a16="http://schemas.microsoft.com/office/drawing/2014/main" id="{5019F43B-B0E5-00E0-6231-8471769236E5}"/>
              </a:ext>
            </a:extLst>
          </p:cNvPr>
          <p:cNvSpPr txBox="1">
            <a:spLocks/>
          </p:cNvSpPr>
          <p:nvPr/>
        </p:nvSpPr>
        <p:spPr>
          <a:xfrm>
            <a:off x="1449037" y="2512060"/>
            <a:ext cx="10323863" cy="1564263"/>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栈式虚拟机中，将所有</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以栈的形式组织</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进入一个</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，分配一个新的</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设置为</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指向参数区的起始地址（</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SP=SP+4</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）便于运算或变量的分配。</a:t>
            </a:r>
            <a:endPar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000" b="0" dirty="0">
              <a:latin typeface="+mj-ea"/>
            </a:endParaRPr>
          </a:p>
          <a:p>
            <a:pPr>
              <a:lnSpc>
                <a:spcPct val="150000"/>
              </a:lnSpc>
            </a:pPr>
            <a:endParaRPr lang="en-US" sz="2000" b="0" dirty="0">
              <a:latin typeface="+mj-ea"/>
            </a:endParaRPr>
          </a:p>
        </p:txBody>
      </p:sp>
      <p:sp>
        <p:nvSpPr>
          <p:cNvPr id="7" name="矩形 6">
            <a:extLst>
              <a:ext uri="{FF2B5EF4-FFF2-40B4-BE49-F238E27FC236}">
                <a16:creationId xmlns:a16="http://schemas.microsoft.com/office/drawing/2014/main" id="{EDAA532B-8330-B535-1921-CA97AFE98BD4}"/>
              </a:ext>
            </a:extLst>
          </p:cNvPr>
          <p:cNvSpPr/>
          <p:nvPr/>
        </p:nvSpPr>
        <p:spPr>
          <a:xfrm>
            <a:off x="1920501" y="4560122"/>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B27F517-3457-77A9-9EDF-5337967A39B4}"/>
              </a:ext>
            </a:extLst>
          </p:cNvPr>
          <p:cNvSpPr txBox="1"/>
          <p:nvPr/>
        </p:nvSpPr>
        <p:spPr>
          <a:xfrm>
            <a:off x="2422897" y="4820814"/>
            <a:ext cx="633507" cy="369332"/>
          </a:xfrm>
          <a:prstGeom prst="rect">
            <a:avLst/>
          </a:prstGeom>
          <a:noFill/>
        </p:spPr>
        <p:txBody>
          <a:bodyPr wrap="none" rtlCol="0">
            <a:spAutoFit/>
          </a:bodyPr>
          <a:lstStyle/>
          <a:p>
            <a:r>
              <a:rPr lang="en-US" altLang="zh-CN" dirty="0"/>
              <a:t>AR2</a:t>
            </a:r>
            <a:endParaRPr lang="zh-CN" altLang="en-US" dirty="0"/>
          </a:p>
        </p:txBody>
      </p:sp>
      <p:sp>
        <p:nvSpPr>
          <p:cNvPr id="12" name="矩形 11">
            <a:extLst>
              <a:ext uri="{FF2B5EF4-FFF2-40B4-BE49-F238E27FC236}">
                <a16:creationId xmlns:a16="http://schemas.microsoft.com/office/drawing/2014/main" id="{C7B40924-6A2D-2403-2811-C9A359A21EED}"/>
              </a:ext>
            </a:extLst>
          </p:cNvPr>
          <p:cNvSpPr/>
          <p:nvPr/>
        </p:nvSpPr>
        <p:spPr>
          <a:xfrm>
            <a:off x="1920501" y="5422431"/>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FE624CE4-1014-CC6A-C350-194B57F01FF4}"/>
              </a:ext>
            </a:extLst>
          </p:cNvPr>
          <p:cNvSpPr txBox="1"/>
          <p:nvPr/>
        </p:nvSpPr>
        <p:spPr>
          <a:xfrm>
            <a:off x="2422897" y="5683123"/>
            <a:ext cx="633507" cy="369332"/>
          </a:xfrm>
          <a:prstGeom prst="rect">
            <a:avLst/>
          </a:prstGeom>
          <a:noFill/>
        </p:spPr>
        <p:txBody>
          <a:bodyPr wrap="none" rtlCol="0">
            <a:spAutoFit/>
          </a:bodyPr>
          <a:lstStyle/>
          <a:p>
            <a:r>
              <a:rPr lang="en-US" altLang="zh-CN" dirty="0"/>
              <a:t>AR1</a:t>
            </a:r>
            <a:endParaRPr lang="zh-CN" altLang="en-US" dirty="0"/>
          </a:p>
        </p:txBody>
      </p:sp>
      <p:cxnSp>
        <p:nvCxnSpPr>
          <p:cNvPr id="9" name="直接箭头连接符 8">
            <a:extLst>
              <a:ext uri="{FF2B5EF4-FFF2-40B4-BE49-F238E27FC236}">
                <a16:creationId xmlns:a16="http://schemas.microsoft.com/office/drawing/2014/main" id="{672E38EF-2DA3-8D79-EA3E-064E182433AF}"/>
              </a:ext>
            </a:extLst>
          </p:cNvPr>
          <p:cNvCxnSpPr/>
          <p:nvPr/>
        </p:nvCxnSpPr>
        <p:spPr>
          <a:xfrm flipH="1">
            <a:off x="3558801" y="5422431"/>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D42C0E05-F3BA-2309-1D7E-1BE787058072}"/>
              </a:ext>
            </a:extLst>
          </p:cNvPr>
          <p:cNvCxnSpPr/>
          <p:nvPr/>
        </p:nvCxnSpPr>
        <p:spPr>
          <a:xfrm flipH="1">
            <a:off x="3558801" y="4581691"/>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201259E-64BC-DA4C-05F8-DF10677ABFAE}"/>
              </a:ext>
            </a:extLst>
          </p:cNvPr>
          <p:cNvSpPr txBox="1"/>
          <p:nvPr/>
        </p:nvSpPr>
        <p:spPr>
          <a:xfrm>
            <a:off x="4076961" y="5237765"/>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14" name="文本框 13">
            <a:extLst>
              <a:ext uri="{FF2B5EF4-FFF2-40B4-BE49-F238E27FC236}">
                <a16:creationId xmlns:a16="http://schemas.microsoft.com/office/drawing/2014/main" id="{7E92E343-7FE6-A3B7-0493-ECBE51688154}"/>
              </a:ext>
            </a:extLst>
          </p:cNvPr>
          <p:cNvSpPr txBox="1"/>
          <p:nvPr/>
        </p:nvSpPr>
        <p:spPr>
          <a:xfrm>
            <a:off x="4045901" y="4414250"/>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pic>
        <p:nvPicPr>
          <p:cNvPr id="19" name="图片 18">
            <a:extLst>
              <a:ext uri="{FF2B5EF4-FFF2-40B4-BE49-F238E27FC236}">
                <a16:creationId xmlns:a16="http://schemas.microsoft.com/office/drawing/2014/main" id="{0E57D69E-8E46-349F-7FFC-DF6CC8DED9EC}"/>
              </a:ext>
            </a:extLst>
          </p:cNvPr>
          <p:cNvPicPr>
            <a:picLocks noChangeAspect="1"/>
          </p:cNvPicPr>
          <p:nvPr/>
        </p:nvPicPr>
        <p:blipFill>
          <a:blip r:embed="rId4"/>
          <a:stretch>
            <a:fillRect/>
          </a:stretch>
        </p:blipFill>
        <p:spPr>
          <a:xfrm>
            <a:off x="10113275" y="3695600"/>
            <a:ext cx="1685118" cy="2849832"/>
          </a:xfrm>
          <a:prstGeom prst="rect">
            <a:avLst/>
          </a:prstGeom>
        </p:spPr>
      </p:pic>
      <p:sp>
        <p:nvSpPr>
          <p:cNvPr id="20" name="矩形 19">
            <a:extLst>
              <a:ext uri="{FF2B5EF4-FFF2-40B4-BE49-F238E27FC236}">
                <a16:creationId xmlns:a16="http://schemas.microsoft.com/office/drawing/2014/main" id="{D10141E2-BC26-4447-803B-97E081EFE9D2}"/>
              </a:ext>
            </a:extLst>
          </p:cNvPr>
          <p:cNvSpPr/>
          <p:nvPr/>
        </p:nvSpPr>
        <p:spPr>
          <a:xfrm>
            <a:off x="6834508" y="4820814"/>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79DA306D-7F20-FCCB-A695-408F25132CE9}"/>
              </a:ext>
            </a:extLst>
          </p:cNvPr>
          <p:cNvSpPr txBox="1"/>
          <p:nvPr/>
        </p:nvSpPr>
        <p:spPr>
          <a:xfrm>
            <a:off x="7336904" y="5081506"/>
            <a:ext cx="633507" cy="369332"/>
          </a:xfrm>
          <a:prstGeom prst="rect">
            <a:avLst/>
          </a:prstGeom>
          <a:noFill/>
        </p:spPr>
        <p:txBody>
          <a:bodyPr wrap="none" rtlCol="0">
            <a:spAutoFit/>
          </a:bodyPr>
          <a:lstStyle/>
          <a:p>
            <a:r>
              <a:rPr lang="en-US" altLang="zh-CN" dirty="0"/>
              <a:t>AR2</a:t>
            </a:r>
            <a:endParaRPr lang="zh-CN" altLang="en-US" dirty="0"/>
          </a:p>
        </p:txBody>
      </p:sp>
      <p:sp>
        <p:nvSpPr>
          <p:cNvPr id="25" name="矩形 24">
            <a:extLst>
              <a:ext uri="{FF2B5EF4-FFF2-40B4-BE49-F238E27FC236}">
                <a16:creationId xmlns:a16="http://schemas.microsoft.com/office/drawing/2014/main" id="{6DAC7BE6-010A-CE00-A768-00EC7DCAAD33}"/>
              </a:ext>
            </a:extLst>
          </p:cNvPr>
          <p:cNvSpPr/>
          <p:nvPr/>
        </p:nvSpPr>
        <p:spPr>
          <a:xfrm>
            <a:off x="6834508" y="5683123"/>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DC200188-8FA0-0923-6C3E-A7B270988DF3}"/>
              </a:ext>
            </a:extLst>
          </p:cNvPr>
          <p:cNvSpPr txBox="1"/>
          <p:nvPr/>
        </p:nvSpPr>
        <p:spPr>
          <a:xfrm>
            <a:off x="7336904" y="5943815"/>
            <a:ext cx="633507" cy="369332"/>
          </a:xfrm>
          <a:prstGeom prst="rect">
            <a:avLst/>
          </a:prstGeom>
          <a:noFill/>
        </p:spPr>
        <p:txBody>
          <a:bodyPr wrap="none" rtlCol="0">
            <a:spAutoFit/>
          </a:bodyPr>
          <a:lstStyle/>
          <a:p>
            <a:r>
              <a:rPr lang="en-US" altLang="zh-CN" dirty="0"/>
              <a:t>AR1</a:t>
            </a:r>
            <a:endParaRPr lang="zh-CN" altLang="en-US" dirty="0"/>
          </a:p>
        </p:txBody>
      </p:sp>
      <p:sp>
        <p:nvSpPr>
          <p:cNvPr id="27" name="矩形 26">
            <a:extLst>
              <a:ext uri="{FF2B5EF4-FFF2-40B4-BE49-F238E27FC236}">
                <a16:creationId xmlns:a16="http://schemas.microsoft.com/office/drawing/2014/main" id="{75768F3B-F409-9335-239D-2CF1E298BF64}"/>
              </a:ext>
            </a:extLst>
          </p:cNvPr>
          <p:cNvSpPr/>
          <p:nvPr/>
        </p:nvSpPr>
        <p:spPr>
          <a:xfrm>
            <a:off x="6834508" y="3954503"/>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96ED0424-4EB9-8209-22EA-D16413664944}"/>
              </a:ext>
            </a:extLst>
          </p:cNvPr>
          <p:cNvSpPr txBox="1"/>
          <p:nvPr/>
        </p:nvSpPr>
        <p:spPr>
          <a:xfrm>
            <a:off x="7336904" y="4215195"/>
            <a:ext cx="633507" cy="369332"/>
          </a:xfrm>
          <a:prstGeom prst="rect">
            <a:avLst/>
          </a:prstGeom>
          <a:noFill/>
        </p:spPr>
        <p:txBody>
          <a:bodyPr wrap="none" rtlCol="0">
            <a:spAutoFit/>
          </a:bodyPr>
          <a:lstStyle/>
          <a:p>
            <a:r>
              <a:rPr lang="en-US" altLang="zh-CN" dirty="0"/>
              <a:t>AR3</a:t>
            </a:r>
            <a:endParaRPr lang="zh-CN" altLang="en-US" dirty="0"/>
          </a:p>
        </p:txBody>
      </p:sp>
      <p:cxnSp>
        <p:nvCxnSpPr>
          <p:cNvPr id="29" name="直接箭头连接符 28">
            <a:extLst>
              <a:ext uri="{FF2B5EF4-FFF2-40B4-BE49-F238E27FC236}">
                <a16:creationId xmlns:a16="http://schemas.microsoft.com/office/drawing/2014/main" id="{EA881B26-31FE-E463-14F3-52ACFCCBF615}"/>
              </a:ext>
            </a:extLst>
          </p:cNvPr>
          <p:cNvCxnSpPr/>
          <p:nvPr/>
        </p:nvCxnSpPr>
        <p:spPr>
          <a:xfrm flipH="1">
            <a:off x="8509424" y="4807391"/>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DDF52B38-3470-3209-D5CE-2C7380F286EA}"/>
              </a:ext>
            </a:extLst>
          </p:cNvPr>
          <p:cNvCxnSpPr/>
          <p:nvPr/>
        </p:nvCxnSpPr>
        <p:spPr>
          <a:xfrm flipH="1">
            <a:off x="8509424" y="3966651"/>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DB52426-7A0C-E581-AC3B-80D79DB991A7}"/>
              </a:ext>
            </a:extLst>
          </p:cNvPr>
          <p:cNvSpPr txBox="1"/>
          <p:nvPr/>
        </p:nvSpPr>
        <p:spPr>
          <a:xfrm>
            <a:off x="9027584" y="4622725"/>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32" name="文本框 31">
            <a:extLst>
              <a:ext uri="{FF2B5EF4-FFF2-40B4-BE49-F238E27FC236}">
                <a16:creationId xmlns:a16="http://schemas.microsoft.com/office/drawing/2014/main" id="{E4044AE8-3BB9-3949-BCDD-F67CAE6C551E}"/>
              </a:ext>
            </a:extLst>
          </p:cNvPr>
          <p:cNvSpPr txBox="1"/>
          <p:nvPr/>
        </p:nvSpPr>
        <p:spPr>
          <a:xfrm>
            <a:off x="8996524" y="3799210"/>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sp>
        <p:nvSpPr>
          <p:cNvPr id="33" name="箭头: 右 32">
            <a:extLst>
              <a:ext uri="{FF2B5EF4-FFF2-40B4-BE49-F238E27FC236}">
                <a16:creationId xmlns:a16="http://schemas.microsoft.com/office/drawing/2014/main" id="{00032B48-A115-436E-8CEF-C8DBDE116B00}"/>
              </a:ext>
            </a:extLst>
          </p:cNvPr>
          <p:cNvSpPr/>
          <p:nvPr/>
        </p:nvSpPr>
        <p:spPr>
          <a:xfrm>
            <a:off x="5110272" y="5053099"/>
            <a:ext cx="110524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48118518-28FE-092F-7226-C5182508FE56}"/>
              </a:ext>
            </a:extLst>
          </p:cNvPr>
          <p:cNvGrpSpPr/>
          <p:nvPr/>
        </p:nvGrpSpPr>
        <p:grpSpPr>
          <a:xfrm>
            <a:off x="1634" y="188687"/>
            <a:ext cx="187052" cy="592364"/>
            <a:chOff x="11571416" y="3959358"/>
            <a:chExt cx="620584" cy="1723139"/>
          </a:xfrm>
        </p:grpSpPr>
        <p:sp>
          <p:nvSpPr>
            <p:cNvPr id="8" name="矩形 7">
              <a:extLst>
                <a:ext uri="{FF2B5EF4-FFF2-40B4-BE49-F238E27FC236}">
                  <a16:creationId xmlns:a16="http://schemas.microsoft.com/office/drawing/2014/main" id="{23441588-448F-F442-6E38-357692D0197B}"/>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0B2FB6A4-B025-AEDE-0625-31BDBE4F6F74}"/>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245362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773203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每进入一个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，为其分配一个</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5202196"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活动记录的组织</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栈式活动记录</a:t>
            </a:r>
            <a:endParaRPr lang="en-US" sz="2400" dirty="0">
              <a:latin typeface="楷体" panose="02010609060101010101" pitchFamily="49" charset="-122"/>
              <a:ea typeface="楷体" panose="02010609060101010101" pitchFamily="49" charset="-122"/>
            </a:endParaRPr>
          </a:p>
        </p:txBody>
      </p:sp>
      <p:sp>
        <p:nvSpPr>
          <p:cNvPr id="2" name="标题 29">
            <a:extLst>
              <a:ext uri="{FF2B5EF4-FFF2-40B4-BE49-F238E27FC236}">
                <a16:creationId xmlns:a16="http://schemas.microsoft.com/office/drawing/2014/main" id="{5019F43B-B0E5-00E0-6231-8471769236E5}"/>
              </a:ext>
            </a:extLst>
          </p:cNvPr>
          <p:cNvSpPr txBox="1">
            <a:spLocks/>
          </p:cNvSpPr>
          <p:nvPr/>
        </p:nvSpPr>
        <p:spPr>
          <a:xfrm>
            <a:off x="1449038" y="2512060"/>
            <a:ext cx="9980962" cy="192659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栈式虚拟机中，将所有</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以栈的形式组织</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离开一个</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Block</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设置为</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（即前一个</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的高地址），将</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MP</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设置为当前</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的动态链（即前一个</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的基地址），弹出当前</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p>
          <a:p>
            <a:pPr>
              <a:lnSpc>
                <a:spcPct val="150000"/>
              </a:lnSpc>
            </a:pPr>
            <a:endParaRPr lang="en-US" altLang="zh-CN" sz="2000" b="0" dirty="0">
              <a:latin typeface="+mj-ea"/>
            </a:endParaRPr>
          </a:p>
          <a:p>
            <a:pPr>
              <a:lnSpc>
                <a:spcPct val="150000"/>
              </a:lnSpc>
            </a:pPr>
            <a:endParaRPr lang="en-US" sz="2000" b="0" dirty="0">
              <a:latin typeface="+mj-ea"/>
            </a:endParaRPr>
          </a:p>
        </p:txBody>
      </p:sp>
      <p:sp>
        <p:nvSpPr>
          <p:cNvPr id="31" name="矩形 30">
            <a:extLst>
              <a:ext uri="{FF2B5EF4-FFF2-40B4-BE49-F238E27FC236}">
                <a16:creationId xmlns:a16="http://schemas.microsoft.com/office/drawing/2014/main" id="{729952F3-9F5C-220C-08A0-7EEA45C15C71}"/>
              </a:ext>
            </a:extLst>
          </p:cNvPr>
          <p:cNvSpPr/>
          <p:nvPr/>
        </p:nvSpPr>
        <p:spPr>
          <a:xfrm>
            <a:off x="2962434" y="5029981"/>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8F3772DF-6C2E-BCC5-E873-723C336D8F2B}"/>
              </a:ext>
            </a:extLst>
          </p:cNvPr>
          <p:cNvSpPr txBox="1"/>
          <p:nvPr/>
        </p:nvSpPr>
        <p:spPr>
          <a:xfrm>
            <a:off x="3464830" y="5290673"/>
            <a:ext cx="633507" cy="369332"/>
          </a:xfrm>
          <a:prstGeom prst="rect">
            <a:avLst/>
          </a:prstGeom>
          <a:noFill/>
        </p:spPr>
        <p:txBody>
          <a:bodyPr wrap="none" rtlCol="0">
            <a:spAutoFit/>
          </a:bodyPr>
          <a:lstStyle/>
          <a:p>
            <a:r>
              <a:rPr lang="en-US" altLang="zh-CN" dirty="0"/>
              <a:t>AR2</a:t>
            </a:r>
            <a:endParaRPr lang="zh-CN" altLang="en-US" dirty="0"/>
          </a:p>
        </p:txBody>
      </p:sp>
      <p:sp>
        <p:nvSpPr>
          <p:cNvPr id="33" name="矩形 32">
            <a:extLst>
              <a:ext uri="{FF2B5EF4-FFF2-40B4-BE49-F238E27FC236}">
                <a16:creationId xmlns:a16="http://schemas.microsoft.com/office/drawing/2014/main" id="{10E75D48-8C37-5C9C-5CDA-4746EEAC1EA7}"/>
              </a:ext>
            </a:extLst>
          </p:cNvPr>
          <p:cNvSpPr/>
          <p:nvPr/>
        </p:nvSpPr>
        <p:spPr>
          <a:xfrm>
            <a:off x="2962434" y="5892290"/>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176258B1-08D7-1370-5018-0AC94435FF81}"/>
              </a:ext>
            </a:extLst>
          </p:cNvPr>
          <p:cNvSpPr txBox="1"/>
          <p:nvPr/>
        </p:nvSpPr>
        <p:spPr>
          <a:xfrm>
            <a:off x="3464830" y="6152982"/>
            <a:ext cx="633507" cy="369332"/>
          </a:xfrm>
          <a:prstGeom prst="rect">
            <a:avLst/>
          </a:prstGeom>
          <a:noFill/>
        </p:spPr>
        <p:txBody>
          <a:bodyPr wrap="none" rtlCol="0">
            <a:spAutoFit/>
          </a:bodyPr>
          <a:lstStyle/>
          <a:p>
            <a:r>
              <a:rPr lang="en-US" altLang="zh-CN" dirty="0"/>
              <a:t>AR1</a:t>
            </a:r>
            <a:endParaRPr lang="zh-CN" altLang="en-US" dirty="0"/>
          </a:p>
        </p:txBody>
      </p:sp>
      <p:sp>
        <p:nvSpPr>
          <p:cNvPr id="35" name="矩形 34">
            <a:extLst>
              <a:ext uri="{FF2B5EF4-FFF2-40B4-BE49-F238E27FC236}">
                <a16:creationId xmlns:a16="http://schemas.microsoft.com/office/drawing/2014/main" id="{7E13B2CB-CAFF-211B-A4CF-0118906C723F}"/>
              </a:ext>
            </a:extLst>
          </p:cNvPr>
          <p:cNvSpPr/>
          <p:nvPr/>
        </p:nvSpPr>
        <p:spPr>
          <a:xfrm>
            <a:off x="2962434" y="4163670"/>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214C4272-5D83-200D-6342-AA6111787753}"/>
              </a:ext>
            </a:extLst>
          </p:cNvPr>
          <p:cNvSpPr txBox="1"/>
          <p:nvPr/>
        </p:nvSpPr>
        <p:spPr>
          <a:xfrm>
            <a:off x="3464830" y="4424362"/>
            <a:ext cx="633507" cy="369332"/>
          </a:xfrm>
          <a:prstGeom prst="rect">
            <a:avLst/>
          </a:prstGeom>
          <a:noFill/>
        </p:spPr>
        <p:txBody>
          <a:bodyPr wrap="none" rtlCol="0">
            <a:spAutoFit/>
          </a:bodyPr>
          <a:lstStyle/>
          <a:p>
            <a:r>
              <a:rPr lang="en-US" altLang="zh-CN" dirty="0"/>
              <a:t>AR3</a:t>
            </a:r>
            <a:endParaRPr lang="zh-CN" altLang="en-US" dirty="0"/>
          </a:p>
        </p:txBody>
      </p:sp>
      <p:cxnSp>
        <p:nvCxnSpPr>
          <p:cNvPr id="37" name="直接箭头连接符 36">
            <a:extLst>
              <a:ext uri="{FF2B5EF4-FFF2-40B4-BE49-F238E27FC236}">
                <a16:creationId xmlns:a16="http://schemas.microsoft.com/office/drawing/2014/main" id="{CEE71CEA-5369-B535-74FC-32AF4F73B1DF}"/>
              </a:ext>
            </a:extLst>
          </p:cNvPr>
          <p:cNvCxnSpPr/>
          <p:nvPr/>
        </p:nvCxnSpPr>
        <p:spPr>
          <a:xfrm flipH="1">
            <a:off x="4637350" y="5016558"/>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E39B489-65BB-8E59-F781-28C5A51A5261}"/>
              </a:ext>
            </a:extLst>
          </p:cNvPr>
          <p:cNvCxnSpPr/>
          <p:nvPr/>
        </p:nvCxnSpPr>
        <p:spPr>
          <a:xfrm flipH="1">
            <a:off x="4637350" y="4175818"/>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CF12A18-EE04-DB61-B5AA-3765478272E0}"/>
              </a:ext>
            </a:extLst>
          </p:cNvPr>
          <p:cNvSpPr txBox="1"/>
          <p:nvPr/>
        </p:nvSpPr>
        <p:spPr>
          <a:xfrm>
            <a:off x="5155510" y="4831892"/>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40" name="文本框 39">
            <a:extLst>
              <a:ext uri="{FF2B5EF4-FFF2-40B4-BE49-F238E27FC236}">
                <a16:creationId xmlns:a16="http://schemas.microsoft.com/office/drawing/2014/main" id="{DEB5C752-6FB4-875E-0B18-3BBFC8329BB7}"/>
              </a:ext>
            </a:extLst>
          </p:cNvPr>
          <p:cNvSpPr txBox="1"/>
          <p:nvPr/>
        </p:nvSpPr>
        <p:spPr>
          <a:xfrm>
            <a:off x="5155510" y="3991152"/>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sp>
        <p:nvSpPr>
          <p:cNvPr id="41" name="矩形 40">
            <a:extLst>
              <a:ext uri="{FF2B5EF4-FFF2-40B4-BE49-F238E27FC236}">
                <a16:creationId xmlns:a16="http://schemas.microsoft.com/office/drawing/2014/main" id="{EB273C16-D9E1-09AB-9FC3-2B4E0A18C92A}"/>
              </a:ext>
            </a:extLst>
          </p:cNvPr>
          <p:cNvSpPr/>
          <p:nvPr/>
        </p:nvSpPr>
        <p:spPr>
          <a:xfrm>
            <a:off x="7568826" y="5029981"/>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849BFD9A-55B8-1E53-E38A-EF8E5A3BA00B}"/>
              </a:ext>
            </a:extLst>
          </p:cNvPr>
          <p:cNvSpPr txBox="1"/>
          <p:nvPr/>
        </p:nvSpPr>
        <p:spPr>
          <a:xfrm>
            <a:off x="8071222" y="5290673"/>
            <a:ext cx="633507" cy="369332"/>
          </a:xfrm>
          <a:prstGeom prst="rect">
            <a:avLst/>
          </a:prstGeom>
          <a:noFill/>
        </p:spPr>
        <p:txBody>
          <a:bodyPr wrap="none" rtlCol="0">
            <a:spAutoFit/>
          </a:bodyPr>
          <a:lstStyle/>
          <a:p>
            <a:r>
              <a:rPr lang="en-US" altLang="zh-CN" dirty="0"/>
              <a:t>AR2</a:t>
            </a:r>
            <a:endParaRPr lang="zh-CN" altLang="en-US" dirty="0"/>
          </a:p>
        </p:txBody>
      </p:sp>
      <p:sp>
        <p:nvSpPr>
          <p:cNvPr id="43" name="矩形 42">
            <a:extLst>
              <a:ext uri="{FF2B5EF4-FFF2-40B4-BE49-F238E27FC236}">
                <a16:creationId xmlns:a16="http://schemas.microsoft.com/office/drawing/2014/main" id="{437D3810-6148-9E28-B415-DCA735446699}"/>
              </a:ext>
            </a:extLst>
          </p:cNvPr>
          <p:cNvSpPr/>
          <p:nvPr/>
        </p:nvSpPr>
        <p:spPr>
          <a:xfrm>
            <a:off x="7568826" y="5892290"/>
            <a:ext cx="1638300" cy="862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04666055-7970-2C8A-68E0-A73D4577CF04}"/>
              </a:ext>
            </a:extLst>
          </p:cNvPr>
          <p:cNvSpPr txBox="1"/>
          <p:nvPr/>
        </p:nvSpPr>
        <p:spPr>
          <a:xfrm>
            <a:off x="8071222" y="6152982"/>
            <a:ext cx="633507" cy="369332"/>
          </a:xfrm>
          <a:prstGeom prst="rect">
            <a:avLst/>
          </a:prstGeom>
          <a:noFill/>
        </p:spPr>
        <p:txBody>
          <a:bodyPr wrap="none" rtlCol="0">
            <a:spAutoFit/>
          </a:bodyPr>
          <a:lstStyle/>
          <a:p>
            <a:r>
              <a:rPr lang="en-US" altLang="zh-CN" dirty="0"/>
              <a:t>AR1</a:t>
            </a:r>
            <a:endParaRPr lang="zh-CN" altLang="en-US" dirty="0"/>
          </a:p>
        </p:txBody>
      </p:sp>
      <p:cxnSp>
        <p:nvCxnSpPr>
          <p:cNvPr id="45" name="直接箭头连接符 44">
            <a:extLst>
              <a:ext uri="{FF2B5EF4-FFF2-40B4-BE49-F238E27FC236}">
                <a16:creationId xmlns:a16="http://schemas.microsoft.com/office/drawing/2014/main" id="{34BD5770-E300-1176-C716-41ED06B6DF2F}"/>
              </a:ext>
            </a:extLst>
          </p:cNvPr>
          <p:cNvCxnSpPr/>
          <p:nvPr/>
        </p:nvCxnSpPr>
        <p:spPr>
          <a:xfrm flipH="1">
            <a:off x="9207126" y="5892290"/>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961A9CFC-09CA-6638-21F6-493D7F3B6977}"/>
              </a:ext>
            </a:extLst>
          </p:cNvPr>
          <p:cNvCxnSpPr/>
          <p:nvPr/>
        </p:nvCxnSpPr>
        <p:spPr>
          <a:xfrm flipH="1">
            <a:off x="9207126" y="5051550"/>
            <a:ext cx="51816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CB7D3D97-DEC6-F2EF-DD30-2773FDA45A3E}"/>
              </a:ext>
            </a:extLst>
          </p:cNvPr>
          <p:cNvSpPr txBox="1"/>
          <p:nvPr/>
        </p:nvSpPr>
        <p:spPr>
          <a:xfrm>
            <a:off x="9725286" y="5707624"/>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48" name="文本框 47">
            <a:extLst>
              <a:ext uri="{FF2B5EF4-FFF2-40B4-BE49-F238E27FC236}">
                <a16:creationId xmlns:a16="http://schemas.microsoft.com/office/drawing/2014/main" id="{D69703AD-54F1-AC7E-1257-8DEB6ABF0171}"/>
              </a:ext>
            </a:extLst>
          </p:cNvPr>
          <p:cNvSpPr txBox="1"/>
          <p:nvPr/>
        </p:nvSpPr>
        <p:spPr>
          <a:xfrm>
            <a:off x="9694226" y="4884109"/>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sp>
        <p:nvSpPr>
          <p:cNvPr id="49" name="箭头: 右 48">
            <a:extLst>
              <a:ext uri="{FF2B5EF4-FFF2-40B4-BE49-F238E27FC236}">
                <a16:creationId xmlns:a16="http://schemas.microsoft.com/office/drawing/2014/main" id="{8DFE8C41-4057-55F4-2FC1-0B101F5CB8FE}"/>
              </a:ext>
            </a:extLst>
          </p:cNvPr>
          <p:cNvSpPr/>
          <p:nvPr/>
        </p:nvSpPr>
        <p:spPr>
          <a:xfrm>
            <a:off x="5695778" y="5541640"/>
            <a:ext cx="110524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DB8F7D0B-8F55-7975-AD84-2FAE5E8208A4}"/>
              </a:ext>
            </a:extLst>
          </p:cNvPr>
          <p:cNvGrpSpPr/>
          <p:nvPr/>
        </p:nvGrpSpPr>
        <p:grpSpPr>
          <a:xfrm>
            <a:off x="1634" y="188687"/>
            <a:ext cx="187052" cy="592364"/>
            <a:chOff x="11571416" y="3959358"/>
            <a:chExt cx="620584" cy="1723139"/>
          </a:xfrm>
        </p:grpSpPr>
        <p:sp>
          <p:nvSpPr>
            <p:cNvPr id="7" name="矩形 6">
              <a:extLst>
                <a:ext uri="{FF2B5EF4-FFF2-40B4-BE49-F238E27FC236}">
                  <a16:creationId xmlns:a16="http://schemas.microsoft.com/office/drawing/2014/main" id="{B052D725-758F-381E-1665-D83519E3515F}"/>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CA6E734-8C06-53CA-11C2-331267780EBB}"/>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406158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9">
            <a:extLst>
              <a:ext uri="{FF2B5EF4-FFF2-40B4-BE49-F238E27FC236}">
                <a16:creationId xmlns:a16="http://schemas.microsoft.com/office/drawing/2014/main" id="{861E9A70-4D5A-AE0D-9ED3-CDE3C334FDBB}"/>
              </a:ext>
            </a:extLst>
          </p:cNvPr>
          <p:cNvSpPr txBox="1">
            <a:spLocks/>
          </p:cNvSpPr>
          <p:nvPr/>
        </p:nvSpPr>
        <p:spPr>
          <a:xfrm>
            <a:off x="1408154" y="1911308"/>
            <a:ext cx="8208286"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通过栈式</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组织内存后，给定某个变量，如何在内存中访问这个变量？</a:t>
            </a:r>
            <a:endParaRPr lang="en-US" sz="2000" b="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5202196"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内存变量的访问</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——level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addr</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题 29">
            <a:extLst>
              <a:ext uri="{FF2B5EF4-FFF2-40B4-BE49-F238E27FC236}">
                <a16:creationId xmlns:a16="http://schemas.microsoft.com/office/drawing/2014/main" id="{B7E0056A-035E-2EA2-87F0-2A2523449D77}"/>
              </a:ext>
            </a:extLst>
          </p:cNvPr>
          <p:cNvSpPr txBox="1">
            <a:spLocks/>
          </p:cNvSpPr>
          <p:nvPr/>
        </p:nvSpPr>
        <p:spPr>
          <a:xfrm>
            <a:off x="1464138" y="2451308"/>
            <a:ext cx="8208286" cy="122439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50000"/>
              </a:lnSpc>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MIPS</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中获取变量的基地址</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+offset</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，作为绝对地址直接访存。</a:t>
            </a:r>
            <a:endParaRPr lang="en-US" altLang="zh-CN" sz="2000" b="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作为一种类中间代码，可以以更简便的方式访存：</a:t>
            </a:r>
            <a:r>
              <a:rPr lang="en-US" altLang="zh-CN"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000" b="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endParaRPr 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A69DB48D-F0FC-0CB5-B314-D474DD19BCA6}"/>
              </a:ext>
            </a:extLst>
          </p:cNvPr>
          <p:cNvPicPr>
            <a:picLocks noChangeAspect="1"/>
          </p:cNvPicPr>
          <p:nvPr/>
        </p:nvPicPr>
        <p:blipFill>
          <a:blip r:embed="rId4"/>
          <a:stretch>
            <a:fillRect/>
          </a:stretch>
        </p:blipFill>
        <p:spPr>
          <a:xfrm>
            <a:off x="9728408" y="1169507"/>
            <a:ext cx="2110875" cy="3569862"/>
          </a:xfrm>
          <a:prstGeom prst="rect">
            <a:avLst/>
          </a:prstGeom>
        </p:spPr>
      </p:pic>
      <p:sp>
        <p:nvSpPr>
          <p:cNvPr id="22" name="文本框 21">
            <a:extLst>
              <a:ext uri="{FF2B5EF4-FFF2-40B4-BE49-F238E27FC236}">
                <a16:creationId xmlns:a16="http://schemas.microsoft.com/office/drawing/2014/main" id="{B92DEED8-D7C0-1769-2E1B-32685CAEF441}"/>
              </a:ext>
            </a:extLst>
          </p:cNvPr>
          <p:cNvSpPr txBox="1"/>
          <p:nvPr/>
        </p:nvSpPr>
        <p:spPr>
          <a:xfrm>
            <a:off x="1288473" y="4013023"/>
            <a:ext cx="9219190" cy="1289456"/>
          </a:xfrm>
          <a:prstGeom prst="rect">
            <a:avLst/>
          </a:prstGeom>
          <a:noFill/>
        </p:spPr>
        <p:txBody>
          <a:bodyPr wrap="none" rtlCol="0">
            <a:spAutoFit/>
          </a:bodyPr>
          <a:lstStyle/>
          <a:p>
            <a:pPr>
              <a:lnSpc>
                <a:spcPct val="150000"/>
              </a:lnSpc>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：该变量所在</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距离当前</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的层次距离，即通过静态链找多少次才能找到</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如果变量在当前</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level=0</a:t>
            </a:r>
          </a:p>
          <a:p>
            <a:pPr>
              <a:lnSpc>
                <a:spcPct val="150000"/>
              </a:lnSpc>
            </a:pP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：该变量在其所在的</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中的偏移，如果该变量是其</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中的第一个变量，则其</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=4</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 name="组合 1">
            <a:extLst>
              <a:ext uri="{FF2B5EF4-FFF2-40B4-BE49-F238E27FC236}">
                <a16:creationId xmlns:a16="http://schemas.microsoft.com/office/drawing/2014/main" id="{CC806516-A68A-2836-9E7D-A38BDEE499D6}"/>
              </a:ext>
            </a:extLst>
          </p:cNvPr>
          <p:cNvGrpSpPr/>
          <p:nvPr/>
        </p:nvGrpSpPr>
        <p:grpSpPr>
          <a:xfrm>
            <a:off x="1634" y="188687"/>
            <a:ext cx="187052" cy="592364"/>
            <a:chOff x="11571416" y="3959358"/>
            <a:chExt cx="620584" cy="1723139"/>
          </a:xfrm>
        </p:grpSpPr>
        <p:sp>
          <p:nvSpPr>
            <p:cNvPr id="8" name="矩形 7">
              <a:extLst>
                <a:ext uri="{FF2B5EF4-FFF2-40B4-BE49-F238E27FC236}">
                  <a16:creationId xmlns:a16="http://schemas.microsoft.com/office/drawing/2014/main" id="{EF0954A1-BF88-160F-91EA-259583EA1356}"/>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B5F01B8-D02E-B257-3DA2-02137D145476}"/>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252330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9">
            <a:extLst>
              <a:ext uri="{FF2B5EF4-FFF2-40B4-BE49-F238E27FC236}">
                <a16:creationId xmlns:a16="http://schemas.microsoft.com/office/drawing/2014/main" id="{BFA2ADC8-51F1-EBD6-A340-6897AC5352CE}"/>
              </a:ext>
            </a:extLst>
          </p:cNvPr>
          <p:cNvSpPr txBox="1">
            <a:spLocks/>
          </p:cNvSpPr>
          <p:nvPr/>
        </p:nvSpPr>
        <p:spPr>
          <a:xfrm>
            <a:off x="670718" y="384515"/>
            <a:ext cx="10850563" cy="63817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存储管理</a:t>
            </a:r>
            <a:endParaRPr 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29">
            <a:extLst>
              <a:ext uri="{FF2B5EF4-FFF2-40B4-BE49-F238E27FC236}">
                <a16:creationId xmlns:a16="http://schemas.microsoft.com/office/drawing/2014/main" id="{E4FC8F25-9FA4-AA3E-3626-94D03A22CEF2}"/>
              </a:ext>
            </a:extLst>
          </p:cNvPr>
          <p:cNvSpPr txBox="1">
            <a:spLocks/>
          </p:cNvSpPr>
          <p:nvPr/>
        </p:nvSpPr>
        <p:spPr>
          <a:xfrm>
            <a:off x="1046204" y="1295049"/>
            <a:ext cx="5202196"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内存变量的访问</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——level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addr</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44D0B773-82CB-C46F-A934-678B07879D6B}"/>
              </a:ext>
            </a:extLst>
          </p:cNvPr>
          <p:cNvSpPr txBox="1"/>
          <p:nvPr/>
        </p:nvSpPr>
        <p:spPr>
          <a:xfrm>
            <a:off x="670718" y="1903650"/>
            <a:ext cx="4525921" cy="3416320"/>
          </a:xfrm>
          <a:prstGeom prst="rect">
            <a:avLst/>
          </a:prstGeom>
          <a:noFill/>
        </p:spPr>
        <p:txBody>
          <a:bodyPr wrap="square" rtlCol="0">
            <a:spAutoFit/>
          </a:bodyPr>
          <a:lstStyle/>
          <a:p>
            <a:r>
              <a:rPr lang="en-US" altLang="zh-CN" b="1" i="0" dirty="0">
                <a:solidFill>
                  <a:srgbClr val="000080"/>
                </a:solidFill>
                <a:effectLst/>
                <a:latin typeface="_"/>
              </a:rPr>
              <a:t>int</a:t>
            </a:r>
            <a:r>
              <a:rPr lang="en-US" altLang="zh-CN" b="0" i="0" dirty="0">
                <a:solidFill>
                  <a:srgbClr val="36464E"/>
                </a:solidFill>
                <a:effectLst/>
                <a:latin typeface="_"/>
              </a:rPr>
              <a:t> </a:t>
            </a:r>
            <a:r>
              <a:rPr lang="en-US" altLang="zh-CN" b="0" i="0" dirty="0">
                <a:solidFill>
                  <a:srgbClr val="000000"/>
                </a:solidFill>
                <a:effectLst/>
                <a:latin typeface="_"/>
              </a:rPr>
              <a:t>main</a:t>
            </a:r>
            <a:r>
              <a:rPr lang="en-US" altLang="zh-CN" b="0" i="0" dirty="0">
                <a:solidFill>
                  <a:srgbClr val="36464E"/>
                </a:solidFill>
                <a:effectLst/>
                <a:latin typeface="_"/>
              </a:rPr>
              <a:t>() { </a:t>
            </a:r>
            <a:endParaRPr lang="en-US" altLang="zh-CN" b="0" i="1" dirty="0">
              <a:effectLst/>
              <a:latin typeface="_"/>
            </a:endParaRPr>
          </a:p>
          <a:p>
            <a:r>
              <a:rPr lang="en-US" altLang="zh-CN" i="1" dirty="0">
                <a:solidFill>
                  <a:srgbClr val="000080"/>
                </a:solidFill>
                <a:latin typeface="_"/>
              </a:rPr>
              <a:t>	</a:t>
            </a:r>
            <a:r>
              <a:rPr lang="en-US" altLang="zh-CN" b="1" i="0" dirty="0">
                <a:solidFill>
                  <a:srgbClr val="000080"/>
                </a:solidFill>
                <a:effectLst/>
                <a:latin typeface="_"/>
              </a:rPr>
              <a:t>int</a:t>
            </a:r>
            <a:r>
              <a:rPr lang="en-US" altLang="zh-CN" b="0" i="0" dirty="0">
                <a:solidFill>
                  <a:srgbClr val="36464E"/>
                </a:solidFill>
                <a:effectLst/>
                <a:latin typeface="_"/>
              </a:rPr>
              <a:t> a = </a:t>
            </a:r>
            <a:r>
              <a:rPr lang="en-US" altLang="zh-CN" b="0" i="0" dirty="0">
                <a:solidFill>
                  <a:srgbClr val="0000FF"/>
                </a:solidFill>
                <a:effectLst/>
                <a:latin typeface="_"/>
              </a:rPr>
              <a:t>10</a:t>
            </a:r>
            <a:r>
              <a:rPr lang="en-US" altLang="zh-CN" b="0" i="0" dirty="0">
                <a:solidFill>
                  <a:srgbClr val="36464E"/>
                </a:solidFill>
                <a:effectLst/>
                <a:latin typeface="_"/>
              </a:rPr>
              <a:t>, b = </a:t>
            </a:r>
            <a:r>
              <a:rPr lang="en-US" altLang="zh-CN" b="0" i="0" dirty="0">
                <a:solidFill>
                  <a:srgbClr val="0000FF"/>
                </a:solidFill>
                <a:effectLst/>
                <a:latin typeface="_"/>
              </a:rPr>
              <a:t>20</a:t>
            </a:r>
            <a:r>
              <a:rPr lang="en-US" altLang="zh-CN" b="0" i="0" dirty="0">
                <a:solidFill>
                  <a:srgbClr val="36464E"/>
                </a:solidFill>
                <a:effectLst/>
                <a:latin typeface="_"/>
              </a:rPr>
              <a:t>;</a:t>
            </a:r>
          </a:p>
          <a:p>
            <a:r>
              <a:rPr lang="en-US" altLang="zh-CN" dirty="0">
                <a:solidFill>
                  <a:srgbClr val="36464E"/>
                </a:solidFill>
                <a:latin typeface="_"/>
              </a:rPr>
              <a:t>	</a:t>
            </a:r>
            <a:r>
              <a:rPr lang="en-US" altLang="zh-CN" b="0" i="0" dirty="0">
                <a:solidFill>
                  <a:srgbClr val="36464E"/>
                </a:solidFill>
                <a:effectLst/>
                <a:latin typeface="_"/>
              </a:rPr>
              <a:t> </a:t>
            </a:r>
            <a:r>
              <a:rPr lang="en-US" altLang="zh-CN" b="1" i="0" dirty="0">
                <a:solidFill>
                  <a:srgbClr val="000080"/>
                </a:solidFill>
                <a:effectLst/>
                <a:latin typeface="_"/>
              </a:rPr>
              <a:t>if</a:t>
            </a:r>
            <a:r>
              <a:rPr lang="en-US" altLang="zh-CN" b="0" i="0" dirty="0">
                <a:solidFill>
                  <a:srgbClr val="36464E"/>
                </a:solidFill>
                <a:effectLst/>
                <a:latin typeface="_"/>
              </a:rPr>
              <a:t>(a &lt; b) {</a:t>
            </a:r>
          </a:p>
          <a:p>
            <a:r>
              <a:rPr lang="en-US" altLang="zh-CN" dirty="0">
                <a:solidFill>
                  <a:srgbClr val="36464E"/>
                </a:solidFill>
                <a:latin typeface="_"/>
              </a:rPr>
              <a:t>		</a:t>
            </a:r>
            <a:r>
              <a:rPr lang="en-US" altLang="zh-CN" b="1" i="0" dirty="0">
                <a:solidFill>
                  <a:srgbClr val="000080"/>
                </a:solidFill>
                <a:effectLst/>
                <a:latin typeface="_"/>
              </a:rPr>
              <a:t>int</a:t>
            </a:r>
            <a:r>
              <a:rPr lang="en-US" altLang="zh-CN" b="0" i="0" dirty="0">
                <a:solidFill>
                  <a:srgbClr val="36464E"/>
                </a:solidFill>
                <a:effectLst/>
                <a:latin typeface="_"/>
              </a:rPr>
              <a:t> a = </a:t>
            </a:r>
            <a:r>
              <a:rPr lang="en-US" altLang="zh-CN" b="0" i="0" dirty="0">
                <a:solidFill>
                  <a:srgbClr val="0000FF"/>
                </a:solidFill>
                <a:effectLst/>
                <a:latin typeface="_"/>
              </a:rPr>
              <a:t>0</a:t>
            </a:r>
            <a:r>
              <a:rPr lang="en-US" altLang="zh-CN" b="0" i="0" dirty="0">
                <a:solidFill>
                  <a:srgbClr val="36464E"/>
                </a:solidFill>
                <a:effectLst/>
                <a:latin typeface="_"/>
              </a:rPr>
              <a:t>; </a:t>
            </a:r>
          </a:p>
          <a:p>
            <a:r>
              <a:rPr lang="en-US" altLang="zh-CN" dirty="0">
                <a:solidFill>
                  <a:srgbClr val="36464E"/>
                </a:solidFill>
                <a:latin typeface="_"/>
              </a:rPr>
              <a:t>		</a:t>
            </a:r>
            <a:r>
              <a:rPr lang="en-US" altLang="zh-CN" b="1" i="0" dirty="0">
                <a:solidFill>
                  <a:srgbClr val="000080"/>
                </a:solidFill>
                <a:effectLst/>
                <a:latin typeface="_"/>
              </a:rPr>
              <a:t>while</a:t>
            </a:r>
            <a:r>
              <a:rPr lang="en-US" altLang="zh-CN" b="0" i="0" dirty="0">
                <a:solidFill>
                  <a:srgbClr val="36464E"/>
                </a:solidFill>
                <a:effectLst/>
                <a:latin typeface="_"/>
              </a:rPr>
              <a:t> (a &lt; </a:t>
            </a:r>
            <a:r>
              <a:rPr lang="en-US" altLang="zh-CN" b="0" i="0" dirty="0">
                <a:solidFill>
                  <a:srgbClr val="0000FF"/>
                </a:solidFill>
                <a:effectLst/>
                <a:latin typeface="_"/>
              </a:rPr>
              <a:t>10</a:t>
            </a:r>
            <a:r>
              <a:rPr lang="en-US" altLang="zh-CN" b="0" i="0" dirty="0">
                <a:solidFill>
                  <a:srgbClr val="36464E"/>
                </a:solidFill>
                <a:effectLst/>
                <a:latin typeface="_"/>
              </a:rPr>
              <a:t>) { </a:t>
            </a:r>
            <a:endParaRPr lang="en-US" altLang="zh-CN" b="0" i="1" dirty="0">
              <a:effectLst/>
              <a:latin typeface="_"/>
            </a:endParaRPr>
          </a:p>
          <a:p>
            <a:r>
              <a:rPr lang="en-US" altLang="zh-CN" i="1" dirty="0">
                <a:solidFill>
                  <a:srgbClr val="36464E"/>
                </a:solidFill>
                <a:latin typeface="_"/>
              </a:rPr>
              <a:t>			</a:t>
            </a:r>
            <a:r>
              <a:rPr lang="en-US" altLang="zh-CN" b="0" i="0" dirty="0">
                <a:solidFill>
                  <a:srgbClr val="36464E"/>
                </a:solidFill>
                <a:effectLst/>
                <a:latin typeface="_"/>
              </a:rPr>
              <a:t>b = b + </a:t>
            </a:r>
            <a:r>
              <a:rPr lang="en-US" altLang="zh-CN" b="0" i="0" dirty="0">
                <a:solidFill>
                  <a:srgbClr val="0000FF"/>
                </a:solidFill>
                <a:effectLst/>
                <a:latin typeface="_"/>
              </a:rPr>
              <a:t>1</a:t>
            </a:r>
            <a:r>
              <a:rPr lang="en-US" altLang="zh-CN" b="0" i="0" dirty="0">
                <a:solidFill>
                  <a:srgbClr val="36464E"/>
                </a:solidFill>
                <a:effectLst/>
                <a:latin typeface="_"/>
              </a:rPr>
              <a:t>; </a:t>
            </a:r>
          </a:p>
          <a:p>
            <a:r>
              <a:rPr lang="en-US" altLang="zh-CN" dirty="0">
                <a:solidFill>
                  <a:srgbClr val="36464E"/>
                </a:solidFill>
                <a:latin typeface="_"/>
              </a:rPr>
              <a:t>			</a:t>
            </a:r>
            <a:r>
              <a:rPr lang="en-US" altLang="zh-CN" b="0" i="0" dirty="0">
                <a:solidFill>
                  <a:srgbClr val="36464E"/>
                </a:solidFill>
                <a:effectLst/>
                <a:latin typeface="_"/>
              </a:rPr>
              <a:t>a = a + </a:t>
            </a:r>
            <a:r>
              <a:rPr lang="en-US" altLang="zh-CN" b="0" i="0" dirty="0">
                <a:solidFill>
                  <a:srgbClr val="0000FF"/>
                </a:solidFill>
                <a:effectLst/>
                <a:latin typeface="_"/>
              </a:rPr>
              <a:t>1</a:t>
            </a:r>
            <a:r>
              <a:rPr lang="zh-CN" altLang="en-US" b="0" i="0" dirty="0">
                <a:solidFill>
                  <a:srgbClr val="0000FF"/>
                </a:solidFill>
                <a:effectLst/>
                <a:latin typeface="_"/>
              </a:rPr>
              <a:t>；</a:t>
            </a:r>
            <a:endParaRPr lang="en-US" altLang="zh-CN" b="0" i="0" dirty="0">
              <a:solidFill>
                <a:srgbClr val="0000FF"/>
              </a:solidFill>
              <a:effectLst/>
              <a:latin typeface="_"/>
            </a:endParaRPr>
          </a:p>
          <a:p>
            <a:r>
              <a:rPr lang="en-US" altLang="zh-CN" dirty="0">
                <a:solidFill>
                  <a:srgbClr val="0000FF"/>
                </a:solidFill>
                <a:latin typeface="_"/>
              </a:rPr>
              <a:t>	</a:t>
            </a:r>
            <a:r>
              <a:rPr lang="en-US" altLang="zh-CN" b="0" i="0" dirty="0">
                <a:solidFill>
                  <a:srgbClr val="36464E"/>
                </a:solidFill>
                <a:effectLst/>
                <a:latin typeface="_"/>
              </a:rPr>
              <a:t> 	} </a:t>
            </a:r>
            <a:endParaRPr lang="en-US" altLang="zh-CN" dirty="0">
              <a:solidFill>
                <a:srgbClr val="36464E"/>
              </a:solidFill>
              <a:latin typeface="_"/>
            </a:endParaRPr>
          </a:p>
          <a:p>
            <a:r>
              <a:rPr lang="en-US" altLang="zh-CN" b="0" i="0" dirty="0">
                <a:solidFill>
                  <a:srgbClr val="36464E"/>
                </a:solidFill>
                <a:effectLst/>
                <a:latin typeface="_"/>
              </a:rPr>
              <a:t>	}</a:t>
            </a:r>
          </a:p>
          <a:p>
            <a:r>
              <a:rPr lang="en-US" altLang="zh-CN" dirty="0">
                <a:solidFill>
                  <a:srgbClr val="36464E"/>
                </a:solidFill>
                <a:latin typeface="_"/>
              </a:rPr>
              <a:t>	</a:t>
            </a:r>
            <a:r>
              <a:rPr lang="en-US" altLang="zh-CN" b="0" i="0" dirty="0" err="1">
                <a:solidFill>
                  <a:srgbClr val="36464E"/>
                </a:solidFill>
                <a:effectLst/>
                <a:latin typeface="_"/>
              </a:rPr>
              <a:t>printf</a:t>
            </a:r>
            <a:r>
              <a:rPr lang="en-US" altLang="zh-CN" b="0" i="0" dirty="0">
                <a:solidFill>
                  <a:srgbClr val="36464E"/>
                </a:solidFill>
                <a:effectLst/>
                <a:latin typeface="_"/>
              </a:rPr>
              <a:t>(</a:t>
            </a:r>
            <a:r>
              <a:rPr lang="en-US" altLang="zh-CN" b="1" i="0" dirty="0">
                <a:solidFill>
                  <a:srgbClr val="008000"/>
                </a:solidFill>
                <a:effectLst/>
                <a:latin typeface="_"/>
              </a:rPr>
              <a:t>"%</a:t>
            </a:r>
            <a:r>
              <a:rPr lang="en-US" altLang="zh-CN" b="1" i="0" dirty="0" err="1">
                <a:solidFill>
                  <a:srgbClr val="008000"/>
                </a:solidFill>
                <a:effectLst/>
                <a:latin typeface="_"/>
              </a:rPr>
              <a:t>d"</a:t>
            </a:r>
            <a:r>
              <a:rPr lang="en-US" altLang="zh-CN" b="0" i="0" dirty="0" err="1">
                <a:solidFill>
                  <a:srgbClr val="36464E"/>
                </a:solidFill>
                <a:effectLst/>
                <a:latin typeface="_"/>
              </a:rPr>
              <a:t>,b</a:t>
            </a:r>
            <a:r>
              <a:rPr lang="en-US" altLang="zh-CN" b="0" i="0" dirty="0">
                <a:solidFill>
                  <a:srgbClr val="36464E"/>
                </a:solidFill>
                <a:effectLst/>
                <a:latin typeface="_"/>
              </a:rPr>
              <a:t>);</a:t>
            </a:r>
          </a:p>
          <a:p>
            <a:r>
              <a:rPr lang="en-US" altLang="zh-CN" dirty="0">
                <a:solidFill>
                  <a:srgbClr val="36464E"/>
                </a:solidFill>
                <a:latin typeface="_"/>
              </a:rPr>
              <a:t>	</a:t>
            </a:r>
            <a:r>
              <a:rPr lang="en-US" altLang="zh-CN" b="1" i="0" dirty="0">
                <a:solidFill>
                  <a:srgbClr val="000080"/>
                </a:solidFill>
                <a:effectLst/>
                <a:latin typeface="_"/>
              </a:rPr>
              <a:t>return</a:t>
            </a:r>
            <a:r>
              <a:rPr lang="en-US" altLang="zh-CN" b="0" i="0" dirty="0">
                <a:solidFill>
                  <a:srgbClr val="36464E"/>
                </a:solidFill>
                <a:effectLst/>
                <a:latin typeface="_"/>
              </a:rPr>
              <a:t> </a:t>
            </a:r>
            <a:r>
              <a:rPr lang="en-US" altLang="zh-CN" b="0" i="0" dirty="0">
                <a:solidFill>
                  <a:srgbClr val="0000FF"/>
                </a:solidFill>
                <a:effectLst/>
                <a:latin typeface="_"/>
              </a:rPr>
              <a:t>0</a:t>
            </a:r>
            <a:r>
              <a:rPr lang="en-US" altLang="zh-CN" b="0" i="0" dirty="0">
                <a:solidFill>
                  <a:srgbClr val="36464E"/>
                </a:solidFill>
                <a:effectLst/>
                <a:latin typeface="_"/>
              </a:rPr>
              <a:t>; </a:t>
            </a:r>
          </a:p>
          <a:p>
            <a:r>
              <a:rPr lang="en-US" altLang="zh-CN" b="0" i="0" dirty="0">
                <a:solidFill>
                  <a:srgbClr val="36464E"/>
                </a:solidFill>
                <a:effectLst/>
                <a:latin typeface="_"/>
              </a:rPr>
              <a:t>}</a:t>
            </a:r>
            <a:endParaRPr lang="zh-CN" altLang="en-US" dirty="0"/>
          </a:p>
        </p:txBody>
      </p:sp>
      <p:pic>
        <p:nvPicPr>
          <p:cNvPr id="8" name="图片 7">
            <a:extLst>
              <a:ext uri="{FF2B5EF4-FFF2-40B4-BE49-F238E27FC236}">
                <a16:creationId xmlns:a16="http://schemas.microsoft.com/office/drawing/2014/main" id="{DB473C1E-4D3E-57B9-429A-738E1CDE300E}"/>
              </a:ext>
            </a:extLst>
          </p:cNvPr>
          <p:cNvPicPr>
            <a:picLocks noChangeAspect="1"/>
          </p:cNvPicPr>
          <p:nvPr/>
        </p:nvPicPr>
        <p:blipFill>
          <a:blip r:embed="rId4"/>
          <a:stretch>
            <a:fillRect/>
          </a:stretch>
        </p:blipFill>
        <p:spPr>
          <a:xfrm>
            <a:off x="8935996" y="1735294"/>
            <a:ext cx="2766300" cy="3711262"/>
          </a:xfrm>
          <a:prstGeom prst="rect">
            <a:avLst/>
          </a:prstGeom>
        </p:spPr>
      </p:pic>
      <p:cxnSp>
        <p:nvCxnSpPr>
          <p:cNvPr id="10" name="直接箭头连接符 9">
            <a:extLst>
              <a:ext uri="{FF2B5EF4-FFF2-40B4-BE49-F238E27FC236}">
                <a16:creationId xmlns:a16="http://schemas.microsoft.com/office/drawing/2014/main" id="{4C3CECCD-8174-FEB7-24B6-A5A66478591D}"/>
              </a:ext>
            </a:extLst>
          </p:cNvPr>
          <p:cNvCxnSpPr/>
          <p:nvPr/>
        </p:nvCxnSpPr>
        <p:spPr>
          <a:xfrm flipH="1">
            <a:off x="4410075" y="3457177"/>
            <a:ext cx="94297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0D62454B-E328-CFEC-04BB-49827B7A0332}"/>
              </a:ext>
            </a:extLst>
          </p:cNvPr>
          <p:cNvCxnSpPr/>
          <p:nvPr/>
        </p:nvCxnSpPr>
        <p:spPr>
          <a:xfrm flipH="1">
            <a:off x="4410075" y="3752452"/>
            <a:ext cx="94297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F68D77B-91CA-B486-CE8F-68AD5494A82E}"/>
              </a:ext>
            </a:extLst>
          </p:cNvPr>
          <p:cNvSpPr/>
          <p:nvPr/>
        </p:nvSpPr>
        <p:spPr>
          <a:xfrm>
            <a:off x="9401216" y="1735294"/>
            <a:ext cx="1409700" cy="13412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79F5B03-74B9-6D86-2190-39C677A5EC3F}"/>
              </a:ext>
            </a:extLst>
          </p:cNvPr>
          <p:cNvSpPr txBox="1"/>
          <p:nvPr/>
        </p:nvSpPr>
        <p:spPr>
          <a:xfrm>
            <a:off x="9622600" y="1375088"/>
            <a:ext cx="966931" cy="369332"/>
          </a:xfrm>
          <a:prstGeom prst="rect">
            <a:avLst/>
          </a:prstGeom>
          <a:noFill/>
        </p:spPr>
        <p:txBody>
          <a:bodyPr wrap="none" rtlCol="0">
            <a:spAutoFit/>
          </a:bodyPr>
          <a:lstStyle/>
          <a:p>
            <a:r>
              <a:rPr lang="zh-CN" altLang="en-US" dirty="0">
                <a:solidFill>
                  <a:srgbClr val="FF0000"/>
                </a:solidFill>
              </a:rPr>
              <a:t>当前</a:t>
            </a:r>
            <a:r>
              <a:rPr lang="en-US" altLang="zh-CN" dirty="0">
                <a:solidFill>
                  <a:srgbClr val="FF0000"/>
                </a:solidFill>
              </a:rPr>
              <a:t>AR</a:t>
            </a:r>
            <a:endParaRPr lang="zh-CN" altLang="en-US" dirty="0">
              <a:solidFill>
                <a:srgbClr val="FF0000"/>
              </a:solidFill>
            </a:endParaRPr>
          </a:p>
        </p:txBody>
      </p:sp>
      <p:sp>
        <p:nvSpPr>
          <p:cNvPr id="17" name="文本框 16">
            <a:extLst>
              <a:ext uri="{FF2B5EF4-FFF2-40B4-BE49-F238E27FC236}">
                <a16:creationId xmlns:a16="http://schemas.microsoft.com/office/drawing/2014/main" id="{7C8D8521-5A7F-5BCC-A468-007E42F1202C}"/>
              </a:ext>
            </a:extLst>
          </p:cNvPr>
          <p:cNvSpPr txBox="1"/>
          <p:nvPr/>
        </p:nvSpPr>
        <p:spPr>
          <a:xfrm>
            <a:off x="5661859" y="2004780"/>
            <a:ext cx="3152776" cy="2951449"/>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访问变量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：沿着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查找，第一个定义点在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AR1</a:t>
            </a:r>
          </a:p>
          <a:p>
            <a:pPr>
              <a:lnSpc>
                <a:spcPct val="150000"/>
              </a:lnSpc>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Level=2,</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=5</a:t>
            </a:r>
          </a:p>
          <a:p>
            <a:pPr>
              <a:lnSpc>
                <a:spcPct val="150000"/>
              </a:lnSpc>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访问变量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：沿着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查找，第一个定义点在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AR2</a:t>
            </a:r>
          </a:p>
          <a:p>
            <a:pPr>
              <a:lnSpc>
                <a:spcPct val="150000"/>
              </a:lnSpc>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Level=1</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=4</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矩形 17">
            <a:extLst>
              <a:ext uri="{FF2B5EF4-FFF2-40B4-BE49-F238E27FC236}">
                <a16:creationId xmlns:a16="http://schemas.microsoft.com/office/drawing/2014/main" id="{BD4DD417-2C08-F6AA-C9B0-A0FB378C71B6}"/>
              </a:ext>
            </a:extLst>
          </p:cNvPr>
          <p:cNvSpPr/>
          <p:nvPr/>
        </p:nvSpPr>
        <p:spPr>
          <a:xfrm>
            <a:off x="2499038" y="2809863"/>
            <a:ext cx="1409700" cy="2377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B7C09393-9115-AD81-63D9-1CBF972C3276}"/>
              </a:ext>
            </a:extLst>
          </p:cNvPr>
          <p:cNvSpPr/>
          <p:nvPr/>
        </p:nvSpPr>
        <p:spPr>
          <a:xfrm>
            <a:off x="2587595" y="2237887"/>
            <a:ext cx="860455" cy="2377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B5B7B1C-F823-5D7B-DAE7-F042B007D689}"/>
              </a:ext>
            </a:extLst>
          </p:cNvPr>
          <p:cNvSpPr txBox="1"/>
          <p:nvPr/>
        </p:nvSpPr>
        <p:spPr>
          <a:xfrm>
            <a:off x="2933678" y="5223274"/>
            <a:ext cx="6598873" cy="1289456"/>
          </a:xfrm>
          <a:prstGeom prst="rect">
            <a:avLst/>
          </a:prstGeom>
          <a:noFill/>
        </p:spPr>
        <p:txBody>
          <a:bodyPr wrap="square" rtlCol="0">
            <a:spAutoFit/>
          </a:bodyPr>
          <a:lstStyle/>
          <a:p>
            <a:pPr algn="ctr">
              <a:lnSpc>
                <a:spcPct val="150000"/>
              </a:lnSpc>
            </a:pP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怎么确定？通过符号表确定。</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50000"/>
              </a:lnSpc>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Level</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可以通过符号表的</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pre</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指针向外层符号表回溯得出</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50000"/>
              </a:lnSpc>
            </a:pP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Addr</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可以通过目标符号表中的已定义变量个数和大小来确定</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 name="组合 1">
            <a:extLst>
              <a:ext uri="{FF2B5EF4-FFF2-40B4-BE49-F238E27FC236}">
                <a16:creationId xmlns:a16="http://schemas.microsoft.com/office/drawing/2014/main" id="{AF193AE8-8744-0EB6-A233-53BA82C47C9E}"/>
              </a:ext>
            </a:extLst>
          </p:cNvPr>
          <p:cNvGrpSpPr/>
          <p:nvPr/>
        </p:nvGrpSpPr>
        <p:grpSpPr>
          <a:xfrm>
            <a:off x="1634" y="188687"/>
            <a:ext cx="187052" cy="592364"/>
            <a:chOff x="11571416" y="3959358"/>
            <a:chExt cx="620584" cy="1723139"/>
          </a:xfrm>
        </p:grpSpPr>
        <p:sp>
          <p:nvSpPr>
            <p:cNvPr id="3" name="矩形 2">
              <a:extLst>
                <a:ext uri="{FF2B5EF4-FFF2-40B4-BE49-F238E27FC236}">
                  <a16:creationId xmlns:a16="http://schemas.microsoft.com/office/drawing/2014/main" id="{E3C33F30-944F-DCF9-A3D1-2025172AF805}"/>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84EF4F0-5E38-F1AE-F8C1-8CBB24CECF7E}"/>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140767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D6B0E-397A-1D37-7041-81EFEEB29CFD}"/>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E09F98C-661F-A2AC-29AE-7E8C9E734BC4}"/>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973D18F6-D84E-E127-82B8-93EA09B024D5}"/>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A56D1CC-CB8C-81D2-1972-BB9226D4CBFA}"/>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A3EF75C0-AACA-3E76-D5BD-208600ED363D}"/>
              </a:ext>
            </a:extLst>
          </p:cNvPr>
          <p:cNvSpPr txBox="1"/>
          <p:nvPr/>
        </p:nvSpPr>
        <p:spPr>
          <a:xfrm>
            <a:off x="405891" y="130901"/>
            <a:ext cx="4684889"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设计</a:t>
            </a:r>
          </a:p>
        </p:txBody>
      </p:sp>
      <p:sp>
        <p:nvSpPr>
          <p:cNvPr id="2" name="矩形 1">
            <a:extLst>
              <a:ext uri="{FF2B5EF4-FFF2-40B4-BE49-F238E27FC236}">
                <a16:creationId xmlns:a16="http://schemas.microsoft.com/office/drawing/2014/main" id="{47AE28C6-62E2-CAAB-E633-3B20A7522D83}"/>
              </a:ext>
            </a:extLst>
          </p:cNvPr>
          <p:cNvSpPr/>
          <p:nvPr/>
        </p:nvSpPr>
        <p:spPr>
          <a:xfrm>
            <a:off x="1045282" y="896596"/>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作为中间代码的优势与劣势分别有哪些</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11" name="表格 10">
            <a:extLst>
              <a:ext uri="{FF2B5EF4-FFF2-40B4-BE49-F238E27FC236}">
                <a16:creationId xmlns:a16="http://schemas.microsoft.com/office/drawing/2014/main" id="{ACCF7071-BEE1-F710-FD85-6924D41590E2}"/>
              </a:ext>
            </a:extLst>
          </p:cNvPr>
          <p:cNvGraphicFramePr>
            <a:graphicFrameLocks noGrp="1"/>
          </p:cNvGraphicFramePr>
          <p:nvPr>
            <p:extLst>
              <p:ext uri="{D42A27DB-BD31-4B8C-83A1-F6EECF244321}">
                <p14:modId xmlns:p14="http://schemas.microsoft.com/office/powerpoint/2010/main" val="1851504703"/>
              </p:ext>
            </p:extLst>
          </p:nvPr>
        </p:nvGraphicFramePr>
        <p:xfrm>
          <a:off x="1116683" y="1689356"/>
          <a:ext cx="9045372" cy="2535309"/>
        </p:xfrm>
        <a:graphic>
          <a:graphicData uri="http://schemas.openxmlformats.org/drawingml/2006/table">
            <a:tbl>
              <a:tblPr firstRow="1" bandRow="1">
                <a:tableStyleId>{5C22544A-7EE6-4342-B048-85BDC9FD1C3A}</a:tableStyleId>
              </a:tblPr>
              <a:tblGrid>
                <a:gridCol w="2261343">
                  <a:extLst>
                    <a:ext uri="{9D8B030D-6E8A-4147-A177-3AD203B41FA5}">
                      <a16:colId xmlns:a16="http://schemas.microsoft.com/office/drawing/2014/main" val="2083022612"/>
                    </a:ext>
                  </a:extLst>
                </a:gridCol>
                <a:gridCol w="2261343">
                  <a:extLst>
                    <a:ext uri="{9D8B030D-6E8A-4147-A177-3AD203B41FA5}">
                      <a16:colId xmlns:a16="http://schemas.microsoft.com/office/drawing/2014/main" val="2187318696"/>
                    </a:ext>
                  </a:extLst>
                </a:gridCol>
                <a:gridCol w="2261343">
                  <a:extLst>
                    <a:ext uri="{9D8B030D-6E8A-4147-A177-3AD203B41FA5}">
                      <a16:colId xmlns:a16="http://schemas.microsoft.com/office/drawing/2014/main" val="3463875995"/>
                    </a:ext>
                  </a:extLst>
                </a:gridCol>
                <a:gridCol w="2261343">
                  <a:extLst>
                    <a:ext uri="{9D8B030D-6E8A-4147-A177-3AD203B41FA5}">
                      <a16:colId xmlns:a16="http://schemas.microsoft.com/office/drawing/2014/main" val="1781851791"/>
                    </a:ext>
                  </a:extLst>
                </a:gridCol>
              </a:tblGrid>
              <a:tr h="523629">
                <a:tc>
                  <a:txBody>
                    <a:bodyPr/>
                    <a:lstStyle/>
                    <a:p>
                      <a:pPr algn="ctr"/>
                      <a:r>
                        <a:rPr lang="zh-CN" altLang="en-US" dirty="0"/>
                        <a:t>中间代码语言</a:t>
                      </a:r>
                    </a:p>
                  </a:txBody>
                  <a:tcPr/>
                </a:tc>
                <a:tc>
                  <a:txBody>
                    <a:bodyPr/>
                    <a:lstStyle/>
                    <a:p>
                      <a:pPr algn="ctr"/>
                      <a:r>
                        <a:rPr lang="zh-CN" altLang="en-US" dirty="0"/>
                        <a:t>中间代码实现难度</a:t>
                      </a:r>
                    </a:p>
                  </a:txBody>
                  <a:tcPr/>
                </a:tc>
                <a:tc>
                  <a:txBody>
                    <a:bodyPr/>
                    <a:lstStyle/>
                    <a:p>
                      <a:pPr algn="ctr"/>
                      <a:r>
                        <a:rPr lang="en-US" altLang="zh-CN" dirty="0"/>
                        <a:t> mips</a:t>
                      </a:r>
                      <a:r>
                        <a:rPr lang="zh-CN" altLang="en-US" dirty="0"/>
                        <a:t>转写难度</a:t>
                      </a:r>
                    </a:p>
                  </a:txBody>
                  <a:tcPr/>
                </a:tc>
                <a:tc>
                  <a:txBody>
                    <a:bodyPr/>
                    <a:lstStyle/>
                    <a:p>
                      <a:pPr algn="ctr"/>
                      <a:r>
                        <a:rPr lang="zh-CN" altLang="en-US" dirty="0"/>
                        <a:t>代码优化难度</a:t>
                      </a:r>
                    </a:p>
                  </a:txBody>
                  <a:tcPr/>
                </a:tc>
                <a:extLst>
                  <a:ext uri="{0D108BD9-81ED-4DB2-BD59-A6C34878D82A}">
                    <a16:rowId xmlns:a16="http://schemas.microsoft.com/office/drawing/2014/main" val="3373048676"/>
                  </a:ext>
                </a:extLst>
              </a:tr>
              <a:tr h="523629">
                <a:tc>
                  <a:txBody>
                    <a:bodyPr/>
                    <a:lstStyle/>
                    <a:p>
                      <a:pPr algn="ctr"/>
                      <a:endParaRPr lang="en-US" altLang="zh-CN" b="1" dirty="0">
                        <a:latin typeface="楷体" panose="02010609060101010101" pitchFamily="49" charset="-122"/>
                        <a:ea typeface="楷体" panose="02010609060101010101" pitchFamily="49" charset="-122"/>
                      </a:endParaRPr>
                    </a:p>
                    <a:p>
                      <a:pPr algn="ctr"/>
                      <a:endParaRPr lang="en-US" altLang="zh-CN" b="1" dirty="0">
                        <a:latin typeface="楷体" panose="02010609060101010101" pitchFamily="49" charset="-122"/>
                        <a:ea typeface="楷体" panose="02010609060101010101" pitchFamily="49" charset="-122"/>
                      </a:endParaRPr>
                    </a:p>
                    <a:p>
                      <a:pPr algn="ctr"/>
                      <a:endParaRPr lang="en-US" altLang="zh-CN" b="1" dirty="0">
                        <a:latin typeface="楷体" panose="02010609060101010101" pitchFamily="49" charset="-122"/>
                        <a:ea typeface="楷体" panose="02010609060101010101" pitchFamily="49" charset="-122"/>
                      </a:endParaRPr>
                    </a:p>
                    <a:p>
                      <a:pPr algn="ctr"/>
                      <a:r>
                        <a:rPr lang="en-US" altLang="zh-CN" b="1" dirty="0">
                          <a:latin typeface="楷体" panose="02010609060101010101" pitchFamily="49" charset="-122"/>
                          <a:ea typeface="楷体" panose="02010609060101010101" pitchFamily="49" charset="-122"/>
                        </a:rPr>
                        <a:t>PCode</a:t>
                      </a:r>
                      <a:endParaRPr lang="zh-CN" altLang="en-US" b="1" dirty="0">
                        <a:latin typeface="楷体" panose="02010609060101010101" pitchFamily="49" charset="-122"/>
                        <a:ea typeface="楷体" panose="02010609060101010101" pitchFamily="49" charset="-122"/>
                      </a:endParaRPr>
                    </a:p>
                  </a:txBody>
                  <a:tcPr/>
                </a:tc>
                <a:tc>
                  <a:txBody>
                    <a:bodyPr/>
                    <a:lstStyle/>
                    <a:p>
                      <a:pPr algn="ct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中间代码与理论教程内容贴近，中间代码易于理解，无论是指令生成还是解释器实现都比较容易，并且自由度很高</a:t>
                      </a:r>
                    </a:p>
                  </a:txBody>
                  <a:tcPr/>
                </a:tc>
                <a:tc>
                  <a:txBody>
                    <a:bodyPr/>
                    <a:lstStyle/>
                    <a:p>
                      <a:pPr algn="ct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作为三元式</a:t>
                      </a:r>
                      <a:r>
                        <a:rPr lang="en-US" altLang="zh-CN" b="1" dirty="0">
                          <a:latin typeface="楷体" panose="02010609060101010101" pitchFamily="49" charset="-122"/>
                          <a:ea typeface="楷体" panose="02010609060101010101" pitchFamily="49" charset="-122"/>
                        </a:rPr>
                        <a:t>,PCode</a:t>
                      </a:r>
                      <a:r>
                        <a:rPr lang="zh-CN" altLang="en-US" b="1" dirty="0">
                          <a:latin typeface="楷体" panose="02010609060101010101" pitchFamily="49" charset="-122"/>
                          <a:ea typeface="楷体" panose="02010609060101010101" pitchFamily="49" charset="-122"/>
                        </a:rPr>
                        <a:t>并没有在指令中指明变量，由栈式虚拟机转为寄存器分配的过程有很大难度</a:t>
                      </a:r>
                    </a:p>
                  </a:txBody>
                  <a:tcPr/>
                </a:tc>
                <a:tc>
                  <a:txBody>
                    <a:bodyPr/>
                    <a:lstStyle/>
                    <a:p>
                      <a:pPr algn="ctr"/>
                      <a:r>
                        <a:rPr lang="zh-CN" altLang="en-US" b="1" dirty="0">
                          <a:latin typeface="楷体" panose="02010609060101010101" pitchFamily="49" charset="-122"/>
                          <a:ea typeface="楷体" panose="02010609060101010101" pitchFamily="49" charset="-122"/>
                        </a:rPr>
                        <a:t>栈式虚拟机难以获取运算的变量与结果信息，到达定义、活跃变量与</a:t>
                      </a:r>
                      <a:r>
                        <a:rPr lang="en-US" altLang="zh-CN" b="1" dirty="0">
                          <a:latin typeface="楷体" panose="02010609060101010101" pitchFamily="49" charset="-122"/>
                          <a:ea typeface="楷体" panose="02010609060101010101" pitchFamily="49" charset="-122"/>
                        </a:rPr>
                        <a:t>Def-Use</a:t>
                      </a:r>
                      <a:r>
                        <a:rPr lang="zh-CN" altLang="en-US" b="1" dirty="0">
                          <a:latin typeface="楷体" panose="02010609060101010101" pitchFamily="49" charset="-122"/>
                          <a:ea typeface="楷体" panose="02010609060101010101" pitchFamily="49" charset="-122"/>
                        </a:rPr>
                        <a:t>链的分析十分困难，大部分中端与后端优化可能无法进行</a:t>
                      </a:r>
                    </a:p>
                  </a:txBody>
                  <a:tcPr/>
                </a:tc>
                <a:extLst>
                  <a:ext uri="{0D108BD9-81ED-4DB2-BD59-A6C34878D82A}">
                    <a16:rowId xmlns:a16="http://schemas.microsoft.com/office/drawing/2014/main" val="2596947253"/>
                  </a:ext>
                </a:extLst>
              </a:tr>
            </a:tbl>
          </a:graphicData>
        </a:graphic>
      </p:graphicFrame>
      <p:sp>
        <p:nvSpPr>
          <p:cNvPr id="12" name="矩形 11">
            <a:extLst>
              <a:ext uri="{FF2B5EF4-FFF2-40B4-BE49-F238E27FC236}">
                <a16:creationId xmlns:a16="http://schemas.microsoft.com/office/drawing/2014/main" id="{55FA8627-D9A1-3451-CD92-C7074A69023A}"/>
              </a:ext>
            </a:extLst>
          </p:cNvPr>
          <p:cNvSpPr/>
          <p:nvPr/>
        </p:nvSpPr>
        <p:spPr>
          <a:xfrm>
            <a:off x="1045281" y="4560546"/>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、什么样的情况下更适合选择</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p>
        </p:txBody>
      </p:sp>
      <p:sp>
        <p:nvSpPr>
          <p:cNvPr id="13" name="矩形 12">
            <a:extLst>
              <a:ext uri="{FF2B5EF4-FFF2-40B4-BE49-F238E27FC236}">
                <a16:creationId xmlns:a16="http://schemas.microsoft.com/office/drawing/2014/main" id="{3B607EB5-D865-4EE9-5A92-0B18251F17C4}"/>
              </a:ext>
            </a:extLst>
          </p:cNvPr>
          <p:cNvSpPr/>
          <p:nvPr/>
        </p:nvSpPr>
        <p:spPr>
          <a:xfrm>
            <a:off x="1045281" y="5136790"/>
            <a:ext cx="9635419" cy="1421988"/>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当即不想将中间代码转为</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mips</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也不想参与之后的竞速排序时，选择</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作为中间代码表示是最容易理解也是代码实现最容易的中间代码语言。简单来说：</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是不追求编译技术拿高分的最佳中间代码表示选择！</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TextBox 8">
            <a:extLst>
              <a:ext uri="{FF2B5EF4-FFF2-40B4-BE49-F238E27FC236}">
                <a16:creationId xmlns:a16="http://schemas.microsoft.com/office/drawing/2014/main" id="{DEE494DF-02AD-F5EA-6BCB-CEB1B0BEFD52}"/>
              </a:ext>
            </a:extLst>
          </p:cNvPr>
          <p:cNvSpPr txBox="1">
            <a:spLocks noChangeArrowheads="1"/>
          </p:cNvSpPr>
          <p:nvPr/>
        </p:nvSpPr>
        <p:spPr bwMode="auto">
          <a:xfrm>
            <a:off x="6241929" y="6103056"/>
            <a:ext cx="4172071" cy="400110"/>
          </a:xfrm>
          <a:prstGeom prst="rect">
            <a:avLst/>
          </a:prstGeom>
          <a:solidFill>
            <a:srgbClr val="CF0101"/>
          </a:solidFill>
          <a:ln>
            <a:noFill/>
          </a:ln>
        </p:spPr>
        <p:txBody>
          <a:bodyPr wrap="squar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ctr"/>
            <a:r>
              <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但真有人这时候不想参与竞速吗</a:t>
            </a:r>
          </a:p>
        </p:txBody>
      </p:sp>
    </p:spTree>
    <p:extLst>
      <p:ext uri="{BB962C8B-B14F-4D97-AF65-F5344CB8AC3E}">
        <p14:creationId xmlns:p14="http://schemas.microsoft.com/office/powerpoint/2010/main" val="2071429945"/>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p:tgtEl>
                                          <p:spTgt spid="12"/>
                                        </p:tgtEl>
                                        <p:attrNameLst>
                                          <p:attrName>ppt_y</p:attrName>
                                        </p:attrNameLst>
                                      </p:cBhvr>
                                      <p:tavLst>
                                        <p:tav tm="0">
                                          <p:val>
                                            <p:strVal val="#ppt_y+#ppt_h*1.125000"/>
                                          </p:val>
                                        </p:tav>
                                        <p:tav tm="100000">
                                          <p:val>
                                            <p:strVal val="#ppt_y"/>
                                          </p:val>
                                        </p:tav>
                                      </p:tavLst>
                                    </p:anim>
                                    <p:animEffect transition="in" filter="wipe(up)">
                                      <p:cBhvr>
                                        <p:cTn id="23" dur="500"/>
                                        <p:tgtEl>
                                          <p:spTgt spid="12"/>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p:tgtEl>
                                          <p:spTgt spid="13"/>
                                        </p:tgtEl>
                                        <p:attrNameLst>
                                          <p:attrName>ppt_y</p:attrName>
                                        </p:attrNameLst>
                                      </p:cBhvr>
                                      <p:tavLst>
                                        <p:tav tm="0">
                                          <p:val>
                                            <p:strVal val="#ppt_y+#ppt_h*1.125000"/>
                                          </p:val>
                                        </p:tav>
                                        <p:tav tm="100000">
                                          <p:val>
                                            <p:strVal val="#ppt_y"/>
                                          </p:val>
                                        </p:tav>
                                      </p:tavLst>
                                    </p:anim>
                                    <p:animEffect transition="in" filter="wipe(up)">
                                      <p:cBhvr>
                                        <p:cTn id="27" dur="500"/>
                                        <p:tgtEl>
                                          <p:spTgt spid="13"/>
                                        </p:tgtEl>
                                      </p:cBhvr>
                                    </p:animEffect>
                                  </p:childTnLst>
                                </p:cTn>
                              </p:par>
                            </p:childTnLst>
                          </p:cTn>
                        </p:par>
                        <p:par>
                          <p:cTn id="28" fill="hold">
                            <p:stCondLst>
                              <p:cond delay="800"/>
                            </p:stCondLst>
                            <p:childTnLst>
                              <p:par>
                                <p:cTn id="29" presetID="12" presetClass="entr" presetSubtype="1"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p:tgtEl>
                                          <p:spTgt spid="14"/>
                                        </p:tgtEl>
                                        <p:attrNameLst>
                                          <p:attrName>ppt_y</p:attrName>
                                        </p:attrNameLst>
                                      </p:cBhvr>
                                      <p:tavLst>
                                        <p:tav tm="0">
                                          <p:val>
                                            <p:strVal val="#ppt_y-#ppt_h*1.125000"/>
                                          </p:val>
                                        </p:tav>
                                        <p:tav tm="100000">
                                          <p:val>
                                            <p:strVal val="#ppt_y"/>
                                          </p:val>
                                        </p:tav>
                                      </p:tavLst>
                                    </p:anim>
                                    <p:animEffect transition="in" filter="wipe(down)">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12" grpId="0"/>
      <p:bldP spid="13" grpId="0"/>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5453C-23B2-17E6-94FA-0DABBB3A98DC}"/>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B08008F6-1BA1-983C-C39D-7AC5C69297EC}"/>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DB924B0E-95F0-7798-D71F-CC3DF8196240}"/>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1554E12-3973-3FFC-E791-05C3BA998FA4}"/>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7B7FBA45-8ED5-E3CD-F9F4-56A05AFD484E}"/>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设计</a:t>
            </a:r>
          </a:p>
        </p:txBody>
      </p:sp>
      <p:sp>
        <p:nvSpPr>
          <p:cNvPr id="26" name="矩形 25">
            <a:extLst>
              <a:ext uri="{FF2B5EF4-FFF2-40B4-BE49-F238E27FC236}">
                <a16:creationId xmlns:a16="http://schemas.microsoft.com/office/drawing/2014/main" id="{383A3AE2-1230-CB84-8BC6-9E0126815365}"/>
              </a:ext>
            </a:extLst>
          </p:cNvPr>
          <p:cNvSpPr/>
          <p:nvPr/>
        </p:nvSpPr>
        <p:spPr>
          <a:xfrm>
            <a:off x="440267" y="952331"/>
            <a:ext cx="8923739" cy="495581"/>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在进行</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的指令生成前，我们需要思考以下几个问题：</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A0453514-939D-4FEC-59FE-A9FD8C2DE919}"/>
              </a:ext>
            </a:extLst>
          </p:cNvPr>
          <p:cNvSpPr/>
          <p:nvPr/>
        </p:nvSpPr>
        <p:spPr>
          <a:xfrm>
            <a:off x="440265" y="1539021"/>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、我们的指令需要生成</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存放</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在哪里</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3" name="矩形 2">
            <a:extLst>
              <a:ext uri="{FF2B5EF4-FFF2-40B4-BE49-F238E27FC236}">
                <a16:creationId xmlns:a16="http://schemas.microsoft.com/office/drawing/2014/main" id="{87567769-2BAB-74D4-B2A0-6285B98C034D}"/>
              </a:ext>
            </a:extLst>
          </p:cNvPr>
          <p:cNvSpPr/>
          <p:nvPr/>
        </p:nvSpPr>
        <p:spPr>
          <a:xfrm>
            <a:off x="440264" y="2453655"/>
            <a:ext cx="11639439" cy="957246"/>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在编译时，我们无法确定函数调用的次数，因此运行时实际执行的指令我们时无法在编译时确定的，我们需要将指令存放在“函数”中，当然也可以让指令与活动记录</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一同记录。</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B88BDBF4-2334-8F4E-C024-031026CECA5F}"/>
              </a:ext>
            </a:extLst>
          </p:cNvPr>
          <p:cNvSpPr/>
          <p:nvPr/>
        </p:nvSpPr>
        <p:spPr>
          <a:xfrm>
            <a:off x="440264" y="3925722"/>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、我们生成指令的目标是什么，我们需要维护哪些信息</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9" name="矩形 8">
            <a:extLst>
              <a:ext uri="{FF2B5EF4-FFF2-40B4-BE49-F238E27FC236}">
                <a16:creationId xmlns:a16="http://schemas.microsoft.com/office/drawing/2014/main" id="{5747BBFA-5CC4-828D-391D-1A22325BEAB1}"/>
              </a:ext>
            </a:extLst>
          </p:cNvPr>
          <p:cNvSpPr/>
          <p:nvPr/>
        </p:nvSpPr>
        <p:spPr>
          <a:xfrm>
            <a:off x="440266" y="4742736"/>
            <a:ext cx="11639439" cy="1418911"/>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可以说，我们生成指令的目标是为了之后正确进行程序解释执行。</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在指令生成的时候我们需要同时考虑内存与栈上发生的变化，维护</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之间的层次</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编译</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与调用</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解释执行</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信息。</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75088386"/>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p:tgtEl>
                                          <p:spTgt spid="26"/>
                                        </p:tgtEl>
                                        <p:attrNameLst>
                                          <p:attrName>ppt_y</p:attrName>
                                        </p:attrNameLst>
                                      </p:cBhvr>
                                      <p:tavLst>
                                        <p:tav tm="0">
                                          <p:val>
                                            <p:strVal val="#ppt_y+#ppt_h*1.125000"/>
                                          </p:val>
                                        </p:tav>
                                        <p:tav tm="100000">
                                          <p:val>
                                            <p:strVal val="#ppt_y"/>
                                          </p:val>
                                        </p:tav>
                                      </p:tavLst>
                                    </p:anim>
                                    <p:animEffect transition="in" filter="wipe(up)">
                                      <p:cBhvr>
                                        <p:cTn id="19" dur="500"/>
                                        <p:tgtEl>
                                          <p:spTgt spid="26"/>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p:tgtEl>
                                          <p:spTgt spid="2"/>
                                        </p:tgtEl>
                                        <p:attrNameLst>
                                          <p:attrName>ppt_y</p:attrName>
                                        </p:attrNameLst>
                                      </p:cBhvr>
                                      <p:tavLst>
                                        <p:tav tm="0">
                                          <p:val>
                                            <p:strVal val="#ppt_y+#ppt_h*1.125000"/>
                                          </p:val>
                                        </p:tav>
                                        <p:tav tm="100000">
                                          <p:val>
                                            <p:strVal val="#ppt_y"/>
                                          </p:val>
                                        </p:tav>
                                      </p:tavLst>
                                    </p:anim>
                                    <p:animEffect transition="in" filter="wipe(up)">
                                      <p:cBhvr>
                                        <p:cTn id="23" dur="500"/>
                                        <p:tgtEl>
                                          <p:spTgt spid="2"/>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p:tgtEl>
                                          <p:spTgt spid="3"/>
                                        </p:tgtEl>
                                        <p:attrNameLst>
                                          <p:attrName>ppt_y</p:attrName>
                                        </p:attrNameLst>
                                      </p:cBhvr>
                                      <p:tavLst>
                                        <p:tav tm="0">
                                          <p:val>
                                            <p:strVal val="#ppt_y+#ppt_h*1.125000"/>
                                          </p:val>
                                        </p:tav>
                                        <p:tav tm="100000">
                                          <p:val>
                                            <p:strVal val="#ppt_y"/>
                                          </p:val>
                                        </p:tav>
                                      </p:tavLst>
                                    </p:anim>
                                    <p:animEffect transition="in" filter="wipe(up)">
                                      <p:cBhvr>
                                        <p:cTn id="27" dur="500"/>
                                        <p:tgtEl>
                                          <p:spTgt spid="3"/>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p:tgtEl>
                                          <p:spTgt spid="8"/>
                                        </p:tgtEl>
                                        <p:attrNameLst>
                                          <p:attrName>ppt_y</p:attrName>
                                        </p:attrNameLst>
                                      </p:cBhvr>
                                      <p:tavLst>
                                        <p:tav tm="0">
                                          <p:val>
                                            <p:strVal val="#ppt_y+#ppt_h*1.125000"/>
                                          </p:val>
                                        </p:tav>
                                        <p:tav tm="100000">
                                          <p:val>
                                            <p:strVal val="#ppt_y"/>
                                          </p:val>
                                        </p:tav>
                                      </p:tavLst>
                                    </p:anim>
                                    <p:animEffect transition="in" filter="wipe(up)">
                                      <p:cBhvr>
                                        <p:cTn id="31" dur="500"/>
                                        <p:tgtEl>
                                          <p:spTgt spid="8"/>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p:tgtEl>
                                          <p:spTgt spid="9"/>
                                        </p:tgtEl>
                                        <p:attrNameLst>
                                          <p:attrName>ppt_y</p:attrName>
                                        </p:attrNameLst>
                                      </p:cBhvr>
                                      <p:tavLst>
                                        <p:tav tm="0">
                                          <p:val>
                                            <p:strVal val="#ppt_y+#ppt_h*1.125000"/>
                                          </p:val>
                                        </p:tav>
                                        <p:tav tm="100000">
                                          <p:val>
                                            <p:strVal val="#ppt_y"/>
                                          </p:val>
                                        </p:tav>
                                      </p:tavLst>
                                    </p:anim>
                                    <p:animEffect transition="in" filter="wipe(up)">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2" grpId="0"/>
      <p:bldP spid="3"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89908-53BA-9D8C-6B68-BC6EEEB8BBE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95E55041-A057-70D8-6AA6-DC8F767431A9}"/>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5CADBD39-7CCF-FE22-E6C6-F55CE11C0675}"/>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432B30D-F240-5526-D188-A82D187705B2}"/>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A55C5815-366A-8870-A209-267C99AE1080}"/>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设计</a:t>
            </a:r>
          </a:p>
        </p:txBody>
      </p:sp>
      <p:sp>
        <p:nvSpPr>
          <p:cNvPr id="2" name="矩形 1">
            <a:extLst>
              <a:ext uri="{FF2B5EF4-FFF2-40B4-BE49-F238E27FC236}">
                <a16:creationId xmlns:a16="http://schemas.microsoft.com/office/drawing/2014/main" id="{F1AB04C5-B64E-8436-720B-00539D0EC7E5}"/>
              </a:ext>
            </a:extLst>
          </p:cNvPr>
          <p:cNvSpPr/>
          <p:nvPr/>
        </p:nvSpPr>
        <p:spPr>
          <a:xfrm>
            <a:off x="440267" y="1002882"/>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中一些组成之间的关系</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0" name="矩形 9">
            <a:extLst>
              <a:ext uri="{FF2B5EF4-FFF2-40B4-BE49-F238E27FC236}">
                <a16:creationId xmlns:a16="http://schemas.microsoft.com/office/drawing/2014/main" id="{DE646F84-C228-6F6D-33D5-7F4E5B495EF4}"/>
              </a:ext>
            </a:extLst>
          </p:cNvPr>
          <p:cNvSpPr/>
          <p:nvPr/>
        </p:nvSpPr>
        <p:spPr>
          <a:xfrm>
            <a:off x="1059483" y="4573498"/>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栈式虚拟机</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9B49188D-4900-683E-6692-D37226F10985}"/>
              </a:ext>
            </a:extLst>
          </p:cNvPr>
          <p:cNvSpPr/>
          <p:nvPr/>
        </p:nvSpPr>
        <p:spPr>
          <a:xfrm>
            <a:off x="5119155" y="4573498"/>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活动记录</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p>
        </p:txBody>
      </p:sp>
      <p:sp>
        <p:nvSpPr>
          <p:cNvPr id="12" name="矩形 11">
            <a:extLst>
              <a:ext uri="{FF2B5EF4-FFF2-40B4-BE49-F238E27FC236}">
                <a16:creationId xmlns:a16="http://schemas.microsoft.com/office/drawing/2014/main" id="{E2AD9F5E-BB84-E05A-A124-5079E0E1FD0D}"/>
              </a:ext>
            </a:extLst>
          </p:cNvPr>
          <p:cNvSpPr/>
          <p:nvPr/>
        </p:nvSpPr>
        <p:spPr>
          <a:xfrm>
            <a:off x="9194731" y="2172191"/>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符号表</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矩形 12">
            <a:extLst>
              <a:ext uri="{FF2B5EF4-FFF2-40B4-BE49-F238E27FC236}">
                <a16:creationId xmlns:a16="http://schemas.microsoft.com/office/drawing/2014/main" id="{B17073ED-5A4B-DDBA-6872-E7FB47F65D0A}"/>
              </a:ext>
            </a:extLst>
          </p:cNvPr>
          <p:cNvSpPr/>
          <p:nvPr/>
        </p:nvSpPr>
        <p:spPr>
          <a:xfrm>
            <a:off x="9477176" y="4549596"/>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函数</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矩形 13">
            <a:extLst>
              <a:ext uri="{FF2B5EF4-FFF2-40B4-BE49-F238E27FC236}">
                <a16:creationId xmlns:a16="http://schemas.microsoft.com/office/drawing/2014/main" id="{51207770-1CBF-AD59-C132-7FF5CB8383A5}"/>
              </a:ext>
            </a:extLst>
          </p:cNvPr>
          <p:cNvSpPr/>
          <p:nvPr/>
        </p:nvSpPr>
        <p:spPr>
          <a:xfrm>
            <a:off x="5119155" y="2145444"/>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变量与参数</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矩形 14">
            <a:extLst>
              <a:ext uri="{FF2B5EF4-FFF2-40B4-BE49-F238E27FC236}">
                <a16:creationId xmlns:a16="http://schemas.microsoft.com/office/drawing/2014/main" id="{CD9DC075-E2B1-2E67-10FC-62EAF33914C5}"/>
              </a:ext>
            </a:extLst>
          </p:cNvPr>
          <p:cNvSpPr/>
          <p:nvPr/>
        </p:nvSpPr>
        <p:spPr>
          <a:xfrm>
            <a:off x="1361011" y="2172191"/>
            <a:ext cx="1953687"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运算</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7" name="直接连接符 16">
            <a:extLst>
              <a:ext uri="{FF2B5EF4-FFF2-40B4-BE49-F238E27FC236}">
                <a16:creationId xmlns:a16="http://schemas.microsoft.com/office/drawing/2014/main" id="{0ED91F39-C9D5-0777-1504-6E460E3A1FDE}"/>
              </a:ext>
            </a:extLst>
          </p:cNvPr>
          <p:cNvCxnSpPr>
            <a:cxnSpLocks/>
          </p:cNvCxnSpPr>
          <p:nvPr/>
        </p:nvCxnSpPr>
        <p:spPr>
          <a:xfrm flipH="1">
            <a:off x="7173319" y="3003550"/>
            <a:ext cx="1792881" cy="1384300"/>
          </a:xfrm>
          <a:prstGeom prst="line">
            <a:avLst/>
          </a:prstGeom>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709A9F63-1AEE-A7F8-64DD-FD6302E2FCBA}"/>
              </a:ext>
            </a:extLst>
          </p:cNvPr>
          <p:cNvCxnSpPr/>
          <p:nvPr/>
        </p:nvCxnSpPr>
        <p:spPr>
          <a:xfrm>
            <a:off x="7173319" y="4871091"/>
            <a:ext cx="20214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893BAFD8-2667-ED2C-C200-6E9A3FB414C3}"/>
              </a:ext>
            </a:extLst>
          </p:cNvPr>
          <p:cNvCxnSpPr/>
          <p:nvPr/>
        </p:nvCxnSpPr>
        <p:spPr>
          <a:xfrm>
            <a:off x="9747250" y="2927350"/>
            <a:ext cx="0" cy="16222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EC9FCC02-84C8-7749-3BE8-E214A43CC31C}"/>
              </a:ext>
            </a:extLst>
          </p:cNvPr>
          <p:cNvCxnSpPr>
            <a:stCxn id="14" idx="3"/>
          </p:cNvCxnSpPr>
          <p:nvPr/>
        </p:nvCxnSpPr>
        <p:spPr>
          <a:xfrm>
            <a:off x="7072842" y="2433566"/>
            <a:ext cx="1893358" cy="0"/>
          </a:xfrm>
          <a:prstGeom prst="line">
            <a:avLst/>
          </a:prstGeom>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949CA6A2-89A0-E783-0740-1A45BB529562}"/>
              </a:ext>
            </a:extLst>
          </p:cNvPr>
          <p:cNvCxnSpPr>
            <a:cxnSpLocks/>
          </p:cNvCxnSpPr>
          <p:nvPr/>
        </p:nvCxnSpPr>
        <p:spPr>
          <a:xfrm>
            <a:off x="5988050" y="2874873"/>
            <a:ext cx="0" cy="1549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59893408-226B-12D1-49D6-4E38CD62F728}"/>
              </a:ext>
            </a:extLst>
          </p:cNvPr>
          <p:cNvCxnSpPr/>
          <p:nvPr/>
        </p:nvCxnSpPr>
        <p:spPr>
          <a:xfrm>
            <a:off x="2938992" y="2509766"/>
            <a:ext cx="1893358" cy="0"/>
          </a:xfrm>
          <a:prstGeom prst="line">
            <a:avLst/>
          </a:prstGeom>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AE0E2AB3-FB95-38C4-F1B4-E365F9EF31D5}"/>
              </a:ext>
            </a:extLst>
          </p:cNvPr>
          <p:cNvCxnSpPr/>
          <p:nvPr/>
        </p:nvCxnSpPr>
        <p:spPr>
          <a:xfrm>
            <a:off x="1727200" y="2838450"/>
            <a:ext cx="0" cy="16222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D5E39C17-51B9-F8FE-94C4-47DA96C943A6}"/>
              </a:ext>
            </a:extLst>
          </p:cNvPr>
          <p:cNvCxnSpPr/>
          <p:nvPr/>
        </p:nvCxnSpPr>
        <p:spPr>
          <a:xfrm>
            <a:off x="2995613" y="4861620"/>
            <a:ext cx="1893358" cy="0"/>
          </a:xfrm>
          <a:prstGeom prst="line">
            <a:avLst/>
          </a:prstGeom>
        </p:spPr>
        <p:style>
          <a:lnRef idx="1">
            <a:schemeClr val="dk1"/>
          </a:lnRef>
          <a:fillRef idx="0">
            <a:schemeClr val="dk1"/>
          </a:fillRef>
          <a:effectRef idx="0">
            <a:schemeClr val="dk1"/>
          </a:effectRef>
          <a:fontRef idx="minor">
            <a:schemeClr val="tx1"/>
          </a:fontRef>
        </p:style>
      </p:cxnSp>
      <p:sp>
        <p:nvSpPr>
          <p:cNvPr id="42" name="箭头: 下弧形 41">
            <a:extLst>
              <a:ext uri="{FF2B5EF4-FFF2-40B4-BE49-F238E27FC236}">
                <a16:creationId xmlns:a16="http://schemas.microsoft.com/office/drawing/2014/main" id="{63253E23-2460-4A29-B6FE-1C238C510A4F}"/>
              </a:ext>
            </a:extLst>
          </p:cNvPr>
          <p:cNvSpPr/>
          <p:nvPr/>
        </p:nvSpPr>
        <p:spPr>
          <a:xfrm>
            <a:off x="5429250" y="5278874"/>
            <a:ext cx="1212850" cy="576244"/>
          </a:xfrm>
          <a:prstGeom prst="curved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43" name="文本框 42">
            <a:extLst>
              <a:ext uri="{FF2B5EF4-FFF2-40B4-BE49-F238E27FC236}">
                <a16:creationId xmlns:a16="http://schemas.microsoft.com/office/drawing/2014/main" id="{9546FD23-70EA-CCFE-096F-143CAF3F650E}"/>
              </a:ext>
            </a:extLst>
          </p:cNvPr>
          <p:cNvSpPr txBox="1"/>
          <p:nvPr/>
        </p:nvSpPr>
        <p:spPr>
          <a:xfrm>
            <a:off x="4757205" y="6019800"/>
            <a:ext cx="3529545"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SL  DL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链之间的自反关系</a:t>
            </a:r>
          </a:p>
        </p:txBody>
      </p:sp>
      <p:sp>
        <p:nvSpPr>
          <p:cNvPr id="44" name="文本框 43">
            <a:extLst>
              <a:ext uri="{FF2B5EF4-FFF2-40B4-BE49-F238E27FC236}">
                <a16:creationId xmlns:a16="http://schemas.microsoft.com/office/drawing/2014/main" id="{537F9C49-B259-378C-64AE-0065E02B39C3}"/>
              </a:ext>
            </a:extLst>
          </p:cNvPr>
          <p:cNvSpPr txBox="1"/>
          <p:nvPr/>
        </p:nvSpPr>
        <p:spPr>
          <a:xfrm>
            <a:off x="3601503" y="2036979"/>
            <a:ext cx="69850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组成</a:t>
            </a:r>
          </a:p>
        </p:txBody>
      </p:sp>
      <p:sp>
        <p:nvSpPr>
          <p:cNvPr id="45" name="文本框 44">
            <a:extLst>
              <a:ext uri="{FF2B5EF4-FFF2-40B4-BE49-F238E27FC236}">
                <a16:creationId xmlns:a16="http://schemas.microsoft.com/office/drawing/2014/main" id="{B0E9F567-7961-BA54-E5CA-9850EFF917A1}"/>
              </a:ext>
            </a:extLst>
          </p:cNvPr>
          <p:cNvSpPr txBox="1"/>
          <p:nvPr/>
        </p:nvSpPr>
        <p:spPr>
          <a:xfrm>
            <a:off x="930273" y="3449634"/>
            <a:ext cx="69850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执行</a:t>
            </a:r>
          </a:p>
        </p:txBody>
      </p:sp>
      <p:sp>
        <p:nvSpPr>
          <p:cNvPr id="46" name="文本框 45">
            <a:extLst>
              <a:ext uri="{FF2B5EF4-FFF2-40B4-BE49-F238E27FC236}">
                <a16:creationId xmlns:a16="http://schemas.microsoft.com/office/drawing/2014/main" id="{EC141BF0-A4CE-35E8-DB0B-681BF5F28B50}"/>
              </a:ext>
            </a:extLst>
          </p:cNvPr>
          <p:cNvSpPr txBox="1"/>
          <p:nvPr/>
        </p:nvSpPr>
        <p:spPr>
          <a:xfrm>
            <a:off x="3218702" y="5030773"/>
            <a:ext cx="1694921"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存储与执行</a:t>
            </a:r>
          </a:p>
        </p:txBody>
      </p:sp>
      <p:sp>
        <p:nvSpPr>
          <p:cNvPr id="47" name="文本框 46">
            <a:extLst>
              <a:ext uri="{FF2B5EF4-FFF2-40B4-BE49-F238E27FC236}">
                <a16:creationId xmlns:a16="http://schemas.microsoft.com/office/drawing/2014/main" id="{2675400D-E657-A55E-FD6B-42704F423DEE}"/>
              </a:ext>
            </a:extLst>
          </p:cNvPr>
          <p:cNvSpPr txBox="1"/>
          <p:nvPr/>
        </p:nvSpPr>
        <p:spPr>
          <a:xfrm>
            <a:off x="7720508" y="2023630"/>
            <a:ext cx="69850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组成</a:t>
            </a:r>
          </a:p>
        </p:txBody>
      </p:sp>
      <p:sp>
        <p:nvSpPr>
          <p:cNvPr id="48" name="文本框 47">
            <a:extLst>
              <a:ext uri="{FF2B5EF4-FFF2-40B4-BE49-F238E27FC236}">
                <a16:creationId xmlns:a16="http://schemas.microsoft.com/office/drawing/2014/main" id="{9409E150-2545-46B1-75C1-9A9A2DE39831}"/>
              </a:ext>
            </a:extLst>
          </p:cNvPr>
          <p:cNvSpPr txBox="1"/>
          <p:nvPr/>
        </p:nvSpPr>
        <p:spPr>
          <a:xfrm>
            <a:off x="5089260" y="3464907"/>
            <a:ext cx="1099079"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存储在</a:t>
            </a:r>
          </a:p>
        </p:txBody>
      </p:sp>
      <p:sp>
        <p:nvSpPr>
          <p:cNvPr id="49" name="文本框 48">
            <a:extLst>
              <a:ext uri="{FF2B5EF4-FFF2-40B4-BE49-F238E27FC236}">
                <a16:creationId xmlns:a16="http://schemas.microsoft.com/office/drawing/2014/main" id="{D114838B-1343-01B1-D34C-886D0813C7B0}"/>
              </a:ext>
            </a:extLst>
          </p:cNvPr>
          <p:cNvSpPr txBox="1"/>
          <p:nvPr/>
        </p:nvSpPr>
        <p:spPr>
          <a:xfrm>
            <a:off x="7829019" y="5030773"/>
            <a:ext cx="1099079"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属于</a:t>
            </a:r>
          </a:p>
        </p:txBody>
      </p:sp>
      <p:sp>
        <p:nvSpPr>
          <p:cNvPr id="50" name="文本框 49">
            <a:extLst>
              <a:ext uri="{FF2B5EF4-FFF2-40B4-BE49-F238E27FC236}">
                <a16:creationId xmlns:a16="http://schemas.microsoft.com/office/drawing/2014/main" id="{B8BFBD57-5A90-36C9-EBFC-63DB06B72535}"/>
              </a:ext>
            </a:extLst>
          </p:cNvPr>
          <p:cNvSpPr txBox="1"/>
          <p:nvPr/>
        </p:nvSpPr>
        <p:spPr>
          <a:xfrm>
            <a:off x="9915260" y="3553807"/>
            <a:ext cx="1099079"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属于</a:t>
            </a:r>
          </a:p>
        </p:txBody>
      </p:sp>
      <p:sp>
        <p:nvSpPr>
          <p:cNvPr id="51" name="文本框 50">
            <a:extLst>
              <a:ext uri="{FF2B5EF4-FFF2-40B4-BE49-F238E27FC236}">
                <a16:creationId xmlns:a16="http://schemas.microsoft.com/office/drawing/2014/main" id="{17B9708B-19A7-3D10-CA18-FBA654B77E17}"/>
              </a:ext>
            </a:extLst>
          </p:cNvPr>
          <p:cNvSpPr txBox="1"/>
          <p:nvPr/>
        </p:nvSpPr>
        <p:spPr>
          <a:xfrm>
            <a:off x="7629256" y="3211076"/>
            <a:ext cx="69850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查询</a:t>
            </a:r>
          </a:p>
        </p:txBody>
      </p:sp>
    </p:spTree>
    <p:extLst>
      <p:ext uri="{BB962C8B-B14F-4D97-AF65-F5344CB8AC3E}">
        <p14:creationId xmlns:p14="http://schemas.microsoft.com/office/powerpoint/2010/main" val="1635251551"/>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p:tgtEl>
                                          <p:spTgt spid="10"/>
                                        </p:tgtEl>
                                        <p:attrNameLst>
                                          <p:attrName>ppt_y</p:attrName>
                                        </p:attrNameLst>
                                      </p:cBhvr>
                                      <p:tavLst>
                                        <p:tav tm="0">
                                          <p:val>
                                            <p:strVal val="#ppt_y+#ppt_h*1.125000"/>
                                          </p:val>
                                        </p:tav>
                                        <p:tav tm="100000">
                                          <p:val>
                                            <p:strVal val="#ppt_y"/>
                                          </p:val>
                                        </p:tav>
                                      </p:tavLst>
                                    </p:anim>
                                    <p:animEffect transition="in" filter="wipe(up)">
                                      <p:cBhvr>
                                        <p:cTn id="23" dur="500"/>
                                        <p:tgtEl>
                                          <p:spTgt spid="10"/>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p:tgtEl>
                                          <p:spTgt spid="11"/>
                                        </p:tgtEl>
                                        <p:attrNameLst>
                                          <p:attrName>ppt_y</p:attrName>
                                        </p:attrNameLst>
                                      </p:cBhvr>
                                      <p:tavLst>
                                        <p:tav tm="0">
                                          <p:val>
                                            <p:strVal val="#ppt_y+#ppt_h*1.125000"/>
                                          </p:val>
                                        </p:tav>
                                        <p:tav tm="100000">
                                          <p:val>
                                            <p:strVal val="#ppt_y"/>
                                          </p:val>
                                        </p:tav>
                                      </p:tavLst>
                                    </p:anim>
                                    <p:animEffect transition="in" filter="wipe(up)">
                                      <p:cBhvr>
                                        <p:cTn id="27" dur="500"/>
                                        <p:tgtEl>
                                          <p:spTgt spid="11"/>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p:tgtEl>
                                          <p:spTgt spid="12"/>
                                        </p:tgtEl>
                                        <p:attrNameLst>
                                          <p:attrName>ppt_y</p:attrName>
                                        </p:attrNameLst>
                                      </p:cBhvr>
                                      <p:tavLst>
                                        <p:tav tm="0">
                                          <p:val>
                                            <p:strVal val="#ppt_y+#ppt_h*1.125000"/>
                                          </p:val>
                                        </p:tav>
                                        <p:tav tm="100000">
                                          <p:val>
                                            <p:strVal val="#ppt_y"/>
                                          </p:val>
                                        </p:tav>
                                      </p:tavLst>
                                    </p:anim>
                                    <p:animEffect transition="in" filter="wipe(up)">
                                      <p:cBhvr>
                                        <p:cTn id="31" dur="500"/>
                                        <p:tgtEl>
                                          <p:spTgt spid="12"/>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p:tgtEl>
                                          <p:spTgt spid="13"/>
                                        </p:tgtEl>
                                        <p:attrNameLst>
                                          <p:attrName>ppt_y</p:attrName>
                                        </p:attrNameLst>
                                      </p:cBhvr>
                                      <p:tavLst>
                                        <p:tav tm="0">
                                          <p:val>
                                            <p:strVal val="#ppt_y+#ppt_h*1.125000"/>
                                          </p:val>
                                        </p:tav>
                                        <p:tav tm="100000">
                                          <p:val>
                                            <p:strVal val="#ppt_y"/>
                                          </p:val>
                                        </p:tav>
                                      </p:tavLst>
                                    </p:anim>
                                    <p:animEffect transition="in" filter="wipe(up)">
                                      <p:cBhvr>
                                        <p:cTn id="35" dur="500"/>
                                        <p:tgtEl>
                                          <p:spTgt spid="13"/>
                                        </p:tgtEl>
                                      </p:cBhvr>
                                    </p:animEffect>
                                  </p:childTnLst>
                                </p:cTn>
                              </p:par>
                              <p:par>
                                <p:cTn id="36" presetID="12" presetClass="entr" presetSubtype="4"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p:tgtEl>
                                          <p:spTgt spid="14"/>
                                        </p:tgtEl>
                                        <p:attrNameLst>
                                          <p:attrName>ppt_y</p:attrName>
                                        </p:attrNameLst>
                                      </p:cBhvr>
                                      <p:tavLst>
                                        <p:tav tm="0">
                                          <p:val>
                                            <p:strVal val="#ppt_y+#ppt_h*1.125000"/>
                                          </p:val>
                                        </p:tav>
                                        <p:tav tm="100000">
                                          <p:val>
                                            <p:strVal val="#ppt_y"/>
                                          </p:val>
                                        </p:tav>
                                      </p:tavLst>
                                    </p:anim>
                                    <p:animEffect transition="in" filter="wipe(up)">
                                      <p:cBhvr>
                                        <p:cTn id="39" dur="500"/>
                                        <p:tgtEl>
                                          <p:spTgt spid="14"/>
                                        </p:tgtEl>
                                      </p:cBhvr>
                                    </p:animEffect>
                                  </p:childTnLst>
                                </p:cTn>
                              </p:par>
                              <p:par>
                                <p:cTn id="40" presetID="12" presetClass="entr" presetSubtype="4"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p:tgtEl>
                                          <p:spTgt spid="15"/>
                                        </p:tgtEl>
                                        <p:attrNameLst>
                                          <p:attrName>ppt_y</p:attrName>
                                        </p:attrNameLst>
                                      </p:cBhvr>
                                      <p:tavLst>
                                        <p:tav tm="0">
                                          <p:val>
                                            <p:strVal val="#ppt_y+#ppt_h*1.125000"/>
                                          </p:val>
                                        </p:tav>
                                        <p:tav tm="100000">
                                          <p:val>
                                            <p:strVal val="#ppt_y"/>
                                          </p:val>
                                        </p:tav>
                                      </p:tavLst>
                                    </p:anim>
                                    <p:animEffect transition="in" filter="wipe(up)">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10" grpId="0"/>
      <p:bldP spid="11" grpId="0"/>
      <p:bldP spid="12" grpId="0"/>
      <p:bldP spid="13"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23BC1-3835-2B3A-BEDC-7E16E55617E9}"/>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F56D2F07-05C8-E3D9-08AC-01B14BE3F869}"/>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53954F3E-C9AA-2289-ECB8-8DDC39F04D18}"/>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1F6CC57-5A7F-8E0D-E698-B459CD053903}"/>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45B15DB4-C2E7-3962-E5B1-5CA993E162C8}"/>
              </a:ext>
            </a:extLst>
          </p:cNvPr>
          <p:cNvSpPr txBox="1"/>
          <p:nvPr/>
        </p:nvSpPr>
        <p:spPr>
          <a:xfrm>
            <a:off x="362061" y="188687"/>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A10AC5BD-8C95-D7FF-3CFE-9D5A99A7B4B2}"/>
              </a:ext>
            </a:extLst>
          </p:cNvPr>
          <p:cNvSpPr/>
          <p:nvPr/>
        </p:nvSpPr>
        <p:spPr>
          <a:xfrm>
            <a:off x="491066" y="1224644"/>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62863040-A2FE-EE25-9D93-56FA5DEFBBAD}"/>
              </a:ext>
            </a:extLst>
          </p:cNvPr>
          <p:cNvSpPr/>
          <p:nvPr/>
        </p:nvSpPr>
        <p:spPr>
          <a:xfrm>
            <a:off x="362061" y="1423963"/>
            <a:ext cx="11639439" cy="4304316"/>
          </a:xfrm>
          <a:prstGeom prst="rect">
            <a:avLst/>
          </a:prstGeom>
        </p:spPr>
        <p:txBody>
          <a:bodyPr wrap="square" lIns="91436" tIns="45718" rIns="91436" bIns="45718">
            <a:spAutoFit/>
          </a:bodyPr>
          <a:lstStyle/>
          <a:p>
            <a:pPr>
              <a:lnSpc>
                <a:spcPct val="20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在这里提供一种提前计算得到常量值的思路：我们不妨模仿</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的“栈”，在编译的时候也维护一个存放常量运算值的静态栈。对于一条由</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推导得到的运算表达式，我们从静态栈栈顶分别获取表达式的左操作数与右操作数</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显然此时两个操作数一定是常数，不然无法满足</a:t>
            </a:r>
            <a:r>
              <a:rPr lang="en-US" altLang="zh-CN"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的成立条件</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并手动进行表达式的运算，并将运算结果重新存入栈中。对于一个</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进行上述操作后，静态栈最终一定只存在一个数作为运算的结果。我们将该结果赋值给常量变量，这样就能够在查询符号表的时候直接获取到常量变量的值。具体的操作过程可以参考下图</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32874941"/>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3BCB-6D61-8634-6BD6-2F8B931A3BF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819AA39-C815-7B92-F0B1-A0DC546BADC3}"/>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3E321170-190E-2DDD-673C-BE1A3C0D4A36}"/>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884D231-C79C-9676-6B18-334BD1359F36}"/>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B9B5AB58-25A1-78E8-52C8-542BC2088B7E}"/>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8" name="矩形 7">
            <a:extLst>
              <a:ext uri="{FF2B5EF4-FFF2-40B4-BE49-F238E27FC236}">
                <a16:creationId xmlns:a16="http://schemas.microsoft.com/office/drawing/2014/main" id="{CE796567-A529-1B46-2D43-955A18225DAF}"/>
              </a:ext>
            </a:extLst>
          </p:cNvPr>
          <p:cNvSpPr/>
          <p:nvPr/>
        </p:nvSpPr>
        <p:spPr>
          <a:xfrm>
            <a:off x="516466" y="824252"/>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16" name="组合 15">
            <a:extLst>
              <a:ext uri="{FF2B5EF4-FFF2-40B4-BE49-F238E27FC236}">
                <a16:creationId xmlns:a16="http://schemas.microsoft.com/office/drawing/2014/main" id="{CAB7FC8F-C0CA-C4C7-B890-28046583FFD6}"/>
              </a:ext>
            </a:extLst>
          </p:cNvPr>
          <p:cNvGrpSpPr/>
          <p:nvPr/>
        </p:nvGrpSpPr>
        <p:grpSpPr>
          <a:xfrm>
            <a:off x="264583" y="2526546"/>
            <a:ext cx="2631017" cy="1315204"/>
            <a:chOff x="188686" y="2659896"/>
            <a:chExt cx="2813050" cy="1315204"/>
          </a:xfrm>
        </p:grpSpPr>
        <p:sp>
          <p:nvSpPr>
            <p:cNvPr id="11" name="矩形 10">
              <a:extLst>
                <a:ext uri="{FF2B5EF4-FFF2-40B4-BE49-F238E27FC236}">
                  <a16:creationId xmlns:a16="http://schemas.microsoft.com/office/drawing/2014/main" id="{ED41824E-A8D0-4255-478D-BFEF1E47A369}"/>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BFBF1FE8-6418-B760-7D3D-A940AE4A1315}"/>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3" name="直接连接符 12">
              <a:extLst>
                <a:ext uri="{FF2B5EF4-FFF2-40B4-BE49-F238E27FC236}">
                  <a16:creationId xmlns:a16="http://schemas.microsoft.com/office/drawing/2014/main" id="{98D6AD24-EC42-7B6C-BD1F-8B9741CD0E24}"/>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3F88055E-3A97-207B-7EB6-F172696EB763}"/>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C30B29E7-24F5-220C-EB0D-8360E6251B88}"/>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17" name="文本框 16">
            <a:extLst>
              <a:ext uri="{FF2B5EF4-FFF2-40B4-BE49-F238E27FC236}">
                <a16:creationId xmlns:a16="http://schemas.microsoft.com/office/drawing/2014/main" id="{E979F34F-D1A7-0F88-5EA0-CD6CC6A40D36}"/>
              </a:ext>
            </a:extLst>
          </p:cNvPr>
          <p:cNvSpPr txBox="1"/>
          <p:nvPr/>
        </p:nvSpPr>
        <p:spPr>
          <a:xfrm>
            <a:off x="1414991" y="2868538"/>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61D81A6F-2D80-2457-F946-6F8AA2CCFB79}"/>
              </a:ext>
            </a:extLst>
          </p:cNvPr>
          <p:cNvSpPr txBox="1"/>
          <p:nvPr/>
        </p:nvSpPr>
        <p:spPr>
          <a:xfrm>
            <a:off x="1414991" y="3184148"/>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B7FF8222-7835-E3BD-C1AF-9475965596F2}"/>
              </a:ext>
            </a:extLst>
          </p:cNvPr>
          <p:cNvSpPr txBox="1"/>
          <p:nvPr/>
        </p:nvSpPr>
        <p:spPr>
          <a:xfrm>
            <a:off x="1414991" y="3472419"/>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grpSp>
        <p:nvGrpSpPr>
          <p:cNvPr id="26" name="组合 25">
            <a:extLst>
              <a:ext uri="{FF2B5EF4-FFF2-40B4-BE49-F238E27FC236}">
                <a16:creationId xmlns:a16="http://schemas.microsoft.com/office/drawing/2014/main" id="{FE4C6CCA-9BAE-A199-A55D-95931CAC2781}"/>
              </a:ext>
            </a:extLst>
          </p:cNvPr>
          <p:cNvGrpSpPr/>
          <p:nvPr/>
        </p:nvGrpSpPr>
        <p:grpSpPr>
          <a:xfrm>
            <a:off x="335491" y="4465134"/>
            <a:ext cx="1079500" cy="2020548"/>
            <a:chOff x="1040341" y="4013201"/>
            <a:chExt cx="1079500" cy="2020548"/>
          </a:xfrm>
        </p:grpSpPr>
        <p:sp>
          <p:nvSpPr>
            <p:cNvPr id="20" name="矩形 19">
              <a:extLst>
                <a:ext uri="{FF2B5EF4-FFF2-40B4-BE49-F238E27FC236}">
                  <a16:creationId xmlns:a16="http://schemas.microsoft.com/office/drawing/2014/main" id="{F52DD959-381C-ED9B-05E5-DAC1D53BA4BA}"/>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C34CC112-5491-0D9E-9ABD-28E3E64B93FF}"/>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B84CCD2F-7A16-C348-3438-887B2C0FF95A}"/>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DC5C20DD-0A11-FF98-CE56-E7434BAA8B58}"/>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6663F3C1-1329-A150-14C2-01CE182D3E3E}"/>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27" name="文本框 26">
            <a:extLst>
              <a:ext uri="{FF2B5EF4-FFF2-40B4-BE49-F238E27FC236}">
                <a16:creationId xmlns:a16="http://schemas.microsoft.com/office/drawing/2014/main" id="{C855F69F-0FC3-BA73-77DF-DDEAC9817FD0}"/>
              </a:ext>
            </a:extLst>
          </p:cNvPr>
          <p:cNvSpPr txBox="1"/>
          <p:nvPr/>
        </p:nvSpPr>
        <p:spPr>
          <a:xfrm>
            <a:off x="511327" y="3987309"/>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29" name="文本框 28">
            <a:extLst>
              <a:ext uri="{FF2B5EF4-FFF2-40B4-BE49-F238E27FC236}">
                <a16:creationId xmlns:a16="http://schemas.microsoft.com/office/drawing/2014/main" id="{A34C8FAD-4D83-7C67-03B3-B6283C53B079}"/>
              </a:ext>
            </a:extLst>
          </p:cNvPr>
          <p:cNvSpPr txBox="1"/>
          <p:nvPr/>
        </p:nvSpPr>
        <p:spPr>
          <a:xfrm>
            <a:off x="2309436" y="951077"/>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30" name="文本框 29">
            <a:extLst>
              <a:ext uri="{FF2B5EF4-FFF2-40B4-BE49-F238E27FC236}">
                <a16:creationId xmlns:a16="http://schemas.microsoft.com/office/drawing/2014/main" id="{9735D3A7-2DEC-310C-44FF-B82E1B5677B6}"/>
              </a:ext>
            </a:extLst>
          </p:cNvPr>
          <p:cNvSpPr txBox="1"/>
          <p:nvPr/>
        </p:nvSpPr>
        <p:spPr>
          <a:xfrm>
            <a:off x="1580091" y="4459745"/>
            <a:ext cx="2056342" cy="2031325"/>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在递归下降处理语法树的过程中，我们发现当前的语法成分为</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。我们标记当前在处理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运算并启用静态栈</a:t>
            </a:r>
          </a:p>
        </p:txBody>
      </p:sp>
      <p:sp>
        <p:nvSpPr>
          <p:cNvPr id="31" name="矩形 30">
            <a:extLst>
              <a:ext uri="{FF2B5EF4-FFF2-40B4-BE49-F238E27FC236}">
                <a16:creationId xmlns:a16="http://schemas.microsoft.com/office/drawing/2014/main" id="{26BE930F-B8CE-C711-C9CE-02F4F5F010C9}"/>
              </a:ext>
            </a:extLst>
          </p:cNvPr>
          <p:cNvSpPr/>
          <p:nvPr/>
        </p:nvSpPr>
        <p:spPr>
          <a:xfrm>
            <a:off x="4252383" y="781050"/>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32" name="组合 31">
            <a:extLst>
              <a:ext uri="{FF2B5EF4-FFF2-40B4-BE49-F238E27FC236}">
                <a16:creationId xmlns:a16="http://schemas.microsoft.com/office/drawing/2014/main" id="{710E374D-5778-04EF-5CC3-A824EA2839E7}"/>
              </a:ext>
            </a:extLst>
          </p:cNvPr>
          <p:cNvGrpSpPr/>
          <p:nvPr/>
        </p:nvGrpSpPr>
        <p:grpSpPr>
          <a:xfrm>
            <a:off x="4000500" y="2483344"/>
            <a:ext cx="2631017" cy="1315204"/>
            <a:chOff x="188686" y="2659896"/>
            <a:chExt cx="2813050" cy="1315204"/>
          </a:xfrm>
        </p:grpSpPr>
        <p:sp>
          <p:nvSpPr>
            <p:cNvPr id="33" name="矩形 32">
              <a:extLst>
                <a:ext uri="{FF2B5EF4-FFF2-40B4-BE49-F238E27FC236}">
                  <a16:creationId xmlns:a16="http://schemas.microsoft.com/office/drawing/2014/main" id="{A3CA7F51-2C22-4631-5574-8FD50353CC78}"/>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DAC02081-FDF1-73B7-0AF6-B86E02BD8C3C}"/>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5" name="直接连接符 34">
              <a:extLst>
                <a:ext uri="{FF2B5EF4-FFF2-40B4-BE49-F238E27FC236}">
                  <a16:creationId xmlns:a16="http://schemas.microsoft.com/office/drawing/2014/main" id="{902FBF71-42C8-FA8C-DACD-25B24117888F}"/>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CB98C24F-BAEF-2B07-BE45-61518F211711}"/>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902DC31F-0469-3CA6-FBDF-C8EA64B42234}"/>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38" name="文本框 37">
            <a:extLst>
              <a:ext uri="{FF2B5EF4-FFF2-40B4-BE49-F238E27FC236}">
                <a16:creationId xmlns:a16="http://schemas.microsoft.com/office/drawing/2014/main" id="{9977010F-DB35-8128-75CA-79456F4C2DAB}"/>
              </a:ext>
            </a:extLst>
          </p:cNvPr>
          <p:cNvSpPr txBox="1"/>
          <p:nvPr/>
        </p:nvSpPr>
        <p:spPr>
          <a:xfrm>
            <a:off x="5150908" y="2825336"/>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a:t>
            </a:r>
            <a:endParaRPr lang="zh-CN" altLang="en-US"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A0445C0E-1346-1202-8BDD-E46E3686EF44}"/>
              </a:ext>
            </a:extLst>
          </p:cNvPr>
          <p:cNvSpPr txBox="1"/>
          <p:nvPr/>
        </p:nvSpPr>
        <p:spPr>
          <a:xfrm>
            <a:off x="5150908" y="3140946"/>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8154BBE8-004C-F734-BF33-B585EE25C758}"/>
              </a:ext>
            </a:extLst>
          </p:cNvPr>
          <p:cNvSpPr txBox="1"/>
          <p:nvPr/>
        </p:nvSpPr>
        <p:spPr>
          <a:xfrm>
            <a:off x="5150908" y="3429217"/>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grpSp>
        <p:nvGrpSpPr>
          <p:cNvPr id="41" name="组合 40">
            <a:extLst>
              <a:ext uri="{FF2B5EF4-FFF2-40B4-BE49-F238E27FC236}">
                <a16:creationId xmlns:a16="http://schemas.microsoft.com/office/drawing/2014/main" id="{6CE66DA6-D8C6-4096-2A0C-E7EDFF8737CA}"/>
              </a:ext>
            </a:extLst>
          </p:cNvPr>
          <p:cNvGrpSpPr/>
          <p:nvPr/>
        </p:nvGrpSpPr>
        <p:grpSpPr>
          <a:xfrm>
            <a:off x="4071408" y="4421932"/>
            <a:ext cx="1079500" cy="2020548"/>
            <a:chOff x="1040341" y="4013201"/>
            <a:chExt cx="1079500" cy="2020548"/>
          </a:xfrm>
        </p:grpSpPr>
        <p:sp>
          <p:nvSpPr>
            <p:cNvPr id="42" name="矩形 41">
              <a:extLst>
                <a:ext uri="{FF2B5EF4-FFF2-40B4-BE49-F238E27FC236}">
                  <a16:creationId xmlns:a16="http://schemas.microsoft.com/office/drawing/2014/main" id="{FDFAFFE7-8D1A-94B4-9F39-1267423BDE09}"/>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EE359045-5E87-A43A-DE8B-CBEBE9C6AEDA}"/>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BDAB82F2-9717-C5E8-151F-68F885EED64E}"/>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F09C9929-94A9-8349-CD05-04FE75A39414}"/>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105027A4-D4A2-5CE7-EAAB-720DC95EDE70}"/>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47" name="文本框 46">
            <a:extLst>
              <a:ext uri="{FF2B5EF4-FFF2-40B4-BE49-F238E27FC236}">
                <a16:creationId xmlns:a16="http://schemas.microsoft.com/office/drawing/2014/main" id="{FEBBFA26-7C39-8EB1-2471-57CBDFC8C2A5}"/>
              </a:ext>
            </a:extLst>
          </p:cNvPr>
          <p:cNvSpPr txBox="1"/>
          <p:nvPr/>
        </p:nvSpPr>
        <p:spPr>
          <a:xfrm>
            <a:off x="4247244" y="3944107"/>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48" name="文本框 47">
            <a:extLst>
              <a:ext uri="{FF2B5EF4-FFF2-40B4-BE49-F238E27FC236}">
                <a16:creationId xmlns:a16="http://schemas.microsoft.com/office/drawing/2014/main" id="{A5C4E1B6-07DA-816C-17C1-3A0ADB972ABB}"/>
              </a:ext>
            </a:extLst>
          </p:cNvPr>
          <p:cNvSpPr txBox="1"/>
          <p:nvPr/>
        </p:nvSpPr>
        <p:spPr>
          <a:xfrm>
            <a:off x="6045353" y="907875"/>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49" name="文本框 48">
            <a:extLst>
              <a:ext uri="{FF2B5EF4-FFF2-40B4-BE49-F238E27FC236}">
                <a16:creationId xmlns:a16="http://schemas.microsoft.com/office/drawing/2014/main" id="{644C5BD1-2222-4B57-B74D-D74254D82421}"/>
              </a:ext>
            </a:extLst>
          </p:cNvPr>
          <p:cNvSpPr txBox="1"/>
          <p:nvPr/>
        </p:nvSpPr>
        <p:spPr>
          <a:xfrm>
            <a:off x="5316008" y="4819870"/>
            <a:ext cx="2056342" cy="1477328"/>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在处理得到语法成分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Number </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的时候，我们把得到的数字加入静态栈；</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文本框 49">
            <a:extLst>
              <a:ext uri="{FF2B5EF4-FFF2-40B4-BE49-F238E27FC236}">
                <a16:creationId xmlns:a16="http://schemas.microsoft.com/office/drawing/2014/main" id="{BDBA127A-C031-6E6F-ED50-BB1FD555EE5A}"/>
              </a:ext>
            </a:extLst>
          </p:cNvPr>
          <p:cNvSpPr txBox="1"/>
          <p:nvPr/>
        </p:nvSpPr>
        <p:spPr>
          <a:xfrm>
            <a:off x="4452638" y="6048596"/>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5</a:t>
            </a:r>
            <a:endParaRPr lang="zh-CN" altLang="en-US" dirty="0">
              <a:latin typeface="楷体" panose="02010609060101010101" pitchFamily="49" charset="-122"/>
              <a:ea typeface="楷体" panose="02010609060101010101" pitchFamily="49" charset="-122"/>
            </a:endParaRPr>
          </a:p>
        </p:txBody>
      </p:sp>
      <p:sp>
        <p:nvSpPr>
          <p:cNvPr id="51" name="矩形 50">
            <a:extLst>
              <a:ext uri="{FF2B5EF4-FFF2-40B4-BE49-F238E27FC236}">
                <a16:creationId xmlns:a16="http://schemas.microsoft.com/office/drawing/2014/main" id="{4785B792-ADF6-0310-6D75-461A00C8955C}"/>
              </a:ext>
            </a:extLst>
          </p:cNvPr>
          <p:cNvSpPr/>
          <p:nvPr/>
        </p:nvSpPr>
        <p:spPr>
          <a:xfrm>
            <a:off x="8094132" y="781050"/>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52" name="组合 51">
            <a:extLst>
              <a:ext uri="{FF2B5EF4-FFF2-40B4-BE49-F238E27FC236}">
                <a16:creationId xmlns:a16="http://schemas.microsoft.com/office/drawing/2014/main" id="{D355D2C1-E295-D5E2-46C4-E00847836644}"/>
              </a:ext>
            </a:extLst>
          </p:cNvPr>
          <p:cNvGrpSpPr/>
          <p:nvPr/>
        </p:nvGrpSpPr>
        <p:grpSpPr>
          <a:xfrm>
            <a:off x="7842249" y="2483344"/>
            <a:ext cx="2631017" cy="1315204"/>
            <a:chOff x="188686" y="2659896"/>
            <a:chExt cx="2813050" cy="1315204"/>
          </a:xfrm>
        </p:grpSpPr>
        <p:sp>
          <p:nvSpPr>
            <p:cNvPr id="53" name="矩形 52">
              <a:extLst>
                <a:ext uri="{FF2B5EF4-FFF2-40B4-BE49-F238E27FC236}">
                  <a16:creationId xmlns:a16="http://schemas.microsoft.com/office/drawing/2014/main" id="{0CE216F1-15B9-CFD5-EDAD-680132166F5C}"/>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ED0BB2F6-457A-7DAD-6FC8-8F69D098A49E}"/>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5" name="直接连接符 54">
              <a:extLst>
                <a:ext uri="{FF2B5EF4-FFF2-40B4-BE49-F238E27FC236}">
                  <a16:creationId xmlns:a16="http://schemas.microsoft.com/office/drawing/2014/main" id="{B86EE591-5C9C-C00A-AEB6-5BDE73687F38}"/>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786FA0E2-38D0-747D-B73A-5D9925D7FC1F}"/>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B9BEB269-7A73-68D6-9A4D-FA3AEDB947B3}"/>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58" name="文本框 57">
            <a:extLst>
              <a:ext uri="{FF2B5EF4-FFF2-40B4-BE49-F238E27FC236}">
                <a16:creationId xmlns:a16="http://schemas.microsoft.com/office/drawing/2014/main" id="{D7BA68E8-7EF5-EAD7-7DC0-DCACFB74D5CE}"/>
              </a:ext>
            </a:extLst>
          </p:cNvPr>
          <p:cNvSpPr txBox="1"/>
          <p:nvPr/>
        </p:nvSpPr>
        <p:spPr>
          <a:xfrm>
            <a:off x="8671983" y="2850388"/>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   =   5</a:t>
            </a:r>
            <a:endParaRPr lang="zh-CN" altLang="en-US" dirty="0">
              <a:latin typeface="Times New Roman" panose="02020603050405020304" pitchFamily="18" charset="0"/>
              <a:cs typeface="Times New Roman" panose="02020603050405020304" pitchFamily="18" charset="0"/>
            </a:endParaRPr>
          </a:p>
        </p:txBody>
      </p:sp>
      <p:sp>
        <p:nvSpPr>
          <p:cNvPr id="59" name="文本框 58">
            <a:extLst>
              <a:ext uri="{FF2B5EF4-FFF2-40B4-BE49-F238E27FC236}">
                <a16:creationId xmlns:a16="http://schemas.microsoft.com/office/drawing/2014/main" id="{67846B56-2F23-94B6-FFF3-6F450539990E}"/>
              </a:ext>
            </a:extLst>
          </p:cNvPr>
          <p:cNvSpPr txBox="1"/>
          <p:nvPr/>
        </p:nvSpPr>
        <p:spPr>
          <a:xfrm>
            <a:off x="8992657" y="3140946"/>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44985B73-06C4-E4AB-7915-3FAC7CF167F0}"/>
              </a:ext>
            </a:extLst>
          </p:cNvPr>
          <p:cNvSpPr txBox="1"/>
          <p:nvPr/>
        </p:nvSpPr>
        <p:spPr>
          <a:xfrm>
            <a:off x="8992657" y="3429217"/>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grpSp>
        <p:nvGrpSpPr>
          <p:cNvPr id="61" name="组合 60">
            <a:extLst>
              <a:ext uri="{FF2B5EF4-FFF2-40B4-BE49-F238E27FC236}">
                <a16:creationId xmlns:a16="http://schemas.microsoft.com/office/drawing/2014/main" id="{EC508E42-2597-7EFE-E5DA-3837E01B411C}"/>
              </a:ext>
            </a:extLst>
          </p:cNvPr>
          <p:cNvGrpSpPr/>
          <p:nvPr/>
        </p:nvGrpSpPr>
        <p:grpSpPr>
          <a:xfrm>
            <a:off x="7913157" y="4421932"/>
            <a:ext cx="1079500" cy="2020548"/>
            <a:chOff x="1040341" y="4013201"/>
            <a:chExt cx="1079500" cy="2020548"/>
          </a:xfrm>
        </p:grpSpPr>
        <p:sp>
          <p:nvSpPr>
            <p:cNvPr id="62" name="矩形 61">
              <a:extLst>
                <a:ext uri="{FF2B5EF4-FFF2-40B4-BE49-F238E27FC236}">
                  <a16:creationId xmlns:a16="http://schemas.microsoft.com/office/drawing/2014/main" id="{E930EAE8-ECDC-4A60-4514-2F0F8ED4A3E5}"/>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7B4D45C6-323F-722F-AFB1-3582C3FB64DB}"/>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91DCE943-3843-E077-159A-A446D82D8D7B}"/>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41ED2DA1-1540-5C28-74E9-2D6790FA640B}"/>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E2FD4091-619D-6348-DA3E-6C3D2014DCC2}"/>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67" name="文本框 66">
            <a:extLst>
              <a:ext uri="{FF2B5EF4-FFF2-40B4-BE49-F238E27FC236}">
                <a16:creationId xmlns:a16="http://schemas.microsoft.com/office/drawing/2014/main" id="{5016B3D9-FE64-EADD-956F-E4655A4A9261}"/>
              </a:ext>
            </a:extLst>
          </p:cNvPr>
          <p:cNvSpPr txBox="1"/>
          <p:nvPr/>
        </p:nvSpPr>
        <p:spPr>
          <a:xfrm>
            <a:off x="8088993" y="3944107"/>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68" name="文本框 67">
            <a:extLst>
              <a:ext uri="{FF2B5EF4-FFF2-40B4-BE49-F238E27FC236}">
                <a16:creationId xmlns:a16="http://schemas.microsoft.com/office/drawing/2014/main" id="{B0520590-77DF-A706-DE7E-8CEE0A47FF23}"/>
              </a:ext>
            </a:extLst>
          </p:cNvPr>
          <p:cNvSpPr txBox="1"/>
          <p:nvPr/>
        </p:nvSpPr>
        <p:spPr>
          <a:xfrm>
            <a:off x="9887102" y="907875"/>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69" name="文本框 68">
            <a:extLst>
              <a:ext uri="{FF2B5EF4-FFF2-40B4-BE49-F238E27FC236}">
                <a16:creationId xmlns:a16="http://schemas.microsoft.com/office/drawing/2014/main" id="{21645911-09BA-E12B-DCE6-45D313D072B3}"/>
              </a:ext>
            </a:extLst>
          </p:cNvPr>
          <p:cNvSpPr txBox="1"/>
          <p:nvPr/>
        </p:nvSpPr>
        <p:spPr>
          <a:xfrm>
            <a:off x="9239251" y="4046284"/>
            <a:ext cx="2698749" cy="2031325"/>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在语法成分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结束后，我们从静态栈栈顶获取到</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的运算结果，并将其赋值给相应符号（变量</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，此时完成了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的处理，我们取消对</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操作的标记</a:t>
            </a:r>
          </a:p>
        </p:txBody>
      </p:sp>
      <p:sp>
        <p:nvSpPr>
          <p:cNvPr id="70" name="文本框 69">
            <a:extLst>
              <a:ext uri="{FF2B5EF4-FFF2-40B4-BE49-F238E27FC236}">
                <a16:creationId xmlns:a16="http://schemas.microsoft.com/office/drawing/2014/main" id="{5F4ACEC6-7488-2E55-FE5C-2B499BE6E80E}"/>
              </a:ext>
            </a:extLst>
          </p:cNvPr>
          <p:cNvSpPr txBox="1"/>
          <p:nvPr/>
        </p:nvSpPr>
        <p:spPr>
          <a:xfrm>
            <a:off x="8294387" y="6048596"/>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5</a:t>
            </a:r>
            <a:endParaRPr lang="zh-CN" altLang="en-US" dirty="0">
              <a:latin typeface="楷体" panose="02010609060101010101" pitchFamily="49" charset="-122"/>
              <a:ea typeface="楷体" panose="02010609060101010101" pitchFamily="49" charset="-122"/>
            </a:endParaRPr>
          </a:p>
        </p:txBody>
      </p:sp>
      <p:sp>
        <p:nvSpPr>
          <p:cNvPr id="71" name="文本框 70">
            <a:extLst>
              <a:ext uri="{FF2B5EF4-FFF2-40B4-BE49-F238E27FC236}">
                <a16:creationId xmlns:a16="http://schemas.microsoft.com/office/drawing/2014/main" id="{B682B768-4478-8769-6670-A4D3A4A1ECE7}"/>
              </a:ext>
            </a:extLst>
          </p:cNvPr>
          <p:cNvSpPr txBox="1"/>
          <p:nvPr/>
        </p:nvSpPr>
        <p:spPr>
          <a:xfrm>
            <a:off x="9106428" y="6048596"/>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pop()</a:t>
            </a:r>
            <a:endParaRPr lang="zh-CN" altLang="en-US" dirty="0">
              <a:latin typeface="楷体" panose="02010609060101010101" pitchFamily="49" charset="-122"/>
              <a:ea typeface="楷体" panose="02010609060101010101" pitchFamily="49" charset="-122"/>
            </a:endParaRPr>
          </a:p>
        </p:txBody>
      </p:sp>
      <p:cxnSp>
        <p:nvCxnSpPr>
          <p:cNvPr id="75" name="直接连接符 74">
            <a:extLst>
              <a:ext uri="{FF2B5EF4-FFF2-40B4-BE49-F238E27FC236}">
                <a16:creationId xmlns:a16="http://schemas.microsoft.com/office/drawing/2014/main" id="{4156E6BD-C378-6616-9EE0-A57C5437B7FB}"/>
              </a:ext>
            </a:extLst>
          </p:cNvPr>
          <p:cNvCxnSpPr/>
          <p:nvPr/>
        </p:nvCxnSpPr>
        <p:spPr>
          <a:xfrm flipH="1">
            <a:off x="7461250" y="6276464"/>
            <a:ext cx="285749" cy="0"/>
          </a:xfrm>
          <a:prstGeom prst="line">
            <a:avLst/>
          </a:prstGeom>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F8967F91-B084-3E41-9213-1BC8B52DD30F}"/>
              </a:ext>
            </a:extLst>
          </p:cNvPr>
          <p:cNvCxnSpPr/>
          <p:nvPr/>
        </p:nvCxnSpPr>
        <p:spPr>
          <a:xfrm flipV="1">
            <a:off x="7461250" y="3053204"/>
            <a:ext cx="0" cy="3223260"/>
          </a:xfrm>
          <a:prstGeom prst="line">
            <a:avLst/>
          </a:prstGeom>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05BB8F21-B057-5639-110B-8A33ECF131DB}"/>
              </a:ext>
            </a:extLst>
          </p:cNvPr>
          <p:cNvCxnSpPr>
            <a:cxnSpLocks/>
          </p:cNvCxnSpPr>
          <p:nvPr/>
        </p:nvCxnSpPr>
        <p:spPr>
          <a:xfrm>
            <a:off x="7461250" y="3053204"/>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61177136"/>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p:tgtEl>
                                          <p:spTgt spid="8"/>
                                        </p:tgtEl>
                                        <p:attrNameLst>
                                          <p:attrName>ppt_y</p:attrName>
                                        </p:attrNameLst>
                                      </p:cBhvr>
                                      <p:tavLst>
                                        <p:tav tm="0">
                                          <p:val>
                                            <p:strVal val="#ppt_y+#ppt_h*1.125000"/>
                                          </p:val>
                                        </p:tav>
                                        <p:tav tm="100000">
                                          <p:val>
                                            <p:strVal val="#ppt_y"/>
                                          </p:val>
                                        </p:tav>
                                      </p:tavLst>
                                    </p:anim>
                                    <p:animEffect transition="in" filter="wipe(up)">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p:tgtEl>
                                          <p:spTgt spid="31"/>
                                        </p:tgtEl>
                                        <p:attrNameLst>
                                          <p:attrName>ppt_y</p:attrName>
                                        </p:attrNameLst>
                                      </p:cBhvr>
                                      <p:tavLst>
                                        <p:tav tm="0">
                                          <p:val>
                                            <p:strVal val="#ppt_y+#ppt_h*1.125000"/>
                                          </p:val>
                                        </p:tav>
                                        <p:tav tm="100000">
                                          <p:val>
                                            <p:strVal val="#ppt_y"/>
                                          </p:val>
                                        </p:tav>
                                      </p:tavLst>
                                    </p:anim>
                                    <p:animEffect transition="in" filter="wipe(up)">
                                      <p:cBhvr>
                                        <p:cTn id="23" dur="500"/>
                                        <p:tgtEl>
                                          <p:spTgt spid="31"/>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p:tgtEl>
                                          <p:spTgt spid="51"/>
                                        </p:tgtEl>
                                        <p:attrNameLst>
                                          <p:attrName>ppt_y</p:attrName>
                                        </p:attrNameLst>
                                      </p:cBhvr>
                                      <p:tavLst>
                                        <p:tav tm="0">
                                          <p:val>
                                            <p:strVal val="#ppt_y+#ppt_h*1.125000"/>
                                          </p:val>
                                        </p:tav>
                                        <p:tav tm="100000">
                                          <p:val>
                                            <p:strVal val="#ppt_y"/>
                                          </p:val>
                                        </p:tav>
                                      </p:tavLst>
                                    </p:anim>
                                    <p:animEffect transition="in" filter="wipe(up)">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1" grpId="0"/>
      <p:bldP spid="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F977-B0BD-6A87-3784-83B297477FAA}"/>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0A70875-B102-C7C7-C26B-A1F27E4F5497}"/>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C69C4448-7406-90EB-CE0B-4C2D8F5E52D7}"/>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B4B5778-B009-56B8-8D2C-6FDBCD91657A}"/>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F001FD68-3983-E74F-EDE7-B60582FCE33E}"/>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8" name="矩形 7">
            <a:extLst>
              <a:ext uri="{FF2B5EF4-FFF2-40B4-BE49-F238E27FC236}">
                <a16:creationId xmlns:a16="http://schemas.microsoft.com/office/drawing/2014/main" id="{EAA511AC-4C41-C753-14F0-D31F9832CB8B}"/>
              </a:ext>
            </a:extLst>
          </p:cNvPr>
          <p:cNvSpPr/>
          <p:nvPr/>
        </p:nvSpPr>
        <p:spPr>
          <a:xfrm>
            <a:off x="516466" y="824252"/>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16" name="组合 15">
            <a:extLst>
              <a:ext uri="{FF2B5EF4-FFF2-40B4-BE49-F238E27FC236}">
                <a16:creationId xmlns:a16="http://schemas.microsoft.com/office/drawing/2014/main" id="{AC97ED10-6CB5-1ABD-C271-2B80FDE76DBC}"/>
              </a:ext>
            </a:extLst>
          </p:cNvPr>
          <p:cNvGrpSpPr/>
          <p:nvPr/>
        </p:nvGrpSpPr>
        <p:grpSpPr>
          <a:xfrm>
            <a:off x="264583" y="2526546"/>
            <a:ext cx="2631017" cy="1315204"/>
            <a:chOff x="188686" y="2659896"/>
            <a:chExt cx="2813050" cy="1315204"/>
          </a:xfrm>
        </p:grpSpPr>
        <p:sp>
          <p:nvSpPr>
            <p:cNvPr id="11" name="矩形 10">
              <a:extLst>
                <a:ext uri="{FF2B5EF4-FFF2-40B4-BE49-F238E27FC236}">
                  <a16:creationId xmlns:a16="http://schemas.microsoft.com/office/drawing/2014/main" id="{57A73742-A2E0-DAFC-36D0-EDF03A277CEA}"/>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94B4EBF6-3774-8DEB-7533-D48F4561C2A9}"/>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3" name="直接连接符 12">
              <a:extLst>
                <a:ext uri="{FF2B5EF4-FFF2-40B4-BE49-F238E27FC236}">
                  <a16:creationId xmlns:a16="http://schemas.microsoft.com/office/drawing/2014/main" id="{93E8953F-EDDB-040D-FE85-E6290D3E6A7C}"/>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74089C8E-726B-1D30-8B97-A55DBF8C7BA7}"/>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9817F629-EAE5-FB25-911D-1B1207794BA9}"/>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17" name="文本框 16">
            <a:extLst>
              <a:ext uri="{FF2B5EF4-FFF2-40B4-BE49-F238E27FC236}">
                <a16:creationId xmlns:a16="http://schemas.microsoft.com/office/drawing/2014/main" id="{2957D17D-9E93-C476-EBF7-E469D007B07C}"/>
              </a:ext>
            </a:extLst>
          </p:cNvPr>
          <p:cNvSpPr txBox="1"/>
          <p:nvPr/>
        </p:nvSpPr>
        <p:spPr>
          <a:xfrm>
            <a:off x="1129243" y="2882757"/>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   =   5</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A65C872A-1531-50FC-A7E4-A20BB503BEC1}"/>
              </a:ext>
            </a:extLst>
          </p:cNvPr>
          <p:cNvSpPr txBox="1"/>
          <p:nvPr/>
        </p:nvSpPr>
        <p:spPr>
          <a:xfrm>
            <a:off x="1129243" y="3184148"/>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   =   9</a:t>
            </a:r>
            <a:endParaRPr lang="zh-CN" altLang="en-US"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AB8B4F33-26C9-5948-E8BD-0D8894650EF7}"/>
              </a:ext>
            </a:extLst>
          </p:cNvPr>
          <p:cNvSpPr txBox="1"/>
          <p:nvPr/>
        </p:nvSpPr>
        <p:spPr>
          <a:xfrm>
            <a:off x="1414991" y="3472419"/>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grpSp>
        <p:nvGrpSpPr>
          <p:cNvPr id="26" name="组合 25">
            <a:extLst>
              <a:ext uri="{FF2B5EF4-FFF2-40B4-BE49-F238E27FC236}">
                <a16:creationId xmlns:a16="http://schemas.microsoft.com/office/drawing/2014/main" id="{01ECF50A-89E2-7FF0-36C3-55BF8BF8D8CB}"/>
              </a:ext>
            </a:extLst>
          </p:cNvPr>
          <p:cNvGrpSpPr/>
          <p:nvPr/>
        </p:nvGrpSpPr>
        <p:grpSpPr>
          <a:xfrm>
            <a:off x="335491" y="4465134"/>
            <a:ext cx="1079500" cy="2020548"/>
            <a:chOff x="1040341" y="4013201"/>
            <a:chExt cx="1079500" cy="2020548"/>
          </a:xfrm>
        </p:grpSpPr>
        <p:sp>
          <p:nvSpPr>
            <p:cNvPr id="20" name="矩形 19">
              <a:extLst>
                <a:ext uri="{FF2B5EF4-FFF2-40B4-BE49-F238E27FC236}">
                  <a16:creationId xmlns:a16="http://schemas.microsoft.com/office/drawing/2014/main" id="{C10C3FAF-4DCF-4986-78B7-99145AF197F6}"/>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6D125AB0-ABC4-21B0-0B92-B75AD0F16151}"/>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BB611184-3746-9BD1-093E-F869DD1F1369}"/>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BA95AF73-FE93-2E02-3FAE-A36BFE546211}"/>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5F07366E-0EE0-8D4C-7D45-D0F2BD11644F}"/>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27" name="文本框 26">
            <a:extLst>
              <a:ext uri="{FF2B5EF4-FFF2-40B4-BE49-F238E27FC236}">
                <a16:creationId xmlns:a16="http://schemas.microsoft.com/office/drawing/2014/main" id="{BC9A8DE8-1D76-7913-5B60-D6B8CF8C1D91}"/>
              </a:ext>
            </a:extLst>
          </p:cNvPr>
          <p:cNvSpPr txBox="1"/>
          <p:nvPr/>
        </p:nvSpPr>
        <p:spPr>
          <a:xfrm>
            <a:off x="511327" y="3987309"/>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29" name="文本框 28">
            <a:extLst>
              <a:ext uri="{FF2B5EF4-FFF2-40B4-BE49-F238E27FC236}">
                <a16:creationId xmlns:a16="http://schemas.microsoft.com/office/drawing/2014/main" id="{11810164-74A5-335E-4941-BF240C3A7F7D}"/>
              </a:ext>
            </a:extLst>
          </p:cNvPr>
          <p:cNvSpPr txBox="1"/>
          <p:nvPr/>
        </p:nvSpPr>
        <p:spPr>
          <a:xfrm>
            <a:off x="2608262" y="1852696"/>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30" name="文本框 29">
            <a:extLst>
              <a:ext uri="{FF2B5EF4-FFF2-40B4-BE49-F238E27FC236}">
                <a16:creationId xmlns:a16="http://schemas.microsoft.com/office/drawing/2014/main" id="{31F71B43-048D-7250-AF71-615297D376C5}"/>
              </a:ext>
            </a:extLst>
          </p:cNvPr>
          <p:cNvSpPr txBox="1"/>
          <p:nvPr/>
        </p:nvSpPr>
        <p:spPr>
          <a:xfrm>
            <a:off x="1616910" y="4094414"/>
            <a:ext cx="2210706" cy="2585323"/>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(4) </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常量</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的处理与</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保持一致，在此不重复演示，现在来看</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的处理。当我们通过</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处理得到语法成分</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时，我们从符号表中查询符号的值，存入栈顶</a:t>
            </a:r>
          </a:p>
        </p:txBody>
      </p:sp>
      <p:sp>
        <p:nvSpPr>
          <p:cNvPr id="31" name="矩形 30">
            <a:extLst>
              <a:ext uri="{FF2B5EF4-FFF2-40B4-BE49-F238E27FC236}">
                <a16:creationId xmlns:a16="http://schemas.microsoft.com/office/drawing/2014/main" id="{9BA8546B-CE09-D739-6605-8A147EBAA239}"/>
              </a:ext>
            </a:extLst>
          </p:cNvPr>
          <p:cNvSpPr/>
          <p:nvPr/>
        </p:nvSpPr>
        <p:spPr>
          <a:xfrm>
            <a:off x="4252383" y="781050"/>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32" name="组合 31">
            <a:extLst>
              <a:ext uri="{FF2B5EF4-FFF2-40B4-BE49-F238E27FC236}">
                <a16:creationId xmlns:a16="http://schemas.microsoft.com/office/drawing/2014/main" id="{2552E663-238B-EA5F-B9BE-9F19D91A55EE}"/>
              </a:ext>
            </a:extLst>
          </p:cNvPr>
          <p:cNvGrpSpPr/>
          <p:nvPr/>
        </p:nvGrpSpPr>
        <p:grpSpPr>
          <a:xfrm>
            <a:off x="4000500" y="2483344"/>
            <a:ext cx="2631017" cy="1315204"/>
            <a:chOff x="188686" y="2659896"/>
            <a:chExt cx="2813050" cy="1315204"/>
          </a:xfrm>
        </p:grpSpPr>
        <p:sp>
          <p:nvSpPr>
            <p:cNvPr id="33" name="矩形 32">
              <a:extLst>
                <a:ext uri="{FF2B5EF4-FFF2-40B4-BE49-F238E27FC236}">
                  <a16:creationId xmlns:a16="http://schemas.microsoft.com/office/drawing/2014/main" id="{AE727775-6916-8C64-6DB4-DEE43AEE1484}"/>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A14650A0-41E3-083E-B0C2-A6E25B96CA70}"/>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35" name="直接连接符 34">
              <a:extLst>
                <a:ext uri="{FF2B5EF4-FFF2-40B4-BE49-F238E27FC236}">
                  <a16:creationId xmlns:a16="http://schemas.microsoft.com/office/drawing/2014/main" id="{2C0536A3-410B-41CE-978C-9658DC22CD3E}"/>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7891942A-740A-301E-68A4-F659623F9970}"/>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8557AD3C-D9C9-A588-EE3B-DD6B17BB7F72}"/>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38" name="文本框 37">
            <a:extLst>
              <a:ext uri="{FF2B5EF4-FFF2-40B4-BE49-F238E27FC236}">
                <a16:creationId xmlns:a16="http://schemas.microsoft.com/office/drawing/2014/main" id="{9C4EEC55-B756-D603-F0F9-24CCF5A10FEE}"/>
              </a:ext>
            </a:extLst>
          </p:cNvPr>
          <p:cNvSpPr txBox="1"/>
          <p:nvPr/>
        </p:nvSpPr>
        <p:spPr>
          <a:xfrm>
            <a:off x="4909838" y="2831415"/>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   =   5</a:t>
            </a:r>
            <a:endParaRPr lang="zh-CN" altLang="en-US"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4EBA33EB-8C5F-0B7F-A64A-99ED5B7493C4}"/>
              </a:ext>
            </a:extLst>
          </p:cNvPr>
          <p:cNvSpPr txBox="1"/>
          <p:nvPr/>
        </p:nvSpPr>
        <p:spPr>
          <a:xfrm>
            <a:off x="4902729" y="3128865"/>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   =   9</a:t>
            </a:r>
            <a:endParaRPr lang="zh-CN" altLang="en-US"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E746753D-48CD-297F-54A5-4F5168948675}"/>
              </a:ext>
            </a:extLst>
          </p:cNvPr>
          <p:cNvSpPr txBox="1"/>
          <p:nvPr/>
        </p:nvSpPr>
        <p:spPr>
          <a:xfrm>
            <a:off x="5196416" y="3422546"/>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grpSp>
        <p:nvGrpSpPr>
          <p:cNvPr id="41" name="组合 40">
            <a:extLst>
              <a:ext uri="{FF2B5EF4-FFF2-40B4-BE49-F238E27FC236}">
                <a16:creationId xmlns:a16="http://schemas.microsoft.com/office/drawing/2014/main" id="{B4892674-EFD7-EADE-8CF6-87D1F204F99C}"/>
              </a:ext>
            </a:extLst>
          </p:cNvPr>
          <p:cNvGrpSpPr/>
          <p:nvPr/>
        </p:nvGrpSpPr>
        <p:grpSpPr>
          <a:xfrm>
            <a:off x="4071408" y="4421932"/>
            <a:ext cx="1079500" cy="2020548"/>
            <a:chOff x="1040341" y="4013201"/>
            <a:chExt cx="1079500" cy="2020548"/>
          </a:xfrm>
        </p:grpSpPr>
        <p:sp>
          <p:nvSpPr>
            <p:cNvPr id="42" name="矩形 41">
              <a:extLst>
                <a:ext uri="{FF2B5EF4-FFF2-40B4-BE49-F238E27FC236}">
                  <a16:creationId xmlns:a16="http://schemas.microsoft.com/office/drawing/2014/main" id="{30E0AA5C-474F-4D5D-070B-840EE869EBF5}"/>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3B0FD3EA-4382-0338-FD16-B36FC29A1F75}"/>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628BAA71-CE16-F94E-69CF-C44D1EF42BC7}"/>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A1A63CFB-EED4-B260-E9EC-7F03D064A645}"/>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2B3A3035-9822-E0BC-CA78-A5A4E89CE511}"/>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47" name="文本框 46">
            <a:extLst>
              <a:ext uri="{FF2B5EF4-FFF2-40B4-BE49-F238E27FC236}">
                <a16:creationId xmlns:a16="http://schemas.microsoft.com/office/drawing/2014/main" id="{1933E7D0-7EA9-A857-3E80-4EEC11D21EEF}"/>
              </a:ext>
            </a:extLst>
          </p:cNvPr>
          <p:cNvSpPr txBox="1"/>
          <p:nvPr/>
        </p:nvSpPr>
        <p:spPr>
          <a:xfrm>
            <a:off x="4247244" y="3944107"/>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48" name="文本框 47">
            <a:extLst>
              <a:ext uri="{FF2B5EF4-FFF2-40B4-BE49-F238E27FC236}">
                <a16:creationId xmlns:a16="http://schemas.microsoft.com/office/drawing/2014/main" id="{E0A66C50-AD4A-09F4-9635-8D59BDF53283}"/>
              </a:ext>
            </a:extLst>
          </p:cNvPr>
          <p:cNvSpPr txBox="1"/>
          <p:nvPr/>
        </p:nvSpPr>
        <p:spPr>
          <a:xfrm>
            <a:off x="6334655" y="1804015"/>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49" name="文本框 48">
            <a:extLst>
              <a:ext uri="{FF2B5EF4-FFF2-40B4-BE49-F238E27FC236}">
                <a16:creationId xmlns:a16="http://schemas.microsoft.com/office/drawing/2014/main" id="{9389A274-1B77-2EAC-20C6-B0A2B9699325}"/>
              </a:ext>
            </a:extLst>
          </p:cNvPr>
          <p:cNvSpPr txBox="1"/>
          <p:nvPr/>
        </p:nvSpPr>
        <p:spPr>
          <a:xfrm>
            <a:off x="5291137" y="4133749"/>
            <a:ext cx="2159377" cy="2862322"/>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在处理得到语法成分</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AddExp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的时候，发现此时开启了对</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的处理，于是选择从静态栈中获取栈顶与次栈顶的操作进行运算，将运算结果存回静态栈</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文本框 49">
            <a:extLst>
              <a:ext uri="{FF2B5EF4-FFF2-40B4-BE49-F238E27FC236}">
                <a16:creationId xmlns:a16="http://schemas.microsoft.com/office/drawing/2014/main" id="{B27C4119-CC3D-6A8A-91F1-1DB87ED9D81C}"/>
              </a:ext>
            </a:extLst>
          </p:cNvPr>
          <p:cNvSpPr txBox="1"/>
          <p:nvPr/>
        </p:nvSpPr>
        <p:spPr>
          <a:xfrm>
            <a:off x="4452638" y="6048596"/>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14</a:t>
            </a:r>
            <a:endParaRPr lang="zh-CN" altLang="en-US" dirty="0">
              <a:latin typeface="楷体" panose="02010609060101010101" pitchFamily="49" charset="-122"/>
              <a:ea typeface="楷体" panose="02010609060101010101" pitchFamily="49" charset="-122"/>
            </a:endParaRPr>
          </a:p>
        </p:txBody>
      </p:sp>
      <p:sp>
        <p:nvSpPr>
          <p:cNvPr id="51" name="矩形 50">
            <a:extLst>
              <a:ext uri="{FF2B5EF4-FFF2-40B4-BE49-F238E27FC236}">
                <a16:creationId xmlns:a16="http://schemas.microsoft.com/office/drawing/2014/main" id="{DA523215-338E-4CA1-EC51-C314C18586D0}"/>
              </a:ext>
            </a:extLst>
          </p:cNvPr>
          <p:cNvSpPr/>
          <p:nvPr/>
        </p:nvSpPr>
        <p:spPr>
          <a:xfrm>
            <a:off x="8094132" y="781050"/>
            <a:ext cx="2309284" cy="1421988"/>
          </a:xfrm>
          <a:prstGeom prst="rect">
            <a:avLst/>
          </a:prstGeom>
        </p:spPr>
        <p:txBody>
          <a:bodyPr wrap="square" lIns="91436" tIns="45718" rIns="91436" bIns="45718">
            <a:spAutoFit/>
          </a:bodyPr>
          <a:lstStyle/>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a = 5;</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b = 9;</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Const int c = a + b;</a:t>
            </a:r>
          </a:p>
        </p:txBody>
      </p:sp>
      <p:grpSp>
        <p:nvGrpSpPr>
          <p:cNvPr id="52" name="组合 51">
            <a:extLst>
              <a:ext uri="{FF2B5EF4-FFF2-40B4-BE49-F238E27FC236}">
                <a16:creationId xmlns:a16="http://schemas.microsoft.com/office/drawing/2014/main" id="{07110EFC-8851-26EC-B4FA-924A69366AD3}"/>
              </a:ext>
            </a:extLst>
          </p:cNvPr>
          <p:cNvGrpSpPr/>
          <p:nvPr/>
        </p:nvGrpSpPr>
        <p:grpSpPr>
          <a:xfrm>
            <a:off x="7842249" y="2483344"/>
            <a:ext cx="2631017" cy="1315204"/>
            <a:chOff x="188686" y="2659896"/>
            <a:chExt cx="2813050" cy="1315204"/>
          </a:xfrm>
        </p:grpSpPr>
        <p:sp>
          <p:nvSpPr>
            <p:cNvPr id="53" name="矩形 52">
              <a:extLst>
                <a:ext uri="{FF2B5EF4-FFF2-40B4-BE49-F238E27FC236}">
                  <a16:creationId xmlns:a16="http://schemas.microsoft.com/office/drawing/2014/main" id="{7DE2A3B1-850A-628A-2E6C-2FB12ADFC666}"/>
                </a:ext>
              </a:extLst>
            </p:cNvPr>
            <p:cNvSpPr/>
            <p:nvPr/>
          </p:nvSpPr>
          <p:spPr>
            <a:xfrm>
              <a:off x="188686" y="2659896"/>
              <a:ext cx="2813050" cy="1315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BD13525D-7231-7AA2-D0CA-91E2C02CC1DD}"/>
                </a:ext>
              </a:extLst>
            </p:cNvPr>
            <p:cNvSpPr txBox="1"/>
            <p:nvPr/>
          </p:nvSpPr>
          <p:spPr>
            <a:xfrm>
              <a:off x="478366" y="2690739"/>
              <a:ext cx="2385483"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符号表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Symbol Table</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5" name="直接连接符 54">
              <a:extLst>
                <a:ext uri="{FF2B5EF4-FFF2-40B4-BE49-F238E27FC236}">
                  <a16:creationId xmlns:a16="http://schemas.microsoft.com/office/drawing/2014/main" id="{5FF46139-7266-99D1-12BD-8C1E969DCFD5}"/>
                </a:ext>
              </a:extLst>
            </p:cNvPr>
            <p:cNvCxnSpPr/>
            <p:nvPr/>
          </p:nvCxnSpPr>
          <p:spPr>
            <a:xfrm>
              <a:off x="188686" y="306007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888FD5D7-B491-FDF9-1956-2437FD92208A}"/>
                </a:ext>
              </a:extLst>
            </p:cNvPr>
            <p:cNvCxnSpPr/>
            <p:nvPr/>
          </p:nvCxnSpPr>
          <p:spPr>
            <a:xfrm>
              <a:off x="188686" y="3345821"/>
              <a:ext cx="2813050" cy="0"/>
            </a:xfrm>
            <a:prstGeom prst="line">
              <a:avLst/>
            </a:prstGeom>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46DAC848-31C9-E93E-305B-7323A3E9DC19}"/>
                </a:ext>
              </a:extLst>
            </p:cNvPr>
            <p:cNvCxnSpPr/>
            <p:nvPr/>
          </p:nvCxnSpPr>
          <p:spPr>
            <a:xfrm>
              <a:off x="188686" y="3656971"/>
              <a:ext cx="2813050" cy="0"/>
            </a:xfrm>
            <a:prstGeom prst="line">
              <a:avLst/>
            </a:prstGeom>
          </p:spPr>
          <p:style>
            <a:lnRef idx="1">
              <a:schemeClr val="dk1"/>
            </a:lnRef>
            <a:fillRef idx="0">
              <a:schemeClr val="dk1"/>
            </a:fillRef>
            <a:effectRef idx="0">
              <a:schemeClr val="dk1"/>
            </a:effectRef>
            <a:fontRef idx="minor">
              <a:schemeClr val="tx1"/>
            </a:fontRef>
          </p:style>
        </p:cxnSp>
      </p:grpSp>
      <p:sp>
        <p:nvSpPr>
          <p:cNvPr id="58" name="文本框 57">
            <a:extLst>
              <a:ext uri="{FF2B5EF4-FFF2-40B4-BE49-F238E27FC236}">
                <a16:creationId xmlns:a16="http://schemas.microsoft.com/office/drawing/2014/main" id="{1CE82456-88CB-7370-4D6E-D0DA8B9A7D95}"/>
              </a:ext>
            </a:extLst>
          </p:cNvPr>
          <p:cNvSpPr txBox="1"/>
          <p:nvPr/>
        </p:nvSpPr>
        <p:spPr>
          <a:xfrm>
            <a:off x="8671983" y="2850388"/>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   =   5</a:t>
            </a:r>
            <a:endParaRPr lang="zh-CN" altLang="en-US" dirty="0">
              <a:latin typeface="Times New Roman" panose="02020603050405020304" pitchFamily="18" charset="0"/>
              <a:cs typeface="Times New Roman" panose="02020603050405020304" pitchFamily="18" charset="0"/>
            </a:endParaRPr>
          </a:p>
        </p:txBody>
      </p:sp>
      <p:sp>
        <p:nvSpPr>
          <p:cNvPr id="59" name="文本框 58">
            <a:extLst>
              <a:ext uri="{FF2B5EF4-FFF2-40B4-BE49-F238E27FC236}">
                <a16:creationId xmlns:a16="http://schemas.microsoft.com/office/drawing/2014/main" id="{ED9269AF-3529-AD1D-6DCA-1B0BFAC95032}"/>
              </a:ext>
            </a:extLst>
          </p:cNvPr>
          <p:cNvSpPr txBox="1"/>
          <p:nvPr/>
        </p:nvSpPr>
        <p:spPr>
          <a:xfrm>
            <a:off x="8670395" y="3103087"/>
            <a:ext cx="25717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   =   9</a:t>
            </a:r>
            <a:endParaRPr lang="zh-CN" altLang="en-US" dirty="0">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28F16BB9-0C83-E999-48F0-E603A80EA937}"/>
              </a:ext>
            </a:extLst>
          </p:cNvPr>
          <p:cNvSpPr txBox="1"/>
          <p:nvPr/>
        </p:nvSpPr>
        <p:spPr>
          <a:xfrm>
            <a:off x="8670395" y="3403379"/>
            <a:ext cx="2585509"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c   =   14</a:t>
            </a:r>
            <a:endParaRPr lang="zh-CN" altLang="en-US" dirty="0">
              <a:latin typeface="Times New Roman" panose="02020603050405020304" pitchFamily="18" charset="0"/>
              <a:cs typeface="Times New Roman" panose="02020603050405020304" pitchFamily="18" charset="0"/>
            </a:endParaRPr>
          </a:p>
        </p:txBody>
      </p:sp>
      <p:grpSp>
        <p:nvGrpSpPr>
          <p:cNvPr id="61" name="组合 60">
            <a:extLst>
              <a:ext uri="{FF2B5EF4-FFF2-40B4-BE49-F238E27FC236}">
                <a16:creationId xmlns:a16="http://schemas.microsoft.com/office/drawing/2014/main" id="{37877099-BE00-8A75-03EC-B3D868B5E3D1}"/>
              </a:ext>
            </a:extLst>
          </p:cNvPr>
          <p:cNvGrpSpPr/>
          <p:nvPr/>
        </p:nvGrpSpPr>
        <p:grpSpPr>
          <a:xfrm>
            <a:off x="7913157" y="4421932"/>
            <a:ext cx="1079500" cy="2020548"/>
            <a:chOff x="1040341" y="4013201"/>
            <a:chExt cx="1079500" cy="2020548"/>
          </a:xfrm>
        </p:grpSpPr>
        <p:sp>
          <p:nvSpPr>
            <p:cNvPr id="62" name="矩形 61">
              <a:extLst>
                <a:ext uri="{FF2B5EF4-FFF2-40B4-BE49-F238E27FC236}">
                  <a16:creationId xmlns:a16="http://schemas.microsoft.com/office/drawing/2014/main" id="{A5C64F3B-BBF8-80F2-3CE6-AD8DE6FAD670}"/>
                </a:ext>
              </a:extLst>
            </p:cNvPr>
            <p:cNvSpPr/>
            <p:nvPr/>
          </p:nvSpPr>
          <p:spPr>
            <a:xfrm>
              <a:off x="1040341" y="4013201"/>
              <a:ext cx="1079500" cy="20205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C8E9A5CC-ABEA-0494-0B83-6F3A08DB34A7}"/>
                </a:ext>
              </a:extLst>
            </p:cNvPr>
            <p:cNvCxnSpPr/>
            <p:nvPr/>
          </p:nvCxnSpPr>
          <p:spPr>
            <a:xfrm>
              <a:off x="1040341" y="44196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2BCD2C95-660C-BD3D-643B-00D6B6227B46}"/>
                </a:ext>
              </a:extLst>
            </p:cNvPr>
            <p:cNvCxnSpPr/>
            <p:nvPr/>
          </p:nvCxnSpPr>
          <p:spPr>
            <a:xfrm>
              <a:off x="1040341" y="4813300"/>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B524258C-D6D8-64F4-55DD-0E5530E2B6C7}"/>
                </a:ext>
              </a:extLst>
            </p:cNvPr>
            <p:cNvCxnSpPr/>
            <p:nvPr/>
          </p:nvCxnSpPr>
          <p:spPr>
            <a:xfrm>
              <a:off x="1040341" y="5206536"/>
              <a:ext cx="1079500" cy="0"/>
            </a:xfrm>
            <a:prstGeom prst="line">
              <a:avLst/>
            </a:prstGeom>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8DB128A7-F0EA-B088-0FBF-8AA4317E71FE}"/>
                </a:ext>
              </a:extLst>
            </p:cNvPr>
            <p:cNvCxnSpPr/>
            <p:nvPr/>
          </p:nvCxnSpPr>
          <p:spPr>
            <a:xfrm>
              <a:off x="1040341" y="5600700"/>
              <a:ext cx="1079500" cy="0"/>
            </a:xfrm>
            <a:prstGeom prst="line">
              <a:avLst/>
            </a:prstGeom>
          </p:spPr>
          <p:style>
            <a:lnRef idx="1">
              <a:schemeClr val="dk1"/>
            </a:lnRef>
            <a:fillRef idx="0">
              <a:schemeClr val="dk1"/>
            </a:fillRef>
            <a:effectRef idx="0">
              <a:schemeClr val="dk1"/>
            </a:effectRef>
            <a:fontRef idx="minor">
              <a:schemeClr val="tx1"/>
            </a:fontRef>
          </p:style>
        </p:cxnSp>
      </p:grpSp>
      <p:sp>
        <p:nvSpPr>
          <p:cNvPr id="67" name="文本框 66">
            <a:extLst>
              <a:ext uri="{FF2B5EF4-FFF2-40B4-BE49-F238E27FC236}">
                <a16:creationId xmlns:a16="http://schemas.microsoft.com/office/drawing/2014/main" id="{1B371C71-7AC9-EA4B-85F1-110099242B94}"/>
              </a:ext>
            </a:extLst>
          </p:cNvPr>
          <p:cNvSpPr txBox="1"/>
          <p:nvPr/>
        </p:nvSpPr>
        <p:spPr>
          <a:xfrm>
            <a:off x="8088993" y="3944107"/>
            <a:ext cx="914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静态栈</a:t>
            </a:r>
          </a:p>
        </p:txBody>
      </p:sp>
      <p:sp>
        <p:nvSpPr>
          <p:cNvPr id="68" name="文本框 67">
            <a:extLst>
              <a:ext uri="{FF2B5EF4-FFF2-40B4-BE49-F238E27FC236}">
                <a16:creationId xmlns:a16="http://schemas.microsoft.com/office/drawing/2014/main" id="{08BC7700-9FE3-B5DC-B2AA-80D227771460}"/>
              </a:ext>
            </a:extLst>
          </p:cNvPr>
          <p:cNvSpPr txBox="1"/>
          <p:nvPr/>
        </p:nvSpPr>
        <p:spPr>
          <a:xfrm>
            <a:off x="9887102" y="907875"/>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
        <p:nvSpPr>
          <p:cNvPr id="69" name="文本框 68">
            <a:extLst>
              <a:ext uri="{FF2B5EF4-FFF2-40B4-BE49-F238E27FC236}">
                <a16:creationId xmlns:a16="http://schemas.microsoft.com/office/drawing/2014/main" id="{BAA3B8AC-6D0D-7CD1-9094-FD56475E152A}"/>
              </a:ext>
            </a:extLst>
          </p:cNvPr>
          <p:cNvSpPr txBox="1"/>
          <p:nvPr/>
        </p:nvSpPr>
        <p:spPr>
          <a:xfrm>
            <a:off x="9179452" y="4103783"/>
            <a:ext cx="2698753" cy="2031325"/>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在语法成分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结束后，我们从静态栈栈顶获取到</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的运算结果，并将其赋值给相应符号（变量</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此时完成了</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ConstExp</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的处理，我们取消对</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Const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操作的标记</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0" name="文本框 69">
            <a:extLst>
              <a:ext uri="{FF2B5EF4-FFF2-40B4-BE49-F238E27FC236}">
                <a16:creationId xmlns:a16="http://schemas.microsoft.com/office/drawing/2014/main" id="{73666332-A954-14AB-1866-985CC0440D64}"/>
              </a:ext>
            </a:extLst>
          </p:cNvPr>
          <p:cNvSpPr txBox="1"/>
          <p:nvPr/>
        </p:nvSpPr>
        <p:spPr>
          <a:xfrm>
            <a:off x="8294387" y="6048596"/>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14</a:t>
            </a:r>
            <a:endParaRPr lang="zh-CN" altLang="en-US" dirty="0">
              <a:latin typeface="楷体" panose="02010609060101010101" pitchFamily="49" charset="-122"/>
              <a:ea typeface="楷体" panose="02010609060101010101" pitchFamily="49" charset="-122"/>
            </a:endParaRPr>
          </a:p>
        </p:txBody>
      </p:sp>
      <p:sp>
        <p:nvSpPr>
          <p:cNvPr id="71" name="文本框 70">
            <a:extLst>
              <a:ext uri="{FF2B5EF4-FFF2-40B4-BE49-F238E27FC236}">
                <a16:creationId xmlns:a16="http://schemas.microsoft.com/office/drawing/2014/main" id="{AE06A7C0-B4AE-A29D-432D-C96A337D3BEB}"/>
              </a:ext>
            </a:extLst>
          </p:cNvPr>
          <p:cNvSpPr txBox="1"/>
          <p:nvPr/>
        </p:nvSpPr>
        <p:spPr>
          <a:xfrm>
            <a:off x="9106428" y="6048596"/>
            <a:ext cx="914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pop()</a:t>
            </a:r>
            <a:endParaRPr lang="zh-CN" altLang="en-US" dirty="0">
              <a:latin typeface="楷体" panose="02010609060101010101" pitchFamily="49" charset="-122"/>
              <a:ea typeface="楷体" panose="02010609060101010101" pitchFamily="49" charset="-122"/>
            </a:endParaRPr>
          </a:p>
        </p:txBody>
      </p:sp>
      <p:cxnSp>
        <p:nvCxnSpPr>
          <p:cNvPr id="75" name="直接连接符 74">
            <a:extLst>
              <a:ext uri="{FF2B5EF4-FFF2-40B4-BE49-F238E27FC236}">
                <a16:creationId xmlns:a16="http://schemas.microsoft.com/office/drawing/2014/main" id="{88FBE7A8-C8EE-AC36-FD1A-7521F93C2288}"/>
              </a:ext>
            </a:extLst>
          </p:cNvPr>
          <p:cNvCxnSpPr/>
          <p:nvPr/>
        </p:nvCxnSpPr>
        <p:spPr>
          <a:xfrm flipH="1">
            <a:off x="7461250" y="6276464"/>
            <a:ext cx="285749" cy="0"/>
          </a:xfrm>
          <a:prstGeom prst="line">
            <a:avLst/>
          </a:prstGeom>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E3525CEC-FB38-339C-B45B-BDB7FD965C23}"/>
              </a:ext>
            </a:extLst>
          </p:cNvPr>
          <p:cNvCxnSpPr>
            <a:cxnSpLocks/>
          </p:cNvCxnSpPr>
          <p:nvPr/>
        </p:nvCxnSpPr>
        <p:spPr>
          <a:xfrm flipH="1" flipV="1">
            <a:off x="7450514" y="3607212"/>
            <a:ext cx="10736" cy="2669252"/>
          </a:xfrm>
          <a:prstGeom prst="line">
            <a:avLst/>
          </a:prstGeom>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3ACE8DFE-E7DD-C5A8-73CA-23251637DE96}"/>
              </a:ext>
            </a:extLst>
          </p:cNvPr>
          <p:cNvCxnSpPr>
            <a:cxnSpLocks/>
          </p:cNvCxnSpPr>
          <p:nvPr/>
        </p:nvCxnSpPr>
        <p:spPr>
          <a:xfrm>
            <a:off x="7451724" y="3599599"/>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文本框 1">
            <a:extLst>
              <a:ext uri="{FF2B5EF4-FFF2-40B4-BE49-F238E27FC236}">
                <a16:creationId xmlns:a16="http://schemas.microsoft.com/office/drawing/2014/main" id="{412DCB96-E462-C96E-617C-9BDC2F306EFF}"/>
              </a:ext>
            </a:extLst>
          </p:cNvPr>
          <p:cNvSpPr txBox="1"/>
          <p:nvPr/>
        </p:nvSpPr>
        <p:spPr>
          <a:xfrm>
            <a:off x="690032" y="6073148"/>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9</a:t>
            </a:r>
            <a:endParaRPr lang="zh-CN" altLang="en-US" dirty="0">
              <a:latin typeface="楷体" panose="02010609060101010101" pitchFamily="49" charset="-122"/>
              <a:ea typeface="楷体" panose="02010609060101010101" pitchFamily="49" charset="-122"/>
            </a:endParaRPr>
          </a:p>
        </p:txBody>
      </p:sp>
      <p:sp>
        <p:nvSpPr>
          <p:cNvPr id="3" name="文本框 2">
            <a:extLst>
              <a:ext uri="{FF2B5EF4-FFF2-40B4-BE49-F238E27FC236}">
                <a16:creationId xmlns:a16="http://schemas.microsoft.com/office/drawing/2014/main" id="{ED1F5243-F1D8-265A-CA62-20BF5974A536}"/>
              </a:ext>
            </a:extLst>
          </p:cNvPr>
          <p:cNvSpPr txBox="1"/>
          <p:nvPr/>
        </p:nvSpPr>
        <p:spPr>
          <a:xfrm>
            <a:off x="702510" y="5670885"/>
            <a:ext cx="914400"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5</a:t>
            </a:r>
            <a:endParaRPr lang="zh-CN" altLang="en-US" dirty="0">
              <a:latin typeface="楷体" panose="02010609060101010101" pitchFamily="49" charset="-122"/>
              <a:ea typeface="楷体" panose="02010609060101010101" pitchFamily="49" charset="-122"/>
            </a:endParaRPr>
          </a:p>
        </p:txBody>
      </p:sp>
      <p:cxnSp>
        <p:nvCxnSpPr>
          <p:cNvPr id="12" name="直接箭头连接符 11">
            <a:extLst>
              <a:ext uri="{FF2B5EF4-FFF2-40B4-BE49-F238E27FC236}">
                <a16:creationId xmlns:a16="http://schemas.microsoft.com/office/drawing/2014/main" id="{6A8B7B24-D65E-74E2-F1A3-61C331BB48F1}"/>
              </a:ext>
            </a:extLst>
          </p:cNvPr>
          <p:cNvCxnSpPr/>
          <p:nvPr/>
        </p:nvCxnSpPr>
        <p:spPr>
          <a:xfrm>
            <a:off x="875241" y="3067423"/>
            <a:ext cx="0" cy="2685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BD934F1-70CB-36C3-7EBE-A441248166EC}"/>
              </a:ext>
            </a:extLst>
          </p:cNvPr>
          <p:cNvCxnSpPr>
            <a:cxnSpLocks/>
          </p:cNvCxnSpPr>
          <p:nvPr/>
        </p:nvCxnSpPr>
        <p:spPr>
          <a:xfrm>
            <a:off x="535668" y="3387471"/>
            <a:ext cx="0" cy="2909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1582"/>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p:tgtEl>
                                          <p:spTgt spid="8"/>
                                        </p:tgtEl>
                                        <p:attrNameLst>
                                          <p:attrName>ppt_y</p:attrName>
                                        </p:attrNameLst>
                                      </p:cBhvr>
                                      <p:tavLst>
                                        <p:tav tm="0">
                                          <p:val>
                                            <p:strVal val="#ppt_y+#ppt_h*1.125000"/>
                                          </p:val>
                                        </p:tav>
                                        <p:tav tm="100000">
                                          <p:val>
                                            <p:strVal val="#ppt_y"/>
                                          </p:val>
                                        </p:tav>
                                      </p:tavLst>
                                    </p:anim>
                                    <p:animEffect transition="in" filter="wipe(up)">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p:tgtEl>
                                          <p:spTgt spid="31"/>
                                        </p:tgtEl>
                                        <p:attrNameLst>
                                          <p:attrName>ppt_y</p:attrName>
                                        </p:attrNameLst>
                                      </p:cBhvr>
                                      <p:tavLst>
                                        <p:tav tm="0">
                                          <p:val>
                                            <p:strVal val="#ppt_y+#ppt_h*1.125000"/>
                                          </p:val>
                                        </p:tav>
                                        <p:tav tm="100000">
                                          <p:val>
                                            <p:strVal val="#ppt_y"/>
                                          </p:val>
                                        </p:tav>
                                      </p:tavLst>
                                    </p:anim>
                                    <p:animEffect transition="in" filter="wipe(up)">
                                      <p:cBhvr>
                                        <p:cTn id="23" dur="500"/>
                                        <p:tgtEl>
                                          <p:spTgt spid="31"/>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p:tgtEl>
                                          <p:spTgt spid="51"/>
                                        </p:tgtEl>
                                        <p:attrNameLst>
                                          <p:attrName>ppt_y</p:attrName>
                                        </p:attrNameLst>
                                      </p:cBhvr>
                                      <p:tavLst>
                                        <p:tav tm="0">
                                          <p:val>
                                            <p:strVal val="#ppt_y+#ppt_h*1.125000"/>
                                          </p:val>
                                        </p:tav>
                                        <p:tav tm="100000">
                                          <p:val>
                                            <p:strVal val="#ppt_y"/>
                                          </p:val>
                                        </p:tav>
                                      </p:tavLst>
                                    </p:anim>
                                    <p:animEffect transition="in" filter="wipe(up)">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1" grpId="0"/>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0A8E8-09D2-DFF0-77E6-F778CA115FBF}"/>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5E330FD-8232-B6EE-B5D5-98FCA07EDA7B}"/>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2A9F788D-C039-19C2-8436-F21EF7D3894A}"/>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21A7A7-9E2D-9233-C2E3-1B1ED097E521}"/>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B8CF9D5D-6662-52F7-EBA9-876F2F4D39CD}"/>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1A9050DF-3407-5F1D-5091-6B7A179ABFD2}"/>
              </a:ext>
            </a:extLst>
          </p:cNvPr>
          <p:cNvSpPr/>
          <p:nvPr/>
        </p:nvSpPr>
        <p:spPr>
          <a:xfrm>
            <a:off x="440267" y="824594"/>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1A60C984-81E4-5377-5BC4-F97048EF8CFB}"/>
              </a:ext>
            </a:extLst>
          </p:cNvPr>
          <p:cNvSpPr/>
          <p:nvPr/>
        </p:nvSpPr>
        <p:spPr>
          <a:xfrm>
            <a:off x="95160" y="1545347"/>
            <a:ext cx="11639439" cy="5112229"/>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我们考虑以下三条代码：</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(1)  a[</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 function(1,2,3);</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(2)  </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printf</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n”,a</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(3) a[</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 b[</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我们会发现：上述三条代码中都用到了</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这个语法结构，但是对于</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的使用出现了两种不同的方式：赋值与取值。</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这两种方式在处理上有何不同呢？我们回忆</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LOD</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STO</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指令，不难发现：</a:t>
            </a:r>
            <a:r>
              <a:rPr lang="zh-CN" altLang="en-US"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在赋值的时候我们所需要的信息是变量的地址</a:t>
            </a:r>
            <a:r>
              <a:rPr lang="en-US" altLang="zh-CN"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address,</a:t>
            </a:r>
            <a:r>
              <a:rPr lang="zh-CN" altLang="en-US"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而在取值的时候我们需要的信息是变量在地址中的值</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。因此对于</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的处理会相对特殊：我们需要考虑</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取值和赋值</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两种不同状态下的处理情况。</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71541129"/>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AA0BD-12AC-6401-4E00-3437DE9CEE92}"/>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4D30E7C0-9C27-4AB3-C5B0-2E4595C6B00C}"/>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D0147000-EBA6-94AE-AA09-2D795C5E1241}"/>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9EB02A5-F240-E57F-F085-DF7629331607}"/>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BE6C747C-BC39-5322-94DB-2820B697DB83}"/>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E7779DE2-0FC6-07F3-98CB-061071C8DC36}"/>
              </a:ext>
            </a:extLst>
          </p:cNvPr>
          <p:cNvSpPr/>
          <p:nvPr/>
        </p:nvSpPr>
        <p:spPr>
          <a:xfrm>
            <a:off x="223021" y="831578"/>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ADFD5479-49A7-359A-1111-B10893E32C11}"/>
              </a:ext>
            </a:extLst>
          </p:cNvPr>
          <p:cNvSpPr/>
          <p:nvPr/>
        </p:nvSpPr>
        <p:spPr>
          <a:xfrm>
            <a:off x="95160" y="1545347"/>
            <a:ext cx="11639439" cy="498659"/>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F44063C1-A5BE-0B8E-97FB-D1381986AA18}"/>
              </a:ext>
            </a:extLst>
          </p:cNvPr>
          <p:cNvSpPr txBox="1"/>
          <p:nvPr/>
        </p:nvSpPr>
        <p:spPr>
          <a:xfrm>
            <a:off x="6372579" y="1029405"/>
            <a:ext cx="1733550" cy="461665"/>
          </a:xfrm>
          <a:prstGeom prst="rect">
            <a:avLst/>
          </a:prstGeom>
          <a:noFill/>
        </p:spPr>
        <p:txBody>
          <a:bodyPr wrap="square" rtlCol="0">
            <a:spAutoFit/>
          </a:bodyPr>
          <a:lstStyle/>
          <a:p>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Lval</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赋值</a:t>
            </a:r>
          </a:p>
        </p:txBody>
      </p:sp>
      <p:sp>
        <p:nvSpPr>
          <p:cNvPr id="11" name="文本框 10">
            <a:extLst>
              <a:ext uri="{FF2B5EF4-FFF2-40B4-BE49-F238E27FC236}">
                <a16:creationId xmlns:a16="http://schemas.microsoft.com/office/drawing/2014/main" id="{065CC46B-91F4-B350-8100-FBA4FA53E446}"/>
              </a:ext>
            </a:extLst>
          </p:cNvPr>
          <p:cNvSpPr txBox="1"/>
          <p:nvPr/>
        </p:nvSpPr>
        <p:spPr>
          <a:xfrm>
            <a:off x="6470740" y="1955123"/>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是否为参数？</a:t>
            </a:r>
          </a:p>
        </p:txBody>
      </p:sp>
      <p:cxnSp>
        <p:nvCxnSpPr>
          <p:cNvPr id="13" name="直接箭头连接符 12">
            <a:extLst>
              <a:ext uri="{FF2B5EF4-FFF2-40B4-BE49-F238E27FC236}">
                <a16:creationId xmlns:a16="http://schemas.microsoft.com/office/drawing/2014/main" id="{7EFEEF41-7525-4EBF-B973-FB8CBA2880E7}"/>
              </a:ext>
            </a:extLst>
          </p:cNvPr>
          <p:cNvCxnSpPr/>
          <p:nvPr/>
        </p:nvCxnSpPr>
        <p:spPr>
          <a:xfrm>
            <a:off x="7118440" y="1542373"/>
            <a:ext cx="0" cy="412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A671F864-13A0-E338-F80C-A4A07E240021}"/>
              </a:ext>
            </a:extLst>
          </p:cNvPr>
          <p:cNvSpPr txBox="1"/>
          <p:nvPr/>
        </p:nvSpPr>
        <p:spPr>
          <a:xfrm>
            <a:off x="5330915" y="2970027"/>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是否为数组？</a:t>
            </a:r>
          </a:p>
        </p:txBody>
      </p:sp>
      <p:sp>
        <p:nvSpPr>
          <p:cNvPr id="15" name="文本框 14">
            <a:extLst>
              <a:ext uri="{FF2B5EF4-FFF2-40B4-BE49-F238E27FC236}">
                <a16:creationId xmlns:a16="http://schemas.microsoft.com/office/drawing/2014/main" id="{CF449AF9-1621-8209-EADB-8FD1758B6F8C}"/>
              </a:ext>
            </a:extLst>
          </p:cNvPr>
          <p:cNvSpPr txBox="1"/>
          <p:nvPr/>
        </p:nvSpPr>
        <p:spPr>
          <a:xfrm>
            <a:off x="7821637" y="2985252"/>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是否为数组？</a:t>
            </a:r>
          </a:p>
        </p:txBody>
      </p:sp>
      <p:cxnSp>
        <p:nvCxnSpPr>
          <p:cNvPr id="16" name="直接箭头连接符 15">
            <a:extLst>
              <a:ext uri="{FF2B5EF4-FFF2-40B4-BE49-F238E27FC236}">
                <a16:creationId xmlns:a16="http://schemas.microsoft.com/office/drawing/2014/main" id="{133D9B37-005C-4BE3-CE47-46FEB447F902}"/>
              </a:ext>
            </a:extLst>
          </p:cNvPr>
          <p:cNvCxnSpPr>
            <a:cxnSpLocks/>
          </p:cNvCxnSpPr>
          <p:nvPr/>
        </p:nvCxnSpPr>
        <p:spPr>
          <a:xfrm flipH="1">
            <a:off x="6172290" y="2468867"/>
            <a:ext cx="540279" cy="333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9F2241AB-029F-79B1-E1EC-429A8BF0C364}"/>
              </a:ext>
            </a:extLst>
          </p:cNvPr>
          <p:cNvCxnSpPr>
            <a:cxnSpLocks/>
          </p:cNvCxnSpPr>
          <p:nvPr/>
        </p:nvCxnSpPr>
        <p:spPr>
          <a:xfrm>
            <a:off x="7762965" y="2487492"/>
            <a:ext cx="501584" cy="301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6F67FDC-B12B-63FB-BADD-513D67D03B7C}"/>
              </a:ext>
            </a:extLst>
          </p:cNvPr>
          <p:cNvSpPr txBox="1"/>
          <p:nvPr/>
        </p:nvSpPr>
        <p:spPr>
          <a:xfrm>
            <a:off x="5922458" y="2330099"/>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22" name="文本框 21">
            <a:extLst>
              <a:ext uri="{FF2B5EF4-FFF2-40B4-BE49-F238E27FC236}">
                <a16:creationId xmlns:a16="http://schemas.microsoft.com/office/drawing/2014/main" id="{D76504B1-9805-33E7-F326-5898B8A82E02}"/>
              </a:ext>
            </a:extLst>
          </p:cNvPr>
          <p:cNvSpPr txBox="1"/>
          <p:nvPr/>
        </p:nvSpPr>
        <p:spPr>
          <a:xfrm>
            <a:off x="8023315" y="2325485"/>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28" name="文本框 27">
            <a:extLst>
              <a:ext uri="{FF2B5EF4-FFF2-40B4-BE49-F238E27FC236}">
                <a16:creationId xmlns:a16="http://schemas.microsoft.com/office/drawing/2014/main" id="{83DC1742-8F19-A50D-9AFC-78245431061C}"/>
              </a:ext>
            </a:extLst>
          </p:cNvPr>
          <p:cNvSpPr txBox="1"/>
          <p:nvPr/>
        </p:nvSpPr>
        <p:spPr>
          <a:xfrm>
            <a:off x="4827546" y="3368923"/>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29" name="文本框 28">
            <a:extLst>
              <a:ext uri="{FF2B5EF4-FFF2-40B4-BE49-F238E27FC236}">
                <a16:creationId xmlns:a16="http://schemas.microsoft.com/office/drawing/2014/main" id="{52CDC347-49DF-2265-63B8-F203CEB0EB21}"/>
              </a:ext>
            </a:extLst>
          </p:cNvPr>
          <p:cNvSpPr txBox="1"/>
          <p:nvPr/>
        </p:nvSpPr>
        <p:spPr>
          <a:xfrm>
            <a:off x="6513997" y="3547925"/>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30" name="文本框 29">
            <a:extLst>
              <a:ext uri="{FF2B5EF4-FFF2-40B4-BE49-F238E27FC236}">
                <a16:creationId xmlns:a16="http://schemas.microsoft.com/office/drawing/2014/main" id="{ED250B1E-6C60-7889-A194-06217EFB8831}"/>
              </a:ext>
            </a:extLst>
          </p:cNvPr>
          <p:cNvSpPr txBox="1"/>
          <p:nvPr/>
        </p:nvSpPr>
        <p:spPr>
          <a:xfrm>
            <a:off x="7615791" y="3538200"/>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31" name="文本框 30">
            <a:extLst>
              <a:ext uri="{FF2B5EF4-FFF2-40B4-BE49-F238E27FC236}">
                <a16:creationId xmlns:a16="http://schemas.microsoft.com/office/drawing/2014/main" id="{D2C40A97-125A-F01E-C2F3-5ADECA44E23E}"/>
              </a:ext>
            </a:extLst>
          </p:cNvPr>
          <p:cNvSpPr txBox="1"/>
          <p:nvPr/>
        </p:nvSpPr>
        <p:spPr>
          <a:xfrm>
            <a:off x="9715656" y="3368923"/>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32" name="文本框 31">
            <a:extLst>
              <a:ext uri="{FF2B5EF4-FFF2-40B4-BE49-F238E27FC236}">
                <a16:creationId xmlns:a16="http://schemas.microsoft.com/office/drawing/2014/main" id="{BADD5E7D-92D4-74A9-0505-31114F3052BE}"/>
              </a:ext>
            </a:extLst>
          </p:cNvPr>
          <p:cNvSpPr txBox="1"/>
          <p:nvPr/>
        </p:nvSpPr>
        <p:spPr>
          <a:xfrm>
            <a:off x="3544873" y="4002992"/>
            <a:ext cx="2181225" cy="2585323"/>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重点：</a:t>
            </a:r>
            <a:r>
              <a:rPr lang="zh-CN" altLang="en-US" dirty="0">
                <a:latin typeface="楷体" panose="02010609060101010101" pitchFamily="49" charset="-122"/>
                <a:ea typeface="楷体" panose="02010609060101010101" pitchFamily="49" charset="-122"/>
              </a:rPr>
              <a:t>此时参数的值就是数组基地址，根据偏移量存入值。</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具体来说，</a:t>
            </a:r>
            <a:r>
              <a:rPr lang="zh-CN" altLang="en-US" dirty="0">
                <a:solidFill>
                  <a:srgbClr val="FF0000"/>
                </a:solidFill>
                <a:latin typeface="楷体" panose="02010609060101010101" pitchFamily="49" charset="-122"/>
                <a:ea typeface="楷体" panose="02010609060101010101" pitchFamily="49" charset="-122"/>
              </a:rPr>
              <a:t>先从</a:t>
            </a:r>
            <a:r>
              <a:rPr lang="en-US" altLang="zh-CN" dirty="0">
                <a:solidFill>
                  <a:srgbClr val="FF0000"/>
                </a:solidFill>
                <a:latin typeface="楷体" panose="02010609060101010101" pitchFamily="49" charset="-122"/>
                <a:ea typeface="楷体" panose="02010609060101010101" pitchFamily="49" charset="-122"/>
              </a:rPr>
              <a:t>AR</a:t>
            </a:r>
            <a:r>
              <a:rPr lang="zh-CN" altLang="en-US" dirty="0">
                <a:solidFill>
                  <a:srgbClr val="FF0000"/>
                </a:solidFill>
                <a:latin typeface="楷体" panose="02010609060101010101" pitchFamily="49" charset="-122"/>
                <a:ea typeface="楷体" panose="02010609060101010101" pitchFamily="49" charset="-122"/>
              </a:rPr>
              <a:t>中加载参数的值，之后将参数的值作为数组基地址处理</a:t>
            </a:r>
            <a:endParaRPr lang="en-US" altLang="zh-CN" dirty="0">
              <a:solidFill>
                <a:srgbClr val="FF0000"/>
              </a:solidFill>
              <a:latin typeface="楷体" panose="02010609060101010101" pitchFamily="49" charset="-122"/>
              <a:ea typeface="楷体" panose="02010609060101010101" pitchFamily="49" charset="-122"/>
            </a:endParaRPr>
          </a:p>
          <a:p>
            <a:endParaRPr lang="zh-CN" altLang="en-US" b="1" dirty="0">
              <a:solidFill>
                <a:srgbClr val="FF0000"/>
              </a:solidFill>
            </a:endParaRPr>
          </a:p>
        </p:txBody>
      </p:sp>
      <p:sp>
        <p:nvSpPr>
          <p:cNvPr id="33" name="文本框 32">
            <a:extLst>
              <a:ext uri="{FF2B5EF4-FFF2-40B4-BE49-F238E27FC236}">
                <a16:creationId xmlns:a16="http://schemas.microsoft.com/office/drawing/2014/main" id="{37B23BB9-85FC-AB65-92B1-A804B7680DD3}"/>
              </a:ext>
            </a:extLst>
          </p:cNvPr>
          <p:cNvSpPr txBox="1"/>
          <p:nvPr/>
        </p:nvSpPr>
        <p:spPr>
          <a:xfrm>
            <a:off x="5784306" y="4603156"/>
            <a:ext cx="1871702"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直接将表达式的值存入参数区</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此时的</a:t>
            </a:r>
            <a:r>
              <a:rPr lang="en-US" altLang="zh-CN" dirty="0">
                <a:latin typeface="楷体" panose="02010609060101010101" pitchFamily="49" charset="-122"/>
                <a:ea typeface="楷体" panose="02010609060101010101" pitchFamily="49" charset="-122"/>
              </a:rPr>
              <a:t>offset</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0</a:t>
            </a:r>
            <a:endParaRPr lang="zh-CN" altLang="en-US" dirty="0">
              <a:latin typeface="楷体" panose="02010609060101010101" pitchFamily="49" charset="-122"/>
              <a:ea typeface="楷体" panose="02010609060101010101" pitchFamily="49" charset="-122"/>
            </a:endParaRPr>
          </a:p>
        </p:txBody>
      </p:sp>
      <p:sp>
        <p:nvSpPr>
          <p:cNvPr id="34" name="文本框 33">
            <a:extLst>
              <a:ext uri="{FF2B5EF4-FFF2-40B4-BE49-F238E27FC236}">
                <a16:creationId xmlns:a16="http://schemas.microsoft.com/office/drawing/2014/main" id="{DFC4A964-AFE5-5888-2816-6D16669F1292}"/>
              </a:ext>
            </a:extLst>
          </p:cNvPr>
          <p:cNvSpPr txBox="1"/>
          <p:nvPr/>
        </p:nvSpPr>
        <p:spPr>
          <a:xfrm>
            <a:off x="7762965" y="4529647"/>
            <a:ext cx="1901825"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将值存入变量区</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需要注意此时的</a:t>
            </a:r>
            <a:r>
              <a:rPr lang="en-US" altLang="zh-CN" dirty="0">
                <a:latin typeface="楷体" panose="02010609060101010101" pitchFamily="49" charset="-122"/>
                <a:ea typeface="楷体" panose="02010609060101010101" pitchFamily="49" charset="-122"/>
              </a:rPr>
              <a:t>offset</a:t>
            </a:r>
            <a:r>
              <a:rPr lang="zh-CN" altLang="en-US" dirty="0">
                <a:latin typeface="楷体" panose="02010609060101010101" pitchFamily="49" charset="-122"/>
                <a:ea typeface="楷体" panose="02010609060101010101" pitchFamily="49" charset="-122"/>
              </a:rPr>
              <a:t>为数组下标的值</a:t>
            </a:r>
          </a:p>
        </p:txBody>
      </p:sp>
      <p:sp>
        <p:nvSpPr>
          <p:cNvPr id="35" name="文本框 34">
            <a:extLst>
              <a:ext uri="{FF2B5EF4-FFF2-40B4-BE49-F238E27FC236}">
                <a16:creationId xmlns:a16="http://schemas.microsoft.com/office/drawing/2014/main" id="{068546C4-39E4-ED8F-2765-B8417A5CADCC}"/>
              </a:ext>
            </a:extLst>
          </p:cNvPr>
          <p:cNvSpPr txBox="1"/>
          <p:nvPr/>
        </p:nvSpPr>
        <p:spPr>
          <a:xfrm>
            <a:off x="10076098" y="4002992"/>
            <a:ext cx="2020742" cy="923330"/>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将值存入变量区</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需要注意设置此时的</a:t>
            </a:r>
            <a:r>
              <a:rPr lang="en-US" altLang="zh-CN" dirty="0">
                <a:latin typeface="楷体" panose="02010609060101010101" pitchFamily="49" charset="-122"/>
                <a:ea typeface="楷体" panose="02010609060101010101" pitchFamily="49" charset="-122"/>
              </a:rPr>
              <a:t>offset</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0</a:t>
            </a:r>
            <a:endParaRPr lang="zh-CN" altLang="en-US" dirty="0">
              <a:latin typeface="楷体" panose="02010609060101010101" pitchFamily="49" charset="-122"/>
              <a:ea typeface="楷体" panose="02010609060101010101" pitchFamily="49" charset="-122"/>
            </a:endParaRPr>
          </a:p>
        </p:txBody>
      </p:sp>
      <p:cxnSp>
        <p:nvCxnSpPr>
          <p:cNvPr id="73" name="直接箭头连接符 72">
            <a:extLst>
              <a:ext uri="{FF2B5EF4-FFF2-40B4-BE49-F238E27FC236}">
                <a16:creationId xmlns:a16="http://schemas.microsoft.com/office/drawing/2014/main" id="{C08C0C13-B137-4AF9-E9BC-B27B22E425E7}"/>
              </a:ext>
            </a:extLst>
          </p:cNvPr>
          <p:cNvCxnSpPr>
            <a:cxnSpLocks/>
          </p:cNvCxnSpPr>
          <p:nvPr/>
        </p:nvCxnSpPr>
        <p:spPr>
          <a:xfrm flipH="1">
            <a:off x="5009711" y="3511426"/>
            <a:ext cx="540279" cy="333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3FC63E6-D7E9-B7F8-6520-AF56200BED2A}"/>
              </a:ext>
            </a:extLst>
          </p:cNvPr>
          <p:cNvCxnSpPr>
            <a:cxnSpLocks/>
          </p:cNvCxnSpPr>
          <p:nvPr/>
        </p:nvCxnSpPr>
        <p:spPr>
          <a:xfrm>
            <a:off x="6372579" y="3667068"/>
            <a:ext cx="0" cy="671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A9D8B8DC-1DA7-F6CB-8E90-3C10443AE12B}"/>
              </a:ext>
            </a:extLst>
          </p:cNvPr>
          <p:cNvCxnSpPr>
            <a:cxnSpLocks/>
          </p:cNvCxnSpPr>
          <p:nvPr/>
        </p:nvCxnSpPr>
        <p:spPr>
          <a:xfrm>
            <a:off x="9321956" y="3489135"/>
            <a:ext cx="558734" cy="355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66E7C2BE-8731-3818-9DB1-E0ADCCC7B226}"/>
              </a:ext>
            </a:extLst>
          </p:cNvPr>
          <p:cNvCxnSpPr>
            <a:cxnSpLocks/>
          </p:cNvCxnSpPr>
          <p:nvPr/>
        </p:nvCxnSpPr>
        <p:spPr>
          <a:xfrm>
            <a:off x="8183587" y="3667068"/>
            <a:ext cx="0" cy="671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矩形 82">
            <a:extLst>
              <a:ext uri="{FF2B5EF4-FFF2-40B4-BE49-F238E27FC236}">
                <a16:creationId xmlns:a16="http://schemas.microsoft.com/office/drawing/2014/main" id="{D0F115C5-CF4A-38AE-4714-18A3A10CB706}"/>
              </a:ext>
            </a:extLst>
          </p:cNvPr>
          <p:cNvSpPr/>
          <p:nvPr/>
        </p:nvSpPr>
        <p:spPr>
          <a:xfrm>
            <a:off x="223021" y="1748748"/>
            <a:ext cx="3478289" cy="4653642"/>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在这里对于</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的存取操作提供了一套处理的流程，其中</a:t>
            </a:r>
            <a:r>
              <a:rPr lang="en-US" altLang="zh-CN" sz="2000"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的处理重点在于处理函数参数的情况</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参数的存取需要重点考虑：</a:t>
            </a:r>
            <a:r>
              <a:rPr lang="zh-CN" altLang="en-US"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参数是数组地址的存取，参数是函数的参数的存取，参数是函数参数同时为数组的存取</a:t>
            </a:r>
            <a:endParaRPr lang="en-US" altLang="zh-CN" sz="20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82551197"/>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83"/>
                                        </p:tgtEl>
                                        <p:attrNameLst>
                                          <p:attrName>style.visibility</p:attrName>
                                        </p:attrNameLst>
                                      </p:cBhvr>
                                      <p:to>
                                        <p:strVal val="visible"/>
                                      </p:to>
                                    </p:set>
                                    <p:anim calcmode="lin" valueType="num">
                                      <p:cBhvr additive="base">
                                        <p:cTn id="26" dur="500"/>
                                        <p:tgtEl>
                                          <p:spTgt spid="83"/>
                                        </p:tgtEl>
                                        <p:attrNameLst>
                                          <p:attrName>ppt_y</p:attrName>
                                        </p:attrNameLst>
                                      </p:cBhvr>
                                      <p:tavLst>
                                        <p:tav tm="0">
                                          <p:val>
                                            <p:strVal val="#ppt_y+#ppt_h*1.125000"/>
                                          </p:val>
                                        </p:tav>
                                        <p:tav tm="100000">
                                          <p:val>
                                            <p:strVal val="#ppt_y"/>
                                          </p:val>
                                        </p:tav>
                                      </p:tavLst>
                                    </p:anim>
                                    <p:animEffect transition="in" filter="wipe(up)">
                                      <p:cBhvr>
                                        <p:cTn id="2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8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E5BA7-E474-05C5-9080-A83F5D073406}"/>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4FC7B87E-36F8-C9EE-A4F7-ADA5F3E18E26}"/>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DE975E34-EE13-62D9-22A0-D013AB10AF80}"/>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C935158-FFB9-58AE-688C-BDD32CD7A4BB}"/>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F51EF10F-DBB0-BB78-D346-CA6ED6100ED2}"/>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a:t>
            </a:r>
            <a:r>
              <a:rPr lang="en-US" altLang="zh-CN" sz="3600" b="1" dirty="0">
                <a:solidFill>
                  <a:srgbClr val="3E4150"/>
                </a:solidFill>
                <a:latin typeface="微软雅黑" panose="020B0503020204020204" pitchFamily="34" charset="-122"/>
                <a:ea typeface="微软雅黑" panose="020B0503020204020204" pitchFamily="34" charset="-122"/>
              </a:rPr>
              <a:t>——</a:t>
            </a:r>
            <a:r>
              <a:rPr lang="zh-CN" altLang="en-US" sz="3600" b="1" dirty="0">
                <a:solidFill>
                  <a:srgbClr val="3E4150"/>
                </a:solidFill>
                <a:latin typeface="微软雅黑" panose="020B0503020204020204" pitchFamily="34" charset="-122"/>
                <a:ea typeface="微软雅黑" panose="020B0503020204020204" pitchFamily="34" charset="-122"/>
              </a:rPr>
              <a:t>语法处理</a:t>
            </a:r>
          </a:p>
        </p:txBody>
      </p:sp>
      <p:sp>
        <p:nvSpPr>
          <p:cNvPr id="2" name="矩形 1">
            <a:extLst>
              <a:ext uri="{FF2B5EF4-FFF2-40B4-BE49-F238E27FC236}">
                <a16:creationId xmlns:a16="http://schemas.microsoft.com/office/drawing/2014/main" id="{0DFD7C3C-12DD-0B99-9A27-14DEC155392F}"/>
              </a:ext>
            </a:extLst>
          </p:cNvPr>
          <p:cNvSpPr/>
          <p:nvPr/>
        </p:nvSpPr>
        <p:spPr>
          <a:xfrm>
            <a:off x="363515" y="868032"/>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3BC1B768-9CBA-5DE5-AED6-7F38DD94858C}"/>
              </a:ext>
            </a:extLst>
          </p:cNvPr>
          <p:cNvSpPr/>
          <p:nvPr/>
        </p:nvSpPr>
        <p:spPr>
          <a:xfrm>
            <a:off x="-535621" y="1499109"/>
            <a:ext cx="11639439" cy="498659"/>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B6D74691-AF91-AFE6-D326-D96ABE3EBCEA}"/>
              </a:ext>
            </a:extLst>
          </p:cNvPr>
          <p:cNvSpPr txBox="1"/>
          <p:nvPr/>
        </p:nvSpPr>
        <p:spPr>
          <a:xfrm>
            <a:off x="5284099" y="864349"/>
            <a:ext cx="1733550" cy="461665"/>
          </a:xfrm>
          <a:prstGeom prst="rect">
            <a:avLst/>
          </a:prstGeom>
          <a:noFill/>
        </p:spPr>
        <p:txBody>
          <a:bodyPr wrap="square" rtlCol="0">
            <a:spAutoFit/>
          </a:bodyPr>
          <a:lstStyle/>
          <a:p>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Lval</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取值</a:t>
            </a:r>
          </a:p>
        </p:txBody>
      </p:sp>
      <p:sp>
        <p:nvSpPr>
          <p:cNvPr id="35" name="文本框 34">
            <a:extLst>
              <a:ext uri="{FF2B5EF4-FFF2-40B4-BE49-F238E27FC236}">
                <a16:creationId xmlns:a16="http://schemas.microsoft.com/office/drawing/2014/main" id="{F88A7911-28C7-CDAA-C4A8-599942501FAF}"/>
              </a:ext>
            </a:extLst>
          </p:cNvPr>
          <p:cNvSpPr txBox="1"/>
          <p:nvPr/>
        </p:nvSpPr>
        <p:spPr>
          <a:xfrm>
            <a:off x="10094911" y="4452621"/>
            <a:ext cx="1977838"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根据</a:t>
            </a:r>
            <a:r>
              <a:rPr lang="en-US" altLang="zh-CN" dirty="0">
                <a:latin typeface="楷体" panose="02010609060101010101" pitchFamily="49" charset="-122"/>
                <a:ea typeface="楷体" panose="02010609060101010101" pitchFamily="49" charset="-122"/>
              </a:rPr>
              <a:t>STO</a:t>
            </a:r>
            <a:r>
              <a:rPr lang="zh-CN" altLang="en-US" dirty="0">
                <a:latin typeface="楷体" panose="02010609060101010101" pitchFamily="49" charset="-122"/>
                <a:ea typeface="楷体" panose="02010609060101010101" pitchFamily="49" charset="-122"/>
              </a:rPr>
              <a:t>语句的相关说明进行取值</a:t>
            </a:r>
          </a:p>
        </p:txBody>
      </p:sp>
      <p:cxnSp>
        <p:nvCxnSpPr>
          <p:cNvPr id="36" name="直接箭头连接符 35">
            <a:extLst>
              <a:ext uri="{FF2B5EF4-FFF2-40B4-BE49-F238E27FC236}">
                <a16:creationId xmlns:a16="http://schemas.microsoft.com/office/drawing/2014/main" id="{7084EC19-CBD5-A39B-8AD2-83E0FC45832B}"/>
              </a:ext>
            </a:extLst>
          </p:cNvPr>
          <p:cNvCxnSpPr/>
          <p:nvPr/>
        </p:nvCxnSpPr>
        <p:spPr>
          <a:xfrm>
            <a:off x="5994805" y="1335689"/>
            <a:ext cx="0" cy="412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7E7DC90-AD71-7A34-EA32-25FA60E0129F}"/>
              </a:ext>
            </a:extLst>
          </p:cNvPr>
          <p:cNvSpPr txBox="1"/>
          <p:nvPr/>
        </p:nvSpPr>
        <p:spPr>
          <a:xfrm>
            <a:off x="5358061" y="1851365"/>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是否为参数？</a:t>
            </a:r>
          </a:p>
        </p:txBody>
      </p:sp>
      <p:sp>
        <p:nvSpPr>
          <p:cNvPr id="38" name="文本框 37">
            <a:extLst>
              <a:ext uri="{FF2B5EF4-FFF2-40B4-BE49-F238E27FC236}">
                <a16:creationId xmlns:a16="http://schemas.microsoft.com/office/drawing/2014/main" id="{B56190BE-1DB8-4048-6A26-AA3D9D853160}"/>
              </a:ext>
            </a:extLst>
          </p:cNvPr>
          <p:cNvSpPr txBox="1"/>
          <p:nvPr/>
        </p:nvSpPr>
        <p:spPr>
          <a:xfrm>
            <a:off x="3956624" y="2826178"/>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是否为地址？</a:t>
            </a:r>
          </a:p>
        </p:txBody>
      </p:sp>
      <p:sp>
        <p:nvSpPr>
          <p:cNvPr id="39" name="文本框 38">
            <a:extLst>
              <a:ext uri="{FF2B5EF4-FFF2-40B4-BE49-F238E27FC236}">
                <a16:creationId xmlns:a16="http://schemas.microsoft.com/office/drawing/2014/main" id="{C6630360-2CDB-7CCA-0AEA-10CA05978905}"/>
              </a:ext>
            </a:extLst>
          </p:cNvPr>
          <p:cNvSpPr txBox="1"/>
          <p:nvPr/>
        </p:nvSpPr>
        <p:spPr>
          <a:xfrm>
            <a:off x="7322124" y="3754604"/>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是否为地址？</a:t>
            </a:r>
          </a:p>
        </p:txBody>
      </p:sp>
      <p:cxnSp>
        <p:nvCxnSpPr>
          <p:cNvPr id="40" name="直接箭头连接符 39">
            <a:extLst>
              <a:ext uri="{FF2B5EF4-FFF2-40B4-BE49-F238E27FC236}">
                <a16:creationId xmlns:a16="http://schemas.microsoft.com/office/drawing/2014/main" id="{A2A6E09D-2B8D-8ABF-C34B-4F10207FA126}"/>
              </a:ext>
            </a:extLst>
          </p:cNvPr>
          <p:cNvCxnSpPr>
            <a:cxnSpLocks/>
          </p:cNvCxnSpPr>
          <p:nvPr/>
        </p:nvCxnSpPr>
        <p:spPr>
          <a:xfrm flipH="1">
            <a:off x="4745353" y="2386083"/>
            <a:ext cx="726488" cy="326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14846BDD-9895-0F32-9523-AD62D099F0E9}"/>
              </a:ext>
            </a:extLst>
          </p:cNvPr>
          <p:cNvCxnSpPr>
            <a:cxnSpLocks/>
          </p:cNvCxnSpPr>
          <p:nvPr/>
        </p:nvCxnSpPr>
        <p:spPr>
          <a:xfrm>
            <a:off x="6630087" y="2398237"/>
            <a:ext cx="775125" cy="290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CFDD6AC-FBDC-DE9F-19DC-ACFBDDB4F435}"/>
              </a:ext>
            </a:extLst>
          </p:cNvPr>
          <p:cNvSpPr txBox="1"/>
          <p:nvPr/>
        </p:nvSpPr>
        <p:spPr>
          <a:xfrm>
            <a:off x="3129046" y="2927241"/>
            <a:ext cx="1733550"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cxnSp>
        <p:nvCxnSpPr>
          <p:cNvPr id="44" name="直接箭头连接符 43">
            <a:extLst>
              <a:ext uri="{FF2B5EF4-FFF2-40B4-BE49-F238E27FC236}">
                <a16:creationId xmlns:a16="http://schemas.microsoft.com/office/drawing/2014/main" id="{19E18F58-4EBE-976B-95ED-2A880EDEEC1D}"/>
              </a:ext>
            </a:extLst>
          </p:cNvPr>
          <p:cNvCxnSpPr>
            <a:cxnSpLocks/>
          </p:cNvCxnSpPr>
          <p:nvPr/>
        </p:nvCxnSpPr>
        <p:spPr>
          <a:xfrm flipH="1">
            <a:off x="3098277" y="3191556"/>
            <a:ext cx="682606" cy="341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624834E9-A368-C4F0-27CA-97E869C87FD5}"/>
              </a:ext>
            </a:extLst>
          </p:cNvPr>
          <p:cNvCxnSpPr>
            <a:cxnSpLocks/>
          </p:cNvCxnSpPr>
          <p:nvPr/>
        </p:nvCxnSpPr>
        <p:spPr>
          <a:xfrm>
            <a:off x="5067316" y="3362783"/>
            <a:ext cx="0" cy="670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DF78AB18-0A2D-A81D-68FE-7518716E8B72}"/>
              </a:ext>
            </a:extLst>
          </p:cNvPr>
          <p:cNvCxnSpPr>
            <a:cxnSpLocks/>
          </p:cNvCxnSpPr>
          <p:nvPr/>
        </p:nvCxnSpPr>
        <p:spPr>
          <a:xfrm>
            <a:off x="8901122" y="4141794"/>
            <a:ext cx="922902" cy="289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4DC745A-304A-65CE-FE2B-F3F7FC0FD4A2}"/>
              </a:ext>
            </a:extLst>
          </p:cNvPr>
          <p:cNvCxnSpPr>
            <a:cxnSpLocks/>
          </p:cNvCxnSpPr>
          <p:nvPr/>
        </p:nvCxnSpPr>
        <p:spPr>
          <a:xfrm>
            <a:off x="7946452" y="4178985"/>
            <a:ext cx="0" cy="653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4C69D098-E558-DE77-9A9B-A2E36197BCAB}"/>
              </a:ext>
            </a:extLst>
          </p:cNvPr>
          <p:cNvSpPr txBox="1"/>
          <p:nvPr/>
        </p:nvSpPr>
        <p:spPr>
          <a:xfrm>
            <a:off x="7557013" y="4367703"/>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55" name="文本框 54">
            <a:extLst>
              <a:ext uri="{FF2B5EF4-FFF2-40B4-BE49-F238E27FC236}">
                <a16:creationId xmlns:a16="http://schemas.microsoft.com/office/drawing/2014/main" id="{C69CF2AA-05AD-4288-3FBC-6D425A78132A}"/>
              </a:ext>
            </a:extLst>
          </p:cNvPr>
          <p:cNvSpPr txBox="1"/>
          <p:nvPr/>
        </p:nvSpPr>
        <p:spPr>
          <a:xfrm>
            <a:off x="7322124" y="2802951"/>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是否为常量</a:t>
            </a:r>
            <a:r>
              <a:rPr lang="zh-CN" altLang="en-US" dirty="0"/>
              <a:t>？</a:t>
            </a:r>
          </a:p>
        </p:txBody>
      </p:sp>
      <p:cxnSp>
        <p:nvCxnSpPr>
          <p:cNvPr id="56" name="直接箭头连接符 55">
            <a:extLst>
              <a:ext uri="{FF2B5EF4-FFF2-40B4-BE49-F238E27FC236}">
                <a16:creationId xmlns:a16="http://schemas.microsoft.com/office/drawing/2014/main" id="{B628E68B-EF28-A59F-23FB-43D34F32C8DF}"/>
              </a:ext>
            </a:extLst>
          </p:cNvPr>
          <p:cNvCxnSpPr/>
          <p:nvPr/>
        </p:nvCxnSpPr>
        <p:spPr>
          <a:xfrm>
            <a:off x="7982524" y="3222625"/>
            <a:ext cx="0" cy="412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1BB03EB6-9CBA-5045-B3DD-E529C83F5222}"/>
              </a:ext>
            </a:extLst>
          </p:cNvPr>
          <p:cNvCxnSpPr>
            <a:cxnSpLocks/>
          </p:cNvCxnSpPr>
          <p:nvPr/>
        </p:nvCxnSpPr>
        <p:spPr>
          <a:xfrm>
            <a:off x="8925855" y="3010844"/>
            <a:ext cx="5610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4B658F87-B085-D220-1759-18517ED78B8B}"/>
              </a:ext>
            </a:extLst>
          </p:cNvPr>
          <p:cNvSpPr txBox="1"/>
          <p:nvPr/>
        </p:nvSpPr>
        <p:spPr>
          <a:xfrm>
            <a:off x="8995216" y="2601990"/>
            <a:ext cx="402784"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64" name="文本框 63">
            <a:extLst>
              <a:ext uri="{FF2B5EF4-FFF2-40B4-BE49-F238E27FC236}">
                <a16:creationId xmlns:a16="http://schemas.microsoft.com/office/drawing/2014/main" id="{BFA2EA20-3461-EE0C-2A6B-AD39F63EA2D7}"/>
              </a:ext>
            </a:extLst>
          </p:cNvPr>
          <p:cNvSpPr txBox="1"/>
          <p:nvPr/>
        </p:nvSpPr>
        <p:spPr>
          <a:xfrm>
            <a:off x="9617577" y="2652454"/>
            <a:ext cx="173355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直接从记录中</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取值</a:t>
            </a:r>
          </a:p>
        </p:txBody>
      </p:sp>
      <p:sp>
        <p:nvSpPr>
          <p:cNvPr id="65" name="文本框 64">
            <a:extLst>
              <a:ext uri="{FF2B5EF4-FFF2-40B4-BE49-F238E27FC236}">
                <a16:creationId xmlns:a16="http://schemas.microsoft.com/office/drawing/2014/main" id="{283970FA-39D3-8680-470F-FF065C6A0F3F}"/>
              </a:ext>
            </a:extLst>
          </p:cNvPr>
          <p:cNvSpPr txBox="1"/>
          <p:nvPr/>
        </p:nvSpPr>
        <p:spPr>
          <a:xfrm>
            <a:off x="9290563" y="3951848"/>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66" name="文本框 65">
            <a:extLst>
              <a:ext uri="{FF2B5EF4-FFF2-40B4-BE49-F238E27FC236}">
                <a16:creationId xmlns:a16="http://schemas.microsoft.com/office/drawing/2014/main" id="{AEC5AFF1-871C-84D1-1788-F22B219F0671}"/>
              </a:ext>
            </a:extLst>
          </p:cNvPr>
          <p:cNvSpPr txBox="1"/>
          <p:nvPr/>
        </p:nvSpPr>
        <p:spPr>
          <a:xfrm>
            <a:off x="1650479" y="3624122"/>
            <a:ext cx="2265426" cy="1477328"/>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重点：</a:t>
            </a:r>
            <a:r>
              <a:rPr lang="zh-CN" altLang="en-US" dirty="0">
                <a:latin typeface="楷体" panose="02010609060101010101" pitchFamily="49" charset="-122"/>
                <a:ea typeface="楷体" panose="02010609060101010101" pitchFamily="49" charset="-122"/>
              </a:rPr>
              <a:t>此时参数的值是数组基地址，我们需要从内存中加载参数的值，之后将其存放在栈上</a:t>
            </a:r>
            <a:endParaRPr lang="en-US" altLang="zh-CN" dirty="0">
              <a:solidFill>
                <a:srgbClr val="FF0000"/>
              </a:solidFill>
              <a:latin typeface="楷体" panose="02010609060101010101" pitchFamily="49" charset="-122"/>
              <a:ea typeface="楷体" panose="02010609060101010101" pitchFamily="49" charset="-122"/>
            </a:endParaRPr>
          </a:p>
        </p:txBody>
      </p:sp>
      <p:sp>
        <p:nvSpPr>
          <p:cNvPr id="67" name="文本框 66">
            <a:extLst>
              <a:ext uri="{FF2B5EF4-FFF2-40B4-BE49-F238E27FC236}">
                <a16:creationId xmlns:a16="http://schemas.microsoft.com/office/drawing/2014/main" id="{B44F3797-2A23-B3F7-94E3-F7F22C2AAA60}"/>
              </a:ext>
            </a:extLst>
          </p:cNvPr>
          <p:cNvSpPr txBox="1"/>
          <p:nvPr/>
        </p:nvSpPr>
        <p:spPr>
          <a:xfrm>
            <a:off x="2734632" y="5256178"/>
            <a:ext cx="2265423" cy="1477328"/>
          </a:xfrm>
          <a:prstGeom prst="rect">
            <a:avLst/>
          </a:prstGeom>
          <a:noFill/>
        </p:spPr>
        <p:txBody>
          <a:bodyPr wrap="square" rtlCol="0">
            <a:spAutoFit/>
          </a:bodyPr>
          <a:lstStyle/>
          <a:p>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重点：</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此时参数的值是数组基地址，我们需要从内存中加载参数的值，之后设置</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offset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为数组下标</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文本框 58">
            <a:extLst>
              <a:ext uri="{FF2B5EF4-FFF2-40B4-BE49-F238E27FC236}">
                <a16:creationId xmlns:a16="http://schemas.microsoft.com/office/drawing/2014/main" id="{9AFCE5A5-C1A6-D086-752C-58014340BB38}"/>
              </a:ext>
            </a:extLst>
          </p:cNvPr>
          <p:cNvSpPr txBox="1"/>
          <p:nvPr/>
        </p:nvSpPr>
        <p:spPr>
          <a:xfrm>
            <a:off x="4577779" y="4136433"/>
            <a:ext cx="25019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是否为数组？</a:t>
            </a:r>
          </a:p>
        </p:txBody>
      </p:sp>
      <p:cxnSp>
        <p:nvCxnSpPr>
          <p:cNvPr id="60" name="直接箭头连接符 59">
            <a:extLst>
              <a:ext uri="{FF2B5EF4-FFF2-40B4-BE49-F238E27FC236}">
                <a16:creationId xmlns:a16="http://schemas.microsoft.com/office/drawing/2014/main" id="{7341BC8E-EEEE-D300-048B-F7ABCC7BB003}"/>
              </a:ext>
            </a:extLst>
          </p:cNvPr>
          <p:cNvCxnSpPr>
            <a:cxnSpLocks/>
          </p:cNvCxnSpPr>
          <p:nvPr/>
        </p:nvCxnSpPr>
        <p:spPr>
          <a:xfrm flipH="1">
            <a:off x="4151503" y="4716733"/>
            <a:ext cx="593850" cy="382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815FF75A-879A-E295-C76A-29323D2E0B8F}"/>
              </a:ext>
            </a:extLst>
          </p:cNvPr>
          <p:cNvCxnSpPr>
            <a:cxnSpLocks/>
          </p:cNvCxnSpPr>
          <p:nvPr/>
        </p:nvCxnSpPr>
        <p:spPr>
          <a:xfrm>
            <a:off x="5748646" y="4726529"/>
            <a:ext cx="588149" cy="372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03CA9370-6D6C-47F4-B03C-E69DA17A47F0}"/>
              </a:ext>
            </a:extLst>
          </p:cNvPr>
          <p:cNvSpPr txBox="1"/>
          <p:nvPr/>
        </p:nvSpPr>
        <p:spPr>
          <a:xfrm>
            <a:off x="7411024" y="5018757"/>
            <a:ext cx="2206553" cy="1477328"/>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重点</a:t>
            </a:r>
            <a:r>
              <a:rPr lang="zh-CN" altLang="en-US" dirty="0">
                <a:latin typeface="楷体" panose="02010609060101010101" pitchFamily="49" charset="-122"/>
                <a:ea typeface="楷体" panose="02010609060101010101" pitchFamily="49" charset="-122"/>
              </a:rPr>
              <a:t>：将变量在活动记录中的存储地址（你自己设计的存储地址）加载至栈中</a:t>
            </a:r>
          </a:p>
        </p:txBody>
      </p:sp>
      <p:sp>
        <p:nvSpPr>
          <p:cNvPr id="72" name="文本框 71">
            <a:extLst>
              <a:ext uri="{FF2B5EF4-FFF2-40B4-BE49-F238E27FC236}">
                <a16:creationId xmlns:a16="http://schemas.microsoft.com/office/drawing/2014/main" id="{26099AE3-7170-5D25-EE57-BFB9A87069C2}"/>
              </a:ext>
            </a:extLst>
          </p:cNvPr>
          <p:cNvSpPr txBox="1"/>
          <p:nvPr/>
        </p:nvSpPr>
        <p:spPr>
          <a:xfrm>
            <a:off x="4196985" y="4465583"/>
            <a:ext cx="402784"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73" name="文本框 72">
            <a:extLst>
              <a:ext uri="{FF2B5EF4-FFF2-40B4-BE49-F238E27FC236}">
                <a16:creationId xmlns:a16="http://schemas.microsoft.com/office/drawing/2014/main" id="{5397924C-C77C-82F3-AF93-CB2800AD1F46}"/>
              </a:ext>
            </a:extLst>
          </p:cNvPr>
          <p:cNvSpPr txBox="1"/>
          <p:nvPr/>
        </p:nvSpPr>
        <p:spPr>
          <a:xfrm>
            <a:off x="5924119" y="4493991"/>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74" name="文本框 73">
            <a:extLst>
              <a:ext uri="{FF2B5EF4-FFF2-40B4-BE49-F238E27FC236}">
                <a16:creationId xmlns:a16="http://schemas.microsoft.com/office/drawing/2014/main" id="{17B90E07-ADF2-6C8C-DBBA-9D1E31549759}"/>
              </a:ext>
            </a:extLst>
          </p:cNvPr>
          <p:cNvSpPr txBox="1"/>
          <p:nvPr/>
        </p:nvSpPr>
        <p:spPr>
          <a:xfrm>
            <a:off x="5067316" y="3466098"/>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75" name="文本框 74">
            <a:extLst>
              <a:ext uri="{FF2B5EF4-FFF2-40B4-BE49-F238E27FC236}">
                <a16:creationId xmlns:a16="http://schemas.microsoft.com/office/drawing/2014/main" id="{5EE1B761-B11A-FD15-29C1-52E6877A5FC8}"/>
              </a:ext>
            </a:extLst>
          </p:cNvPr>
          <p:cNvSpPr txBox="1"/>
          <p:nvPr/>
        </p:nvSpPr>
        <p:spPr>
          <a:xfrm>
            <a:off x="4866805" y="2194689"/>
            <a:ext cx="369804"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是</a:t>
            </a:r>
          </a:p>
        </p:txBody>
      </p:sp>
      <p:sp>
        <p:nvSpPr>
          <p:cNvPr id="76" name="文本框 75">
            <a:extLst>
              <a:ext uri="{FF2B5EF4-FFF2-40B4-BE49-F238E27FC236}">
                <a16:creationId xmlns:a16="http://schemas.microsoft.com/office/drawing/2014/main" id="{B2AE0592-382E-1EF1-C60D-FEF13B402FA5}"/>
              </a:ext>
            </a:extLst>
          </p:cNvPr>
          <p:cNvSpPr txBox="1"/>
          <p:nvPr/>
        </p:nvSpPr>
        <p:spPr>
          <a:xfrm>
            <a:off x="6938478" y="2235211"/>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79" name="文本框 78">
            <a:extLst>
              <a:ext uri="{FF2B5EF4-FFF2-40B4-BE49-F238E27FC236}">
                <a16:creationId xmlns:a16="http://schemas.microsoft.com/office/drawing/2014/main" id="{11A03AF4-9C2A-AA30-141E-282A7E048115}"/>
              </a:ext>
            </a:extLst>
          </p:cNvPr>
          <p:cNvSpPr txBox="1"/>
          <p:nvPr/>
        </p:nvSpPr>
        <p:spPr>
          <a:xfrm>
            <a:off x="7498598" y="3281139"/>
            <a:ext cx="374137"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否</a:t>
            </a:r>
          </a:p>
        </p:txBody>
      </p:sp>
      <p:sp>
        <p:nvSpPr>
          <p:cNvPr id="82" name="文本框 81">
            <a:extLst>
              <a:ext uri="{FF2B5EF4-FFF2-40B4-BE49-F238E27FC236}">
                <a16:creationId xmlns:a16="http://schemas.microsoft.com/office/drawing/2014/main" id="{AEED0C91-F71B-29AF-52A6-5DA706C613C9}"/>
              </a:ext>
            </a:extLst>
          </p:cNvPr>
          <p:cNvSpPr txBox="1"/>
          <p:nvPr/>
        </p:nvSpPr>
        <p:spPr>
          <a:xfrm>
            <a:off x="5358061" y="5348511"/>
            <a:ext cx="1977838" cy="923330"/>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根据</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STO</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语句的相关说明进行取值</a:t>
            </a:r>
          </a:p>
        </p:txBody>
      </p:sp>
    </p:spTree>
    <p:extLst>
      <p:ext uri="{BB962C8B-B14F-4D97-AF65-F5344CB8AC3E}">
        <p14:creationId xmlns:p14="http://schemas.microsoft.com/office/powerpoint/2010/main" val="3794233288"/>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0199-5030-6C70-C068-8A841914348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BB72BB4-1B04-476F-AAA5-38A30BBE2298}"/>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DEBC45EF-1A05-AAF9-DAEA-2BA87711541E}"/>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6EF37CC-ABCB-F4F1-ECF3-6F935C7A0D83}"/>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D50ED20C-C953-6839-3DF8-F3F57E954A7D}"/>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7736434F-A8F4-1CCA-FFAD-9B7073F94176}"/>
              </a:ext>
            </a:extLst>
          </p:cNvPr>
          <p:cNvSpPr/>
          <p:nvPr/>
        </p:nvSpPr>
        <p:spPr>
          <a:xfrm>
            <a:off x="440267" y="824594"/>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、语法结构处理：短路求值相关</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F6B72FE1-2E42-EEF3-7D4C-B7EAA53E873C}"/>
              </a:ext>
            </a:extLst>
          </p:cNvPr>
          <p:cNvSpPr/>
          <p:nvPr/>
        </p:nvSpPr>
        <p:spPr>
          <a:xfrm>
            <a:off x="554567" y="1470925"/>
            <a:ext cx="8923739" cy="579963"/>
          </a:xfrm>
          <a:prstGeom prst="rect">
            <a:avLst/>
          </a:prstGeom>
        </p:spPr>
        <p:txBody>
          <a:bodyPr wrap="square" lIns="91436" tIns="45718" rIns="91436" bIns="45718">
            <a:spAutoFit/>
          </a:bodyPr>
          <a:lstStyle/>
          <a:p>
            <a:pPr>
              <a:lnSpc>
                <a:spcPct val="150000"/>
              </a:lnSpc>
            </a:pP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LOrExp</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 | </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9" name="矩形 8">
            <a:extLst>
              <a:ext uri="{FF2B5EF4-FFF2-40B4-BE49-F238E27FC236}">
                <a16:creationId xmlns:a16="http://schemas.microsoft.com/office/drawing/2014/main" id="{05063586-6188-D4E7-12B0-B005037D232D}"/>
              </a:ext>
            </a:extLst>
          </p:cNvPr>
          <p:cNvSpPr/>
          <p:nvPr/>
        </p:nvSpPr>
        <p:spPr>
          <a:xfrm>
            <a:off x="519578" y="3106459"/>
            <a:ext cx="2099733" cy="579963"/>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处理</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0" name="箭头: 右 9">
            <a:extLst>
              <a:ext uri="{FF2B5EF4-FFF2-40B4-BE49-F238E27FC236}">
                <a16:creationId xmlns:a16="http://schemas.microsoft.com/office/drawing/2014/main" id="{DFBF1097-82FA-6EB6-1970-F50C9748D112}"/>
              </a:ext>
            </a:extLst>
          </p:cNvPr>
          <p:cNvSpPr/>
          <p:nvPr/>
        </p:nvSpPr>
        <p:spPr>
          <a:xfrm>
            <a:off x="2739961" y="3322909"/>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F8C43F9-BBC0-0B46-93AE-28FBD40716E1}"/>
              </a:ext>
            </a:extLst>
          </p:cNvPr>
          <p:cNvSpPr/>
          <p:nvPr/>
        </p:nvSpPr>
        <p:spPr>
          <a:xfrm>
            <a:off x="3336861" y="3135676"/>
            <a:ext cx="4191000"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对栈顶值进行 </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1</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的运算</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E6218893-64A0-92EA-3647-197C24AE8DB3}"/>
              </a:ext>
            </a:extLst>
          </p:cNvPr>
          <p:cNvSpPr/>
          <p:nvPr/>
        </p:nvSpPr>
        <p:spPr>
          <a:xfrm>
            <a:off x="7153211" y="4829948"/>
            <a:ext cx="2829983" cy="576244"/>
          </a:xfrm>
          <a:prstGeom prst="rect">
            <a:avLst/>
          </a:prstGeom>
        </p:spPr>
        <p:txBody>
          <a:bodyPr wrap="square" lIns="91436" tIns="45718" rIns="91436" bIns="45718">
            <a:spAutoFit/>
          </a:bodyPr>
          <a:lstStyle/>
          <a:p>
            <a:pPr>
              <a:lnSpc>
                <a:spcPct val="150000"/>
              </a:lnSpc>
            </a:pP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LorExp</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13" name="矩形 12">
            <a:extLst>
              <a:ext uri="{FF2B5EF4-FFF2-40B4-BE49-F238E27FC236}">
                <a16:creationId xmlns:a16="http://schemas.microsoft.com/office/drawing/2014/main" id="{4912C026-3D43-F255-2C14-B9CEFAFDADFC}"/>
              </a:ext>
            </a:extLst>
          </p:cNvPr>
          <p:cNvSpPr/>
          <p:nvPr/>
        </p:nvSpPr>
        <p:spPr>
          <a:xfrm>
            <a:off x="3654361" y="4829948"/>
            <a:ext cx="2724150"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将结果存入栈顶</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箭头: 右 13">
            <a:extLst>
              <a:ext uri="{FF2B5EF4-FFF2-40B4-BE49-F238E27FC236}">
                <a16:creationId xmlns:a16="http://schemas.microsoft.com/office/drawing/2014/main" id="{CB35D00A-B981-0631-00BE-3A4B7C427FE7}"/>
              </a:ext>
            </a:extLst>
          </p:cNvPr>
          <p:cNvSpPr/>
          <p:nvPr/>
        </p:nvSpPr>
        <p:spPr>
          <a:xfrm>
            <a:off x="7057961" y="3297444"/>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E4F4990-63F6-DD73-44CA-651750463195}"/>
              </a:ext>
            </a:extLst>
          </p:cNvPr>
          <p:cNvSpPr/>
          <p:nvPr/>
        </p:nvSpPr>
        <p:spPr>
          <a:xfrm>
            <a:off x="7597710" y="3131999"/>
            <a:ext cx="2099733"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箭头: 右 15">
            <a:extLst>
              <a:ext uri="{FF2B5EF4-FFF2-40B4-BE49-F238E27FC236}">
                <a16:creationId xmlns:a16="http://schemas.microsoft.com/office/drawing/2014/main" id="{D4382602-5B3D-6D1D-81B6-E1054F773284}"/>
              </a:ext>
            </a:extLst>
          </p:cNvPr>
          <p:cNvSpPr/>
          <p:nvPr/>
        </p:nvSpPr>
        <p:spPr>
          <a:xfrm rot="5400000">
            <a:off x="8158681" y="4285201"/>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22D6BC8-9C76-A546-470E-5EBB6CD95C5C}"/>
              </a:ext>
            </a:extLst>
          </p:cNvPr>
          <p:cNvSpPr/>
          <p:nvPr/>
        </p:nvSpPr>
        <p:spPr>
          <a:xfrm>
            <a:off x="7465980" y="4073786"/>
            <a:ext cx="600139"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是</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箭头: 右 17">
            <a:extLst>
              <a:ext uri="{FF2B5EF4-FFF2-40B4-BE49-F238E27FC236}">
                <a16:creationId xmlns:a16="http://schemas.microsoft.com/office/drawing/2014/main" id="{462EAF1A-07F1-7303-D212-0FC3A9B2381C}"/>
              </a:ext>
            </a:extLst>
          </p:cNvPr>
          <p:cNvSpPr/>
          <p:nvPr/>
        </p:nvSpPr>
        <p:spPr>
          <a:xfrm>
            <a:off x="9274239" y="3322909"/>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E6637381-F10C-8E3F-26AF-597CB0F32BD7}"/>
              </a:ext>
            </a:extLst>
          </p:cNvPr>
          <p:cNvSpPr/>
          <p:nvPr/>
        </p:nvSpPr>
        <p:spPr>
          <a:xfrm>
            <a:off x="9191540" y="3602893"/>
            <a:ext cx="600139"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否</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矩形 19">
            <a:extLst>
              <a:ext uri="{FF2B5EF4-FFF2-40B4-BE49-F238E27FC236}">
                <a16:creationId xmlns:a16="http://schemas.microsoft.com/office/drawing/2014/main" id="{259AC5FC-5F67-3228-3F4C-0C264D161B32}"/>
              </a:ext>
            </a:extLst>
          </p:cNvPr>
          <p:cNvSpPr/>
          <p:nvPr/>
        </p:nvSpPr>
        <p:spPr>
          <a:xfrm>
            <a:off x="10090266" y="2903469"/>
            <a:ext cx="2492938" cy="1133961"/>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存在下一个</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1" name="箭头: 右 20">
            <a:extLst>
              <a:ext uri="{FF2B5EF4-FFF2-40B4-BE49-F238E27FC236}">
                <a16:creationId xmlns:a16="http://schemas.microsoft.com/office/drawing/2014/main" id="{AC53C5CE-AB2D-3D61-4EEA-3F99D4BA0DAA}"/>
              </a:ext>
            </a:extLst>
          </p:cNvPr>
          <p:cNvSpPr/>
          <p:nvPr/>
        </p:nvSpPr>
        <p:spPr>
          <a:xfrm rot="5400000">
            <a:off x="10573744" y="4285201"/>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C219B2D-C34A-76BF-07AD-FE41633AE6D6}"/>
              </a:ext>
            </a:extLst>
          </p:cNvPr>
          <p:cNvSpPr/>
          <p:nvPr/>
        </p:nvSpPr>
        <p:spPr>
          <a:xfrm>
            <a:off x="9929153" y="4073786"/>
            <a:ext cx="600139"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否</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矩形 22">
            <a:extLst>
              <a:ext uri="{FF2B5EF4-FFF2-40B4-BE49-F238E27FC236}">
                <a16:creationId xmlns:a16="http://schemas.microsoft.com/office/drawing/2014/main" id="{821ECF9E-5E6F-6869-C033-E398F5257B82}"/>
              </a:ext>
            </a:extLst>
          </p:cNvPr>
          <p:cNvSpPr/>
          <p:nvPr/>
        </p:nvSpPr>
        <p:spPr>
          <a:xfrm>
            <a:off x="9929153" y="4829948"/>
            <a:ext cx="2829983" cy="576244"/>
          </a:xfrm>
          <a:prstGeom prst="rect">
            <a:avLst/>
          </a:prstGeom>
        </p:spPr>
        <p:txBody>
          <a:bodyPr wrap="square" lIns="91436" tIns="45718" rIns="91436" bIns="45718">
            <a:spAutoFit/>
          </a:bodyPr>
          <a:lstStyle/>
          <a:p>
            <a:pPr>
              <a:lnSpc>
                <a:spcPct val="150000"/>
              </a:lnSpc>
            </a:pP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LorExp</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结果为</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0</a:t>
            </a:r>
          </a:p>
        </p:txBody>
      </p:sp>
      <p:sp>
        <p:nvSpPr>
          <p:cNvPr id="25" name="箭头: 上弧形 24">
            <a:extLst>
              <a:ext uri="{FF2B5EF4-FFF2-40B4-BE49-F238E27FC236}">
                <a16:creationId xmlns:a16="http://schemas.microsoft.com/office/drawing/2014/main" id="{69227624-9BA4-91F9-97E3-6D2B74A97F40}"/>
              </a:ext>
            </a:extLst>
          </p:cNvPr>
          <p:cNvSpPr/>
          <p:nvPr/>
        </p:nvSpPr>
        <p:spPr>
          <a:xfrm rot="10800000">
            <a:off x="5549836" y="5624177"/>
            <a:ext cx="4795307" cy="818458"/>
          </a:xfrm>
          <a:prstGeom prst="curvedDown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26" name="箭头: 右 25">
            <a:extLst>
              <a:ext uri="{FF2B5EF4-FFF2-40B4-BE49-F238E27FC236}">
                <a16:creationId xmlns:a16="http://schemas.microsoft.com/office/drawing/2014/main" id="{29990896-54A6-B10E-7832-39D7971ACB12}"/>
              </a:ext>
            </a:extLst>
          </p:cNvPr>
          <p:cNvSpPr/>
          <p:nvPr/>
        </p:nvSpPr>
        <p:spPr>
          <a:xfrm rot="10800000">
            <a:off x="6378511" y="5013642"/>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B8B97AEC-D27B-1F8A-05FA-6B197C0EF621}"/>
              </a:ext>
            </a:extLst>
          </p:cNvPr>
          <p:cNvSpPr/>
          <p:nvPr/>
        </p:nvSpPr>
        <p:spPr>
          <a:xfrm rot="16200000">
            <a:off x="10573744" y="2439912"/>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15ED7A8A-1133-E572-14A1-8EA0DD1671DE}"/>
              </a:ext>
            </a:extLst>
          </p:cNvPr>
          <p:cNvSpPr/>
          <p:nvPr/>
        </p:nvSpPr>
        <p:spPr>
          <a:xfrm>
            <a:off x="9892672" y="2207970"/>
            <a:ext cx="600139"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是</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9" name="箭头: 右 28">
            <a:extLst>
              <a:ext uri="{FF2B5EF4-FFF2-40B4-BE49-F238E27FC236}">
                <a16:creationId xmlns:a16="http://schemas.microsoft.com/office/drawing/2014/main" id="{3F20DFD5-151C-4E80-07F2-773B35370727}"/>
              </a:ext>
            </a:extLst>
          </p:cNvPr>
          <p:cNvSpPr/>
          <p:nvPr/>
        </p:nvSpPr>
        <p:spPr>
          <a:xfrm rot="5400000">
            <a:off x="1262656" y="2506711"/>
            <a:ext cx="355600" cy="334362"/>
          </a:xfrm>
          <a:prstGeom prst="rightArrow">
            <a:avLst/>
          </a:prstGeom>
          <a:ln>
            <a:solidFill>
              <a:schemeClr val="tx1">
                <a:lumMod val="65000"/>
                <a:lumOff val="3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B6B10885-E4D7-2CDE-FFAB-6A44F66EFF7C}"/>
              </a:ext>
            </a:extLst>
          </p:cNvPr>
          <p:cNvSpPr/>
          <p:nvPr/>
        </p:nvSpPr>
        <p:spPr>
          <a:xfrm>
            <a:off x="9191540" y="1593220"/>
            <a:ext cx="3906705"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处理下一个</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箭头: 下弧形 31">
            <a:extLst>
              <a:ext uri="{FF2B5EF4-FFF2-40B4-BE49-F238E27FC236}">
                <a16:creationId xmlns:a16="http://schemas.microsoft.com/office/drawing/2014/main" id="{D40180A4-A954-7DAF-F9B6-7C8759778370}"/>
              </a:ext>
            </a:extLst>
          </p:cNvPr>
          <p:cNvSpPr/>
          <p:nvPr/>
        </p:nvSpPr>
        <p:spPr>
          <a:xfrm rot="10800000">
            <a:off x="5241870" y="794144"/>
            <a:ext cx="5103272" cy="760569"/>
          </a:xfrm>
          <a:prstGeom prst="curvedUp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33" name="矩形 32">
            <a:extLst>
              <a:ext uri="{FF2B5EF4-FFF2-40B4-BE49-F238E27FC236}">
                <a16:creationId xmlns:a16="http://schemas.microsoft.com/office/drawing/2014/main" id="{1771F68E-E49C-2113-439E-07116BE07F1B}"/>
              </a:ext>
            </a:extLst>
          </p:cNvPr>
          <p:cNvSpPr/>
          <p:nvPr/>
        </p:nvSpPr>
        <p:spPr>
          <a:xfrm>
            <a:off x="269212" y="4345447"/>
            <a:ext cx="3525300" cy="1687959"/>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参照</a:t>
            </a: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LOrExp</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的处理设计</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400" b="1" dirty="0" err="1">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LandExp</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的处理流程</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建议自行思考设计</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27491735"/>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p:tgtEl>
                                          <p:spTgt spid="8"/>
                                        </p:tgtEl>
                                        <p:attrNameLst>
                                          <p:attrName>ppt_y</p:attrName>
                                        </p:attrNameLst>
                                      </p:cBhvr>
                                      <p:tavLst>
                                        <p:tav tm="0">
                                          <p:val>
                                            <p:strVal val="#ppt_y+#ppt_h*1.125000"/>
                                          </p:val>
                                        </p:tav>
                                        <p:tav tm="100000">
                                          <p:val>
                                            <p:strVal val="#ppt_y"/>
                                          </p:val>
                                        </p:tav>
                                      </p:tavLst>
                                    </p:anim>
                                    <p:animEffect transition="in" filter="wipe(up)">
                                      <p:cBhvr>
                                        <p:cTn id="23" dur="500"/>
                                        <p:tgtEl>
                                          <p:spTgt spid="8"/>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p:tgtEl>
                                          <p:spTgt spid="9"/>
                                        </p:tgtEl>
                                        <p:attrNameLst>
                                          <p:attrName>ppt_y</p:attrName>
                                        </p:attrNameLst>
                                      </p:cBhvr>
                                      <p:tavLst>
                                        <p:tav tm="0">
                                          <p:val>
                                            <p:strVal val="#ppt_y+#ppt_h*1.125000"/>
                                          </p:val>
                                        </p:tav>
                                        <p:tav tm="100000">
                                          <p:val>
                                            <p:strVal val="#ppt_y"/>
                                          </p:val>
                                        </p:tav>
                                      </p:tavLst>
                                    </p:anim>
                                    <p:animEffect transition="in" filter="wipe(up)">
                                      <p:cBhvr>
                                        <p:cTn id="27" dur="500"/>
                                        <p:tgtEl>
                                          <p:spTgt spid="9"/>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p:tgtEl>
                                          <p:spTgt spid="11"/>
                                        </p:tgtEl>
                                        <p:attrNameLst>
                                          <p:attrName>ppt_y</p:attrName>
                                        </p:attrNameLst>
                                      </p:cBhvr>
                                      <p:tavLst>
                                        <p:tav tm="0">
                                          <p:val>
                                            <p:strVal val="#ppt_y+#ppt_h*1.125000"/>
                                          </p:val>
                                        </p:tav>
                                        <p:tav tm="100000">
                                          <p:val>
                                            <p:strVal val="#ppt_y"/>
                                          </p:val>
                                        </p:tav>
                                      </p:tavLst>
                                    </p:anim>
                                    <p:animEffect transition="in" filter="wipe(up)">
                                      <p:cBhvr>
                                        <p:cTn id="31" dur="500"/>
                                        <p:tgtEl>
                                          <p:spTgt spid="11"/>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p:tgtEl>
                                          <p:spTgt spid="12"/>
                                        </p:tgtEl>
                                        <p:attrNameLst>
                                          <p:attrName>ppt_y</p:attrName>
                                        </p:attrNameLst>
                                      </p:cBhvr>
                                      <p:tavLst>
                                        <p:tav tm="0">
                                          <p:val>
                                            <p:strVal val="#ppt_y+#ppt_h*1.125000"/>
                                          </p:val>
                                        </p:tav>
                                        <p:tav tm="100000">
                                          <p:val>
                                            <p:strVal val="#ppt_y"/>
                                          </p:val>
                                        </p:tav>
                                      </p:tavLst>
                                    </p:anim>
                                    <p:animEffect transition="in" filter="wipe(up)">
                                      <p:cBhvr>
                                        <p:cTn id="35" dur="500"/>
                                        <p:tgtEl>
                                          <p:spTgt spid="12"/>
                                        </p:tgtEl>
                                      </p:cBhvr>
                                    </p:animEffect>
                                  </p:childTnLst>
                                </p:cTn>
                              </p:par>
                              <p:par>
                                <p:cTn id="36" presetID="12" presetClass="entr" presetSubtype="4"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p:tgtEl>
                                          <p:spTgt spid="13"/>
                                        </p:tgtEl>
                                        <p:attrNameLst>
                                          <p:attrName>ppt_y</p:attrName>
                                        </p:attrNameLst>
                                      </p:cBhvr>
                                      <p:tavLst>
                                        <p:tav tm="0">
                                          <p:val>
                                            <p:strVal val="#ppt_y+#ppt_h*1.125000"/>
                                          </p:val>
                                        </p:tav>
                                        <p:tav tm="100000">
                                          <p:val>
                                            <p:strVal val="#ppt_y"/>
                                          </p:val>
                                        </p:tav>
                                      </p:tavLst>
                                    </p:anim>
                                    <p:animEffect transition="in" filter="wipe(up)">
                                      <p:cBhvr>
                                        <p:cTn id="39" dur="500"/>
                                        <p:tgtEl>
                                          <p:spTgt spid="13"/>
                                        </p:tgtEl>
                                      </p:cBhvr>
                                    </p:animEffect>
                                  </p:childTnLst>
                                </p:cTn>
                              </p:par>
                              <p:par>
                                <p:cTn id="40" presetID="12" presetClass="entr" presetSubtype="4"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p:tgtEl>
                                          <p:spTgt spid="15"/>
                                        </p:tgtEl>
                                        <p:attrNameLst>
                                          <p:attrName>ppt_y</p:attrName>
                                        </p:attrNameLst>
                                      </p:cBhvr>
                                      <p:tavLst>
                                        <p:tav tm="0">
                                          <p:val>
                                            <p:strVal val="#ppt_y+#ppt_h*1.125000"/>
                                          </p:val>
                                        </p:tav>
                                        <p:tav tm="100000">
                                          <p:val>
                                            <p:strVal val="#ppt_y"/>
                                          </p:val>
                                        </p:tav>
                                      </p:tavLst>
                                    </p:anim>
                                    <p:animEffect transition="in" filter="wipe(up)">
                                      <p:cBhvr>
                                        <p:cTn id="43" dur="500"/>
                                        <p:tgtEl>
                                          <p:spTgt spid="15"/>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p:tgtEl>
                                          <p:spTgt spid="17"/>
                                        </p:tgtEl>
                                        <p:attrNameLst>
                                          <p:attrName>ppt_y</p:attrName>
                                        </p:attrNameLst>
                                      </p:cBhvr>
                                      <p:tavLst>
                                        <p:tav tm="0">
                                          <p:val>
                                            <p:strVal val="#ppt_y+#ppt_h*1.125000"/>
                                          </p:val>
                                        </p:tav>
                                        <p:tav tm="100000">
                                          <p:val>
                                            <p:strVal val="#ppt_y"/>
                                          </p:val>
                                        </p:tav>
                                      </p:tavLst>
                                    </p:anim>
                                    <p:animEffect transition="in" filter="wipe(up)">
                                      <p:cBhvr>
                                        <p:cTn id="47" dur="500"/>
                                        <p:tgtEl>
                                          <p:spTgt spid="17"/>
                                        </p:tgtEl>
                                      </p:cBhvr>
                                    </p:animEffect>
                                  </p:childTnLst>
                                </p:cTn>
                              </p:par>
                              <p:par>
                                <p:cTn id="48" presetID="1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p:tgtEl>
                                          <p:spTgt spid="19"/>
                                        </p:tgtEl>
                                        <p:attrNameLst>
                                          <p:attrName>ppt_y</p:attrName>
                                        </p:attrNameLst>
                                      </p:cBhvr>
                                      <p:tavLst>
                                        <p:tav tm="0">
                                          <p:val>
                                            <p:strVal val="#ppt_y+#ppt_h*1.125000"/>
                                          </p:val>
                                        </p:tav>
                                        <p:tav tm="100000">
                                          <p:val>
                                            <p:strVal val="#ppt_y"/>
                                          </p:val>
                                        </p:tav>
                                      </p:tavLst>
                                    </p:anim>
                                    <p:animEffect transition="in" filter="wipe(up)">
                                      <p:cBhvr>
                                        <p:cTn id="51" dur="500"/>
                                        <p:tgtEl>
                                          <p:spTgt spid="19"/>
                                        </p:tgtEl>
                                      </p:cBhvr>
                                    </p:animEffect>
                                  </p:childTnLst>
                                </p:cTn>
                              </p:par>
                              <p:par>
                                <p:cTn id="52" presetID="12" presetClass="entr" presetSubtype="4"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500"/>
                                        <p:tgtEl>
                                          <p:spTgt spid="20"/>
                                        </p:tgtEl>
                                        <p:attrNameLst>
                                          <p:attrName>ppt_y</p:attrName>
                                        </p:attrNameLst>
                                      </p:cBhvr>
                                      <p:tavLst>
                                        <p:tav tm="0">
                                          <p:val>
                                            <p:strVal val="#ppt_y+#ppt_h*1.125000"/>
                                          </p:val>
                                        </p:tav>
                                        <p:tav tm="100000">
                                          <p:val>
                                            <p:strVal val="#ppt_y"/>
                                          </p:val>
                                        </p:tav>
                                      </p:tavLst>
                                    </p:anim>
                                    <p:animEffect transition="in" filter="wipe(up)">
                                      <p:cBhvr>
                                        <p:cTn id="55" dur="500"/>
                                        <p:tgtEl>
                                          <p:spTgt spid="20"/>
                                        </p:tgtEl>
                                      </p:cBhvr>
                                    </p:animEffect>
                                  </p:childTnLst>
                                </p:cTn>
                              </p:par>
                              <p:par>
                                <p:cTn id="56" presetID="12" presetClass="entr" presetSubtype="4"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p:tgtEl>
                                          <p:spTgt spid="22"/>
                                        </p:tgtEl>
                                        <p:attrNameLst>
                                          <p:attrName>ppt_y</p:attrName>
                                        </p:attrNameLst>
                                      </p:cBhvr>
                                      <p:tavLst>
                                        <p:tav tm="0">
                                          <p:val>
                                            <p:strVal val="#ppt_y+#ppt_h*1.125000"/>
                                          </p:val>
                                        </p:tav>
                                        <p:tav tm="100000">
                                          <p:val>
                                            <p:strVal val="#ppt_y"/>
                                          </p:val>
                                        </p:tav>
                                      </p:tavLst>
                                    </p:anim>
                                    <p:animEffect transition="in" filter="wipe(up)">
                                      <p:cBhvr>
                                        <p:cTn id="59" dur="500"/>
                                        <p:tgtEl>
                                          <p:spTgt spid="22"/>
                                        </p:tgtEl>
                                      </p:cBhvr>
                                    </p:animEffect>
                                  </p:childTnLst>
                                </p:cTn>
                              </p:par>
                              <p:par>
                                <p:cTn id="60" presetID="12" presetClass="entr" presetSubtype="4"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p:tgtEl>
                                          <p:spTgt spid="23"/>
                                        </p:tgtEl>
                                        <p:attrNameLst>
                                          <p:attrName>ppt_y</p:attrName>
                                        </p:attrNameLst>
                                      </p:cBhvr>
                                      <p:tavLst>
                                        <p:tav tm="0">
                                          <p:val>
                                            <p:strVal val="#ppt_y+#ppt_h*1.125000"/>
                                          </p:val>
                                        </p:tav>
                                        <p:tav tm="100000">
                                          <p:val>
                                            <p:strVal val="#ppt_y"/>
                                          </p:val>
                                        </p:tav>
                                      </p:tavLst>
                                    </p:anim>
                                    <p:animEffect transition="in" filter="wipe(up)">
                                      <p:cBhvr>
                                        <p:cTn id="63" dur="500"/>
                                        <p:tgtEl>
                                          <p:spTgt spid="23"/>
                                        </p:tgtEl>
                                      </p:cBhvr>
                                    </p:animEffect>
                                  </p:childTnLst>
                                </p:cTn>
                              </p:par>
                              <p:par>
                                <p:cTn id="64" presetID="12" presetClass="entr" presetSubtype="4"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p:tgtEl>
                                          <p:spTgt spid="28"/>
                                        </p:tgtEl>
                                        <p:attrNameLst>
                                          <p:attrName>ppt_y</p:attrName>
                                        </p:attrNameLst>
                                      </p:cBhvr>
                                      <p:tavLst>
                                        <p:tav tm="0">
                                          <p:val>
                                            <p:strVal val="#ppt_y+#ppt_h*1.125000"/>
                                          </p:val>
                                        </p:tav>
                                        <p:tav tm="100000">
                                          <p:val>
                                            <p:strVal val="#ppt_y"/>
                                          </p:val>
                                        </p:tav>
                                      </p:tavLst>
                                    </p:anim>
                                    <p:animEffect transition="in" filter="wipe(up)">
                                      <p:cBhvr>
                                        <p:cTn id="67" dur="500"/>
                                        <p:tgtEl>
                                          <p:spTgt spid="28"/>
                                        </p:tgtEl>
                                      </p:cBhvr>
                                    </p:animEffect>
                                  </p:childTnLst>
                                </p:cTn>
                              </p:par>
                              <p:par>
                                <p:cTn id="68" presetID="12" presetClass="entr" presetSubtype="4"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p:tgtEl>
                                          <p:spTgt spid="31"/>
                                        </p:tgtEl>
                                        <p:attrNameLst>
                                          <p:attrName>ppt_y</p:attrName>
                                        </p:attrNameLst>
                                      </p:cBhvr>
                                      <p:tavLst>
                                        <p:tav tm="0">
                                          <p:val>
                                            <p:strVal val="#ppt_y+#ppt_h*1.125000"/>
                                          </p:val>
                                        </p:tav>
                                        <p:tav tm="100000">
                                          <p:val>
                                            <p:strVal val="#ppt_y"/>
                                          </p:val>
                                        </p:tav>
                                      </p:tavLst>
                                    </p:anim>
                                    <p:animEffect transition="in" filter="wipe(up)">
                                      <p:cBhvr>
                                        <p:cTn id="71" dur="500"/>
                                        <p:tgtEl>
                                          <p:spTgt spid="31"/>
                                        </p:tgtEl>
                                      </p:cBhvr>
                                    </p:animEffect>
                                  </p:childTnLst>
                                </p:cTn>
                              </p:par>
                              <p:par>
                                <p:cTn id="72" presetID="12" presetClass="entr" presetSubtype="4"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 calcmode="lin" valueType="num">
                                      <p:cBhvr additive="base">
                                        <p:cTn id="74" dur="500"/>
                                        <p:tgtEl>
                                          <p:spTgt spid="33"/>
                                        </p:tgtEl>
                                        <p:attrNameLst>
                                          <p:attrName>ppt_y</p:attrName>
                                        </p:attrNameLst>
                                      </p:cBhvr>
                                      <p:tavLst>
                                        <p:tav tm="0">
                                          <p:val>
                                            <p:strVal val="#ppt_y+#ppt_h*1.125000"/>
                                          </p:val>
                                        </p:tav>
                                        <p:tav tm="100000">
                                          <p:val>
                                            <p:strVal val="#ppt_y"/>
                                          </p:val>
                                        </p:tav>
                                      </p:tavLst>
                                    </p:anim>
                                    <p:animEffect transition="in" filter="wipe(up)">
                                      <p:cBhvr>
                                        <p:cTn id="7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8" grpId="0"/>
      <p:bldP spid="9" grpId="0"/>
      <p:bldP spid="11" grpId="0"/>
      <p:bldP spid="12" grpId="0"/>
      <p:bldP spid="13" grpId="0"/>
      <p:bldP spid="15" grpId="0"/>
      <p:bldP spid="17" grpId="0"/>
      <p:bldP spid="19" grpId="0"/>
      <p:bldP spid="20" grpId="0"/>
      <p:bldP spid="22" grpId="0"/>
      <p:bldP spid="23" grpId="0"/>
      <p:bldP spid="28" grpId="0"/>
      <p:bldP spid="31" grpId="0"/>
      <p:bldP spid="3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3EBEA7E8-F568-8C12-1580-928E2BD9734E}"/>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FE71237A-3C4A-EAB1-CDFA-F6A842E983ED}"/>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647D3EC7-9326-BAD5-CCBE-62DF95E8B602}"/>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0065403-9BB7-9F78-BF8A-5CB0A304AA30}"/>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1948DA5E-6065-B338-0FD1-9D44824A3B9D}"/>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F8113301-5806-3078-D679-28DAC46E3EB9}"/>
              </a:ext>
            </a:extLst>
          </p:cNvPr>
          <p:cNvSpPr/>
          <p:nvPr/>
        </p:nvSpPr>
        <p:spPr>
          <a:xfrm>
            <a:off x="332317" y="908918"/>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BLKS</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BLKE</a:t>
            </a:r>
          </a:p>
        </p:txBody>
      </p:sp>
      <p:sp>
        <p:nvSpPr>
          <p:cNvPr id="3" name="矩形 2">
            <a:extLst>
              <a:ext uri="{FF2B5EF4-FFF2-40B4-BE49-F238E27FC236}">
                <a16:creationId xmlns:a16="http://schemas.microsoft.com/office/drawing/2014/main" id="{72F4A926-A449-8225-D5AB-AB874AF8656D}"/>
              </a:ext>
            </a:extLst>
          </p:cNvPr>
          <p:cNvSpPr/>
          <p:nvPr/>
        </p:nvSpPr>
        <p:spPr>
          <a:xfrm>
            <a:off x="332317" y="4307798"/>
            <a:ext cx="11543529" cy="1418911"/>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处理方法一：在遍历</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AST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的时候记录需要结束的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的层次，以</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BLKE(level)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的指令形式记录</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处理方法二：依然需要在遍历</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AST</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的时候记录需要</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的数量，以多条</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的指令形式记录</a:t>
            </a: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矩形 23">
            <a:extLst>
              <a:ext uri="{FF2B5EF4-FFF2-40B4-BE49-F238E27FC236}">
                <a16:creationId xmlns:a16="http://schemas.microsoft.com/office/drawing/2014/main" id="{A4506234-812D-316A-0840-F34ADEF5E6D4}"/>
              </a:ext>
            </a:extLst>
          </p:cNvPr>
          <p:cNvSpPr/>
          <p:nvPr/>
        </p:nvSpPr>
        <p:spPr>
          <a:xfrm>
            <a:off x="324235" y="1671075"/>
            <a:ext cx="11543529" cy="2806983"/>
          </a:xfrm>
          <a:prstGeom prst="rect">
            <a:avLst/>
          </a:prstGeom>
        </p:spPr>
        <p:txBody>
          <a:bodyPr wrap="square" lIns="91436" tIns="45718" rIns="91436" bIns="45718">
            <a:spAutoFit/>
          </a:bodyPr>
          <a:lstStyle/>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当我们需要处理</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break</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continue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语句的时候，我们需要回收当前的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以实现相关的跳转，然而由于</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for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循环内可能存在</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if</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之间的嵌套，这使得我们在回收基本块的时候不止需要回收当前的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，可能还需要回收当前</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SL,</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以及可能的更多层次的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。这就需要我们记录当前最后一个循环所在的</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p>
          <a:p>
            <a:pPr>
              <a:lnSpc>
                <a:spcPct val="150000"/>
              </a:lnSpc>
            </a:pP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BLKE</a:t>
            </a:r>
            <a:r>
              <a:rPr lang="zh-CN" altLang="en-US"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的指令生成，在这里提供两种思路，大家可以参考自己实际代码情况进行设计</a:t>
            </a:r>
            <a:br>
              <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br>
            <a:endParaRPr lang="en-US" altLang="zh-CN" sz="2000"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28959890"/>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p:tgtEl>
                                          <p:spTgt spid="24"/>
                                        </p:tgtEl>
                                        <p:attrNameLst>
                                          <p:attrName>ppt_y</p:attrName>
                                        </p:attrNameLst>
                                      </p:cBhvr>
                                      <p:tavLst>
                                        <p:tav tm="0">
                                          <p:val>
                                            <p:strVal val="#ppt_y+#ppt_h*1.125000"/>
                                          </p:val>
                                        </p:tav>
                                        <p:tav tm="100000">
                                          <p:val>
                                            <p:strVal val="#ppt_y"/>
                                          </p:val>
                                        </p:tav>
                                      </p:tavLst>
                                    </p:anim>
                                    <p:animEffect transition="in" filter="wipe(up)">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3D2E-3F72-5243-AB97-11DB18CADA7F}"/>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31F340AD-F784-BC30-CCBC-372113A45296}"/>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7BFB7540-BE28-BE79-B7F3-F5F7888AEAC4}"/>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BD3C9D4-EB30-3BC0-6A03-6300B5B4C53C}"/>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52481762-492A-CC7D-6562-A8A7A81795BE}"/>
              </a:ext>
            </a:extLst>
          </p:cNvPr>
          <p:cNvSpPr txBox="1"/>
          <p:nvPr/>
        </p:nvSpPr>
        <p:spPr>
          <a:xfrm>
            <a:off x="440267" y="178263"/>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指令生成</a:t>
            </a:r>
          </a:p>
        </p:txBody>
      </p:sp>
      <p:sp>
        <p:nvSpPr>
          <p:cNvPr id="2" name="矩形 1">
            <a:extLst>
              <a:ext uri="{FF2B5EF4-FFF2-40B4-BE49-F238E27FC236}">
                <a16:creationId xmlns:a16="http://schemas.microsoft.com/office/drawing/2014/main" id="{D6F917B8-2F19-2CFF-C027-AD3A2DD53C9D}"/>
              </a:ext>
            </a:extLst>
          </p:cNvPr>
          <p:cNvSpPr/>
          <p:nvPr/>
        </p:nvSpPr>
        <p:spPr>
          <a:xfrm>
            <a:off x="332317" y="908918"/>
            <a:ext cx="8923739"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、语法结构处理：</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static </a:t>
            </a:r>
          </a:p>
        </p:txBody>
      </p:sp>
      <p:sp>
        <p:nvSpPr>
          <p:cNvPr id="8" name="矩形 7">
            <a:extLst>
              <a:ext uri="{FF2B5EF4-FFF2-40B4-BE49-F238E27FC236}">
                <a16:creationId xmlns:a16="http://schemas.microsoft.com/office/drawing/2014/main" id="{F6C3EFEB-7FA2-8738-C563-C5BF6848D1B1}"/>
              </a:ext>
            </a:extLst>
          </p:cNvPr>
          <p:cNvSpPr/>
          <p:nvPr/>
        </p:nvSpPr>
        <p:spPr>
          <a:xfrm>
            <a:off x="4439708" y="3486150"/>
            <a:ext cx="1534583"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符号表</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9" name="矩形 8">
            <a:extLst>
              <a:ext uri="{FF2B5EF4-FFF2-40B4-BE49-F238E27FC236}">
                <a16:creationId xmlns:a16="http://schemas.microsoft.com/office/drawing/2014/main" id="{A9EA5D76-8156-0E39-6FB8-86E64D6BE8C6}"/>
              </a:ext>
            </a:extLst>
          </p:cNvPr>
          <p:cNvSpPr/>
          <p:nvPr/>
        </p:nvSpPr>
        <p:spPr>
          <a:xfrm>
            <a:off x="332317" y="1569486"/>
            <a:ext cx="11072283" cy="1130242"/>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static </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变量无法存放在与函数相关的</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中，需要单独开辟存储空间或是与全局变量一同存储，需要注意</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static</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变量之间的重名问题</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矩形 9">
            <a:extLst>
              <a:ext uri="{FF2B5EF4-FFF2-40B4-BE49-F238E27FC236}">
                <a16:creationId xmlns:a16="http://schemas.microsoft.com/office/drawing/2014/main" id="{CDC1B9A1-8363-4C03-768B-8501ED3C032D}"/>
              </a:ext>
            </a:extLst>
          </p:cNvPr>
          <p:cNvSpPr/>
          <p:nvPr/>
        </p:nvSpPr>
        <p:spPr>
          <a:xfrm>
            <a:off x="2033058" y="3486150"/>
            <a:ext cx="1973792" cy="576244"/>
          </a:xfrm>
          <a:prstGeom prst="rect">
            <a:avLst/>
          </a:prstGeom>
        </p:spPr>
        <p:txBody>
          <a:bodyPr wrap="square" lIns="91436" tIns="45718" rIns="91436" bIns="45718">
            <a:spAutoFit/>
          </a:bodyPr>
          <a:lstStyle/>
          <a:p>
            <a:pPr>
              <a:lnSpc>
                <a:spcPct val="150000"/>
              </a:lnSpc>
            </a:pP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Static </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变量</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1" name="矩形 10">
            <a:extLst>
              <a:ext uri="{FF2B5EF4-FFF2-40B4-BE49-F238E27FC236}">
                <a16:creationId xmlns:a16="http://schemas.microsoft.com/office/drawing/2014/main" id="{457719E3-1CF3-1063-E1A1-723731775CF8}"/>
              </a:ext>
            </a:extLst>
          </p:cNvPr>
          <p:cNvSpPr/>
          <p:nvPr/>
        </p:nvSpPr>
        <p:spPr>
          <a:xfrm>
            <a:off x="6357410" y="3486150"/>
            <a:ext cx="3129489"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不重名的全局变量</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箭头: 右 11">
            <a:extLst>
              <a:ext uri="{FF2B5EF4-FFF2-40B4-BE49-F238E27FC236}">
                <a16:creationId xmlns:a16="http://schemas.microsoft.com/office/drawing/2014/main" id="{77CB5FCE-78F4-2079-39E4-01D7859D1F08}"/>
              </a:ext>
            </a:extLst>
          </p:cNvPr>
          <p:cNvSpPr/>
          <p:nvPr/>
        </p:nvSpPr>
        <p:spPr>
          <a:xfrm rot="10800000">
            <a:off x="3835399" y="3601216"/>
            <a:ext cx="412750" cy="46117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3" name="箭头: 下弧形 12">
            <a:extLst>
              <a:ext uri="{FF2B5EF4-FFF2-40B4-BE49-F238E27FC236}">
                <a16:creationId xmlns:a16="http://schemas.microsoft.com/office/drawing/2014/main" id="{B811BAD7-6166-025E-3C89-FED1ACF3F546}"/>
              </a:ext>
            </a:extLst>
          </p:cNvPr>
          <p:cNvSpPr/>
          <p:nvPr/>
        </p:nvSpPr>
        <p:spPr>
          <a:xfrm>
            <a:off x="3293004" y="4177460"/>
            <a:ext cx="4473046" cy="1084814"/>
          </a:xfrm>
          <a:prstGeom prst="curvedUp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14" name="矩形 13">
            <a:extLst>
              <a:ext uri="{FF2B5EF4-FFF2-40B4-BE49-F238E27FC236}">
                <a16:creationId xmlns:a16="http://schemas.microsoft.com/office/drawing/2014/main" id="{B2378320-9D84-FFE2-F1E4-75A4B2B3BA36}"/>
              </a:ext>
            </a:extLst>
          </p:cNvPr>
          <p:cNvSpPr/>
          <p:nvPr/>
        </p:nvSpPr>
        <p:spPr>
          <a:xfrm>
            <a:off x="5100109" y="4560694"/>
            <a:ext cx="995891"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映射</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5" name="矩形 14">
            <a:extLst>
              <a:ext uri="{FF2B5EF4-FFF2-40B4-BE49-F238E27FC236}">
                <a16:creationId xmlns:a16="http://schemas.microsoft.com/office/drawing/2014/main" id="{190BE8F6-1D55-5600-8911-3ED862215522}"/>
              </a:ext>
            </a:extLst>
          </p:cNvPr>
          <p:cNvSpPr/>
          <p:nvPr/>
        </p:nvSpPr>
        <p:spPr>
          <a:xfrm>
            <a:off x="3652309" y="2901679"/>
            <a:ext cx="995891"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查找</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6" name="矩形 15">
            <a:extLst>
              <a:ext uri="{FF2B5EF4-FFF2-40B4-BE49-F238E27FC236}">
                <a16:creationId xmlns:a16="http://schemas.microsoft.com/office/drawing/2014/main" id="{7F0E8B16-7E70-9CD1-D124-13745E6F4DB4}"/>
              </a:ext>
            </a:extLst>
          </p:cNvPr>
          <p:cNvSpPr/>
          <p:nvPr/>
        </p:nvSpPr>
        <p:spPr>
          <a:xfrm>
            <a:off x="9256056" y="2842646"/>
            <a:ext cx="2608791"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查找符号表无误</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17" name="矩形 16">
            <a:extLst>
              <a:ext uri="{FF2B5EF4-FFF2-40B4-BE49-F238E27FC236}">
                <a16:creationId xmlns:a16="http://schemas.microsoft.com/office/drawing/2014/main" id="{45B10566-6C37-4F77-8B64-B42382EACDE2}"/>
              </a:ext>
            </a:extLst>
          </p:cNvPr>
          <p:cNvSpPr/>
          <p:nvPr/>
        </p:nvSpPr>
        <p:spPr>
          <a:xfrm>
            <a:off x="9256056" y="3725296"/>
            <a:ext cx="2608791" cy="1133961"/>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 将变量存储在全局</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矩形 17">
            <a:extLst>
              <a:ext uri="{FF2B5EF4-FFF2-40B4-BE49-F238E27FC236}">
                <a16:creationId xmlns:a16="http://schemas.microsoft.com/office/drawing/2014/main" id="{60FDCB3D-2858-9626-4556-F96FA7236793}"/>
              </a:ext>
            </a:extLst>
          </p:cNvPr>
          <p:cNvSpPr/>
          <p:nvPr/>
        </p:nvSpPr>
        <p:spPr>
          <a:xfrm>
            <a:off x="867706" y="5559942"/>
            <a:ext cx="10733744" cy="576244"/>
          </a:xfrm>
          <a:prstGeom prst="rect">
            <a:avLst/>
          </a:prstGeom>
        </p:spPr>
        <p:txBody>
          <a:bodyPr wrap="square" lIns="91436" tIns="45718" rIns="91436" bIns="45718">
            <a:spAutoFit/>
          </a:bodyPr>
          <a:lstStyle/>
          <a:p>
            <a:pPr>
              <a:lnSpc>
                <a:spcPct val="150000"/>
              </a:lnSpc>
            </a:pP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大家可以自行探索语法分析</a:t>
            </a:r>
            <a:r>
              <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AST</a:t>
            </a:r>
            <a:r>
              <a:rPr lang="zh-CN" altLang="en-US"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rPr>
              <a:t>上重命名、静态空间开辟等多种处理手段</a:t>
            </a:r>
            <a:endParaRPr lang="en-US" altLang="zh-CN" sz="2400" b="1" dirty="0">
              <a:solidFill>
                <a:schemeClr val="bg2">
                  <a:lumMod val="50000"/>
                </a:schemeClr>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63116333"/>
      </p:ext>
    </p:extLst>
  </p:cSld>
  <p:clrMapOvr>
    <a:masterClrMapping/>
  </p:clrMapOvr>
  <p:transition spd="slow" advTm="0">
    <p:cover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p:tgtEl>
                                          <p:spTgt spid="8"/>
                                        </p:tgtEl>
                                        <p:attrNameLst>
                                          <p:attrName>ppt_y</p:attrName>
                                        </p:attrNameLst>
                                      </p:cBhvr>
                                      <p:tavLst>
                                        <p:tav tm="0">
                                          <p:val>
                                            <p:strVal val="#ppt_y+#ppt_h*1.125000"/>
                                          </p:val>
                                        </p:tav>
                                        <p:tav tm="100000">
                                          <p:val>
                                            <p:strVal val="#ppt_y"/>
                                          </p:val>
                                        </p:tav>
                                      </p:tavLst>
                                    </p:anim>
                                    <p:animEffect transition="in" filter="wipe(up)">
                                      <p:cBhvr>
                                        <p:cTn id="23" dur="500"/>
                                        <p:tgtEl>
                                          <p:spTgt spid="8"/>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p:tgtEl>
                                          <p:spTgt spid="9"/>
                                        </p:tgtEl>
                                        <p:attrNameLst>
                                          <p:attrName>ppt_y</p:attrName>
                                        </p:attrNameLst>
                                      </p:cBhvr>
                                      <p:tavLst>
                                        <p:tav tm="0">
                                          <p:val>
                                            <p:strVal val="#ppt_y+#ppt_h*1.125000"/>
                                          </p:val>
                                        </p:tav>
                                        <p:tav tm="100000">
                                          <p:val>
                                            <p:strVal val="#ppt_y"/>
                                          </p:val>
                                        </p:tav>
                                      </p:tavLst>
                                    </p:anim>
                                    <p:animEffect transition="in" filter="wipe(up)">
                                      <p:cBhvr>
                                        <p:cTn id="27" dur="500"/>
                                        <p:tgtEl>
                                          <p:spTgt spid="9"/>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p:tgtEl>
                                          <p:spTgt spid="10"/>
                                        </p:tgtEl>
                                        <p:attrNameLst>
                                          <p:attrName>ppt_y</p:attrName>
                                        </p:attrNameLst>
                                      </p:cBhvr>
                                      <p:tavLst>
                                        <p:tav tm="0">
                                          <p:val>
                                            <p:strVal val="#ppt_y+#ppt_h*1.125000"/>
                                          </p:val>
                                        </p:tav>
                                        <p:tav tm="100000">
                                          <p:val>
                                            <p:strVal val="#ppt_y"/>
                                          </p:val>
                                        </p:tav>
                                      </p:tavLst>
                                    </p:anim>
                                    <p:animEffect transition="in" filter="wipe(up)">
                                      <p:cBhvr>
                                        <p:cTn id="31" dur="500"/>
                                        <p:tgtEl>
                                          <p:spTgt spid="10"/>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p:tgtEl>
                                          <p:spTgt spid="11"/>
                                        </p:tgtEl>
                                        <p:attrNameLst>
                                          <p:attrName>ppt_y</p:attrName>
                                        </p:attrNameLst>
                                      </p:cBhvr>
                                      <p:tavLst>
                                        <p:tav tm="0">
                                          <p:val>
                                            <p:strVal val="#ppt_y+#ppt_h*1.125000"/>
                                          </p:val>
                                        </p:tav>
                                        <p:tav tm="100000">
                                          <p:val>
                                            <p:strVal val="#ppt_y"/>
                                          </p:val>
                                        </p:tav>
                                      </p:tavLst>
                                    </p:anim>
                                    <p:animEffect transition="in" filter="wipe(up)">
                                      <p:cBhvr>
                                        <p:cTn id="35" dur="500"/>
                                        <p:tgtEl>
                                          <p:spTgt spid="11"/>
                                        </p:tgtEl>
                                      </p:cBhvr>
                                    </p:animEffect>
                                  </p:childTnLst>
                                </p:cTn>
                              </p:par>
                              <p:par>
                                <p:cTn id="36" presetID="12" presetClass="entr" presetSubtype="4"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p:tgtEl>
                                          <p:spTgt spid="14"/>
                                        </p:tgtEl>
                                        <p:attrNameLst>
                                          <p:attrName>ppt_y</p:attrName>
                                        </p:attrNameLst>
                                      </p:cBhvr>
                                      <p:tavLst>
                                        <p:tav tm="0">
                                          <p:val>
                                            <p:strVal val="#ppt_y+#ppt_h*1.125000"/>
                                          </p:val>
                                        </p:tav>
                                        <p:tav tm="100000">
                                          <p:val>
                                            <p:strVal val="#ppt_y"/>
                                          </p:val>
                                        </p:tav>
                                      </p:tavLst>
                                    </p:anim>
                                    <p:animEffect transition="in" filter="wipe(up)">
                                      <p:cBhvr>
                                        <p:cTn id="39" dur="500"/>
                                        <p:tgtEl>
                                          <p:spTgt spid="14"/>
                                        </p:tgtEl>
                                      </p:cBhvr>
                                    </p:animEffect>
                                  </p:childTnLst>
                                </p:cTn>
                              </p:par>
                              <p:par>
                                <p:cTn id="40" presetID="12" presetClass="entr" presetSubtype="4"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p:tgtEl>
                                          <p:spTgt spid="15"/>
                                        </p:tgtEl>
                                        <p:attrNameLst>
                                          <p:attrName>ppt_y</p:attrName>
                                        </p:attrNameLst>
                                      </p:cBhvr>
                                      <p:tavLst>
                                        <p:tav tm="0">
                                          <p:val>
                                            <p:strVal val="#ppt_y+#ppt_h*1.125000"/>
                                          </p:val>
                                        </p:tav>
                                        <p:tav tm="100000">
                                          <p:val>
                                            <p:strVal val="#ppt_y"/>
                                          </p:val>
                                        </p:tav>
                                      </p:tavLst>
                                    </p:anim>
                                    <p:animEffect transition="in" filter="wipe(up)">
                                      <p:cBhvr>
                                        <p:cTn id="43" dur="500"/>
                                        <p:tgtEl>
                                          <p:spTgt spid="15"/>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p:tgtEl>
                                          <p:spTgt spid="16"/>
                                        </p:tgtEl>
                                        <p:attrNameLst>
                                          <p:attrName>ppt_y</p:attrName>
                                        </p:attrNameLst>
                                      </p:cBhvr>
                                      <p:tavLst>
                                        <p:tav tm="0">
                                          <p:val>
                                            <p:strVal val="#ppt_y+#ppt_h*1.125000"/>
                                          </p:val>
                                        </p:tav>
                                        <p:tav tm="100000">
                                          <p:val>
                                            <p:strVal val="#ppt_y"/>
                                          </p:val>
                                        </p:tav>
                                      </p:tavLst>
                                    </p:anim>
                                    <p:animEffect transition="in" filter="wipe(up)">
                                      <p:cBhvr>
                                        <p:cTn id="47" dur="500"/>
                                        <p:tgtEl>
                                          <p:spTgt spid="16"/>
                                        </p:tgtEl>
                                      </p:cBhvr>
                                    </p:animEffect>
                                  </p:childTnLst>
                                </p:cTn>
                              </p:par>
                              <p:par>
                                <p:cTn id="48" presetID="1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p:tgtEl>
                                          <p:spTgt spid="17"/>
                                        </p:tgtEl>
                                        <p:attrNameLst>
                                          <p:attrName>ppt_y</p:attrName>
                                        </p:attrNameLst>
                                      </p:cBhvr>
                                      <p:tavLst>
                                        <p:tav tm="0">
                                          <p:val>
                                            <p:strVal val="#ppt_y+#ppt_h*1.125000"/>
                                          </p:val>
                                        </p:tav>
                                        <p:tav tm="100000">
                                          <p:val>
                                            <p:strVal val="#ppt_y"/>
                                          </p:val>
                                        </p:tav>
                                      </p:tavLst>
                                    </p:anim>
                                    <p:animEffect transition="in" filter="wipe(up)">
                                      <p:cBhvr>
                                        <p:cTn id="51" dur="500"/>
                                        <p:tgtEl>
                                          <p:spTgt spid="17"/>
                                        </p:tgtEl>
                                      </p:cBhvr>
                                    </p:animEffect>
                                  </p:childTnLst>
                                </p:cTn>
                              </p:par>
                              <p:par>
                                <p:cTn id="52" presetID="12" presetClass="entr" presetSubtype="4"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p:tgtEl>
                                          <p:spTgt spid="18"/>
                                        </p:tgtEl>
                                        <p:attrNameLst>
                                          <p:attrName>ppt_y</p:attrName>
                                        </p:attrNameLst>
                                      </p:cBhvr>
                                      <p:tavLst>
                                        <p:tav tm="0">
                                          <p:val>
                                            <p:strVal val="#ppt_y+#ppt_h*1.125000"/>
                                          </p:val>
                                        </p:tav>
                                        <p:tav tm="100000">
                                          <p:val>
                                            <p:strVal val="#ppt_y"/>
                                          </p:val>
                                        </p:tav>
                                      </p:tavLst>
                                    </p:anim>
                                    <p:animEffect transition="in" filter="wipe(up)">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8" grpId="0"/>
      <p:bldP spid="9" grpId="0"/>
      <p:bldP spid="10" grpId="0"/>
      <p:bldP spid="11" grpId="0"/>
      <p:bldP spid="14" grpId="0"/>
      <p:bldP spid="15" grpId="0"/>
      <p:bldP spid="16" grpId="0"/>
      <p:bldP spid="17"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9">
            <a:extLst>
              <a:ext uri="{FF2B5EF4-FFF2-40B4-BE49-F238E27FC236}">
                <a16:creationId xmlns:a16="http://schemas.microsoft.com/office/drawing/2014/main" id="{328B5FFC-DC13-528C-64DC-8F22FA83C9A5}"/>
              </a:ext>
            </a:extLst>
          </p:cNvPr>
          <p:cNvSpPr txBox="1">
            <a:spLocks/>
          </p:cNvSpPr>
          <p:nvPr/>
        </p:nvSpPr>
        <p:spPr>
          <a:xfrm>
            <a:off x="859213" y="1222714"/>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楷体" panose="02010609060101010101" pitchFamily="49" charset="-122"/>
                <a:ea typeface="楷体" panose="02010609060101010101" pitchFamily="49" charset="-122"/>
              </a:rPr>
              <a:t>解释执行阶段</a:t>
            </a:r>
            <a:endParaRPr lang="en-US" sz="2400" dirty="0">
              <a:latin typeface="楷体" panose="02010609060101010101" pitchFamily="49" charset="-122"/>
              <a:ea typeface="楷体" panose="02010609060101010101" pitchFamily="49" charset="-122"/>
            </a:endParaRPr>
          </a:p>
        </p:txBody>
      </p:sp>
      <p:sp>
        <p:nvSpPr>
          <p:cNvPr id="2" name="文本框 1">
            <a:extLst>
              <a:ext uri="{FF2B5EF4-FFF2-40B4-BE49-F238E27FC236}">
                <a16:creationId xmlns:a16="http://schemas.microsoft.com/office/drawing/2014/main" id="{37AB012F-6C2C-80D2-31EA-746CCAE7C50A}"/>
              </a:ext>
            </a:extLst>
          </p:cNvPr>
          <p:cNvSpPr txBox="1"/>
          <p:nvPr/>
        </p:nvSpPr>
        <p:spPr>
          <a:xfrm>
            <a:off x="1409700" y="1740569"/>
            <a:ext cx="9705975" cy="17049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没有符号表的概念，但是依然存在作用域的概念（每个作用域一个</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没有数组、变量、形参数组等的概念，只有</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level+addr+offset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的访存方式</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需要实现指令对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和寄存器的操作，特别是对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中字段的填写（可以为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创建数据结构，也可以直接对内存中的字段进行填写）</a:t>
            </a:r>
          </a:p>
        </p:txBody>
      </p:sp>
      <p:sp>
        <p:nvSpPr>
          <p:cNvPr id="10" name="文本框 9">
            <a:extLst>
              <a:ext uri="{FF2B5EF4-FFF2-40B4-BE49-F238E27FC236}">
                <a16:creationId xmlns:a16="http://schemas.microsoft.com/office/drawing/2014/main" id="{5E52D834-7139-574A-8377-5A1CBFEA8194}"/>
              </a:ext>
            </a:extLst>
          </p:cNvPr>
          <p:cNvSpPr txBox="1"/>
          <p:nvPr/>
        </p:nvSpPr>
        <p:spPr>
          <a:xfrm>
            <a:off x="1409700" y="3532766"/>
            <a:ext cx="8103500" cy="253274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涉及</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分配或回收的：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BLKS</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BLKE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CALL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RET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，分配时需要填充字段</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访存：</a:t>
            </a:r>
            <a:r>
              <a:rPr lang="en-US" altLang="zh-CN" dirty="0">
                <a:latin typeface="Times New Roman" panose="02020603050405020304" pitchFamily="18" charset="0"/>
                <a:ea typeface="楷体" panose="02010609060101010101" pitchFamily="49" charset="-122"/>
                <a:cs typeface="Times New Roman" panose="02020603050405020304" pitchFamily="18" charset="0"/>
              </a:rPr>
              <a:t>LOD</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STO</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跳转：</a:t>
            </a:r>
            <a:r>
              <a:rPr lang="en-US" altLang="zh-CN" dirty="0">
                <a:latin typeface="Times New Roman" panose="02020603050405020304" pitchFamily="18" charset="0"/>
                <a:ea typeface="楷体" panose="02010609060101010101" pitchFamily="49" charset="-122"/>
                <a:cs typeface="Times New Roman" panose="02020603050405020304" pitchFamily="18" charset="0"/>
              </a:rPr>
              <a:t>JMP</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JPC</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JPT</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对栈顶运算：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OPR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LIT</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控制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SP</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INT</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输入输出：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RED</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WRT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组合 4">
            <a:extLst>
              <a:ext uri="{FF2B5EF4-FFF2-40B4-BE49-F238E27FC236}">
                <a16:creationId xmlns:a16="http://schemas.microsoft.com/office/drawing/2014/main" id="{A0E654B0-26E8-8AE9-42E1-8926B6A8CB11}"/>
              </a:ext>
            </a:extLst>
          </p:cNvPr>
          <p:cNvGrpSpPr/>
          <p:nvPr/>
        </p:nvGrpSpPr>
        <p:grpSpPr>
          <a:xfrm>
            <a:off x="1634" y="188687"/>
            <a:ext cx="187052" cy="592364"/>
            <a:chOff x="11571416" y="3959358"/>
            <a:chExt cx="620584" cy="1723139"/>
          </a:xfrm>
        </p:grpSpPr>
        <p:sp>
          <p:nvSpPr>
            <p:cNvPr id="6" name="矩形 5">
              <a:extLst>
                <a:ext uri="{FF2B5EF4-FFF2-40B4-BE49-F238E27FC236}">
                  <a16:creationId xmlns:a16="http://schemas.microsoft.com/office/drawing/2014/main" id="{33F91FD4-9CFE-4B15-A847-5C626178A67D}"/>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1D9F2EF-3EEF-3D4B-D648-87EC29ACC28C}"/>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E6FA86A1-89B0-70A3-0426-B628EA22705C}"/>
              </a:ext>
            </a:extLst>
          </p:cNvPr>
          <p:cNvSpPr txBox="1"/>
          <p:nvPr/>
        </p:nvSpPr>
        <p:spPr>
          <a:xfrm>
            <a:off x="542643" y="199175"/>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Tree>
    <p:custDataLst>
      <p:tags r:id="rId1"/>
    </p:custDataLst>
    <p:extLst>
      <p:ext uri="{BB962C8B-B14F-4D97-AF65-F5344CB8AC3E}">
        <p14:creationId xmlns:p14="http://schemas.microsoft.com/office/powerpoint/2010/main" val="391393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anim calcmode="lin" valueType="num">
                                      <p:cBhvr>
                                        <p:cTn id="13"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9">
            <a:extLst>
              <a:ext uri="{FF2B5EF4-FFF2-40B4-BE49-F238E27FC236}">
                <a16:creationId xmlns:a16="http://schemas.microsoft.com/office/drawing/2014/main" id="{328B5FFC-DC13-528C-64DC-8F22FA83C9A5}"/>
              </a:ext>
            </a:extLst>
          </p:cNvPr>
          <p:cNvSpPr txBox="1">
            <a:spLocks/>
          </p:cNvSpPr>
          <p:nvPr/>
        </p:nvSpPr>
        <p:spPr>
          <a:xfrm>
            <a:off x="605213" y="1222713"/>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普通</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分配</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BFF63F07-ACE7-6034-13D5-6DBD2DE8F55A}"/>
              </a:ext>
            </a:extLst>
          </p:cNvPr>
          <p:cNvPicPr>
            <a:picLocks noChangeAspect="1"/>
          </p:cNvPicPr>
          <p:nvPr/>
        </p:nvPicPr>
        <p:blipFill rotWithShape="1">
          <a:blip r:embed="rId4"/>
          <a:srcRect b="2782"/>
          <a:stretch/>
        </p:blipFill>
        <p:spPr>
          <a:xfrm>
            <a:off x="6777267" y="3381875"/>
            <a:ext cx="1229720" cy="2021806"/>
          </a:xfrm>
          <a:prstGeom prst="rect">
            <a:avLst/>
          </a:prstGeom>
        </p:spPr>
      </p:pic>
      <p:sp>
        <p:nvSpPr>
          <p:cNvPr id="8" name="文本框 7">
            <a:extLst>
              <a:ext uri="{FF2B5EF4-FFF2-40B4-BE49-F238E27FC236}">
                <a16:creationId xmlns:a16="http://schemas.microsoft.com/office/drawing/2014/main" id="{F31D47C3-3777-9DD5-B28C-79A31A57E202}"/>
              </a:ext>
            </a:extLst>
          </p:cNvPr>
          <p:cNvSpPr txBox="1"/>
          <p:nvPr/>
        </p:nvSpPr>
        <p:spPr>
          <a:xfrm>
            <a:off x="5667283" y="4407464"/>
            <a:ext cx="966931" cy="369332"/>
          </a:xfrm>
          <a:prstGeom prst="rect">
            <a:avLst/>
          </a:prstGeom>
          <a:noFill/>
        </p:spPr>
        <p:txBody>
          <a:bodyPr wrap="none" rtlCol="0">
            <a:spAutoFit/>
          </a:bodyPr>
          <a:lstStyle/>
          <a:p>
            <a:r>
              <a:rPr lang="zh-CN" altLang="en-US" dirty="0">
                <a:solidFill>
                  <a:srgbClr val="FF0000"/>
                </a:solidFill>
              </a:rPr>
              <a:t>分配</a:t>
            </a:r>
            <a:r>
              <a:rPr lang="en-US" altLang="zh-CN" dirty="0">
                <a:solidFill>
                  <a:srgbClr val="FF0000"/>
                </a:solidFill>
              </a:rPr>
              <a:t>AR</a:t>
            </a:r>
            <a:endParaRPr lang="zh-CN" altLang="en-US" dirty="0">
              <a:solidFill>
                <a:srgbClr val="FF0000"/>
              </a:solidFill>
            </a:endParaRPr>
          </a:p>
        </p:txBody>
      </p:sp>
      <p:pic>
        <p:nvPicPr>
          <p:cNvPr id="9" name="图片 8">
            <a:extLst>
              <a:ext uri="{FF2B5EF4-FFF2-40B4-BE49-F238E27FC236}">
                <a16:creationId xmlns:a16="http://schemas.microsoft.com/office/drawing/2014/main" id="{5B576C5C-7D7E-1A60-E756-AEBA7D19FBE1}"/>
              </a:ext>
            </a:extLst>
          </p:cNvPr>
          <p:cNvPicPr>
            <a:picLocks noChangeAspect="1"/>
          </p:cNvPicPr>
          <p:nvPr/>
        </p:nvPicPr>
        <p:blipFill rotWithShape="1">
          <a:blip r:embed="rId4"/>
          <a:srcRect b="2782"/>
          <a:stretch/>
        </p:blipFill>
        <p:spPr>
          <a:xfrm>
            <a:off x="9260024" y="3381875"/>
            <a:ext cx="1229720" cy="2021806"/>
          </a:xfrm>
          <a:prstGeom prst="rect">
            <a:avLst/>
          </a:prstGeom>
        </p:spPr>
      </p:pic>
      <p:pic>
        <p:nvPicPr>
          <p:cNvPr id="11" name="图片 10">
            <a:extLst>
              <a:ext uri="{FF2B5EF4-FFF2-40B4-BE49-F238E27FC236}">
                <a16:creationId xmlns:a16="http://schemas.microsoft.com/office/drawing/2014/main" id="{71950311-E556-3570-25C0-EA1A2B74A1F5}"/>
              </a:ext>
            </a:extLst>
          </p:cNvPr>
          <p:cNvPicPr>
            <a:picLocks noChangeAspect="1"/>
          </p:cNvPicPr>
          <p:nvPr/>
        </p:nvPicPr>
        <p:blipFill rotWithShape="1">
          <a:blip r:embed="rId4"/>
          <a:srcRect b="2782"/>
          <a:stretch/>
        </p:blipFill>
        <p:spPr>
          <a:xfrm>
            <a:off x="9260024" y="1481641"/>
            <a:ext cx="1229720" cy="2021806"/>
          </a:xfrm>
          <a:prstGeom prst="rect">
            <a:avLst/>
          </a:prstGeom>
        </p:spPr>
      </p:pic>
      <p:cxnSp>
        <p:nvCxnSpPr>
          <p:cNvPr id="13" name="直接箭头连接符 12">
            <a:extLst>
              <a:ext uri="{FF2B5EF4-FFF2-40B4-BE49-F238E27FC236}">
                <a16:creationId xmlns:a16="http://schemas.microsoft.com/office/drawing/2014/main" id="{1CA769A1-B4EF-FA9E-E3AD-2CAF5AE768B2}"/>
              </a:ext>
            </a:extLst>
          </p:cNvPr>
          <p:cNvCxnSpPr/>
          <p:nvPr/>
        </p:nvCxnSpPr>
        <p:spPr>
          <a:xfrm flipH="1">
            <a:off x="7850652" y="5403681"/>
            <a:ext cx="42303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A853CF90-7B97-E621-C353-347244D2A973}"/>
              </a:ext>
            </a:extLst>
          </p:cNvPr>
          <p:cNvCxnSpPr/>
          <p:nvPr/>
        </p:nvCxnSpPr>
        <p:spPr>
          <a:xfrm flipH="1">
            <a:off x="7850652" y="3446298"/>
            <a:ext cx="42303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F9CBB429-ED56-3483-EEAC-B93FFF2B22B2}"/>
              </a:ext>
            </a:extLst>
          </p:cNvPr>
          <p:cNvSpPr txBox="1"/>
          <p:nvPr/>
        </p:nvSpPr>
        <p:spPr>
          <a:xfrm>
            <a:off x="8273687" y="5219015"/>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17" name="文本框 16">
            <a:extLst>
              <a:ext uri="{FF2B5EF4-FFF2-40B4-BE49-F238E27FC236}">
                <a16:creationId xmlns:a16="http://schemas.microsoft.com/office/drawing/2014/main" id="{25DD8B02-3EEF-60FB-650E-AE3C7D13856F}"/>
              </a:ext>
            </a:extLst>
          </p:cNvPr>
          <p:cNvSpPr txBox="1"/>
          <p:nvPr/>
        </p:nvSpPr>
        <p:spPr>
          <a:xfrm>
            <a:off x="8257742" y="3261632"/>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cxnSp>
        <p:nvCxnSpPr>
          <p:cNvPr id="18" name="直接箭头连接符 17">
            <a:extLst>
              <a:ext uri="{FF2B5EF4-FFF2-40B4-BE49-F238E27FC236}">
                <a16:creationId xmlns:a16="http://schemas.microsoft.com/office/drawing/2014/main" id="{84595D66-F5A9-6AB6-BA9C-EBC0931BEA06}"/>
              </a:ext>
            </a:extLst>
          </p:cNvPr>
          <p:cNvCxnSpPr/>
          <p:nvPr/>
        </p:nvCxnSpPr>
        <p:spPr>
          <a:xfrm flipH="1">
            <a:off x="10378837" y="3381875"/>
            <a:ext cx="42303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23D7087C-E916-8F95-D57C-34A293CC0DE2}"/>
              </a:ext>
            </a:extLst>
          </p:cNvPr>
          <p:cNvSpPr txBox="1"/>
          <p:nvPr/>
        </p:nvSpPr>
        <p:spPr>
          <a:xfrm>
            <a:off x="10801872" y="3197209"/>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cxnSp>
        <p:nvCxnSpPr>
          <p:cNvPr id="20" name="直接箭头连接符 19">
            <a:extLst>
              <a:ext uri="{FF2B5EF4-FFF2-40B4-BE49-F238E27FC236}">
                <a16:creationId xmlns:a16="http://schemas.microsoft.com/office/drawing/2014/main" id="{DE46B917-C7EE-716C-F144-C3A63C4EE216}"/>
              </a:ext>
            </a:extLst>
          </p:cNvPr>
          <p:cNvCxnSpPr/>
          <p:nvPr/>
        </p:nvCxnSpPr>
        <p:spPr>
          <a:xfrm flipH="1">
            <a:off x="10394782" y="2735544"/>
            <a:ext cx="42303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7ED2CF6B-769C-2195-64D3-D35A8765E5B1}"/>
              </a:ext>
            </a:extLst>
          </p:cNvPr>
          <p:cNvSpPr txBox="1"/>
          <p:nvPr/>
        </p:nvSpPr>
        <p:spPr>
          <a:xfrm>
            <a:off x="10801872" y="2550878"/>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sp>
        <p:nvSpPr>
          <p:cNvPr id="22" name="箭头: 右 21">
            <a:extLst>
              <a:ext uri="{FF2B5EF4-FFF2-40B4-BE49-F238E27FC236}">
                <a16:creationId xmlns:a16="http://schemas.microsoft.com/office/drawing/2014/main" id="{36F2BE7F-E67A-89AB-9B93-9175A6437DB4}"/>
              </a:ext>
            </a:extLst>
          </p:cNvPr>
          <p:cNvSpPr/>
          <p:nvPr/>
        </p:nvSpPr>
        <p:spPr>
          <a:xfrm>
            <a:off x="8642112" y="4149037"/>
            <a:ext cx="49244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672076DE-B5C4-3519-21D1-2BBD9DB8CA5F}"/>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4D59A5D5-9B70-081B-31F7-2C06C9FF82B0}"/>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81F2208-C13F-5F92-FA75-AAB4E1EA6FA3}"/>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545F7127-7816-E6BA-13CC-43D363A228F2}"/>
              </a:ext>
            </a:extLst>
          </p:cNvPr>
          <p:cNvSpPr txBox="1"/>
          <p:nvPr/>
        </p:nvSpPr>
        <p:spPr>
          <a:xfrm>
            <a:off x="485493" y="214656"/>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
        <p:nvSpPr>
          <p:cNvPr id="24" name="标题 29">
            <a:extLst>
              <a:ext uri="{FF2B5EF4-FFF2-40B4-BE49-F238E27FC236}">
                <a16:creationId xmlns:a16="http://schemas.microsoft.com/office/drawing/2014/main" id="{C18C00CF-660D-E182-3791-CDE6C7A17C50}"/>
              </a:ext>
            </a:extLst>
          </p:cNvPr>
          <p:cNvSpPr txBox="1">
            <a:spLocks/>
          </p:cNvSpPr>
          <p:nvPr/>
        </p:nvSpPr>
        <p:spPr>
          <a:xfrm>
            <a:off x="605212" y="1991917"/>
            <a:ext cx="5446337"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生成新的活动记录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标题 29">
            <a:extLst>
              <a:ext uri="{FF2B5EF4-FFF2-40B4-BE49-F238E27FC236}">
                <a16:creationId xmlns:a16="http://schemas.microsoft.com/office/drawing/2014/main" id="{C6194CCB-D200-2B1E-D86F-4D336108A2D3}"/>
              </a:ext>
            </a:extLst>
          </p:cNvPr>
          <p:cNvSpPr txBox="1">
            <a:spLocks/>
          </p:cNvSpPr>
          <p:nvPr/>
        </p:nvSpPr>
        <p:spPr>
          <a:xfrm>
            <a:off x="605210" y="2686331"/>
            <a:ext cx="5446337"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设置活动记录</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的静态链</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SL</a:t>
            </a:r>
            <a:endParaRPr 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标题 29">
            <a:extLst>
              <a:ext uri="{FF2B5EF4-FFF2-40B4-BE49-F238E27FC236}">
                <a16:creationId xmlns:a16="http://schemas.microsoft.com/office/drawing/2014/main" id="{FD60C4E4-4180-850D-57D4-79B16D86B942}"/>
              </a:ext>
            </a:extLst>
          </p:cNvPr>
          <p:cNvSpPr txBox="1">
            <a:spLocks/>
          </p:cNvSpPr>
          <p:nvPr/>
        </p:nvSpPr>
        <p:spPr>
          <a:xfrm>
            <a:off x="605209" y="3380745"/>
            <a:ext cx="5446337"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设置活动记录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的存储空间基地址</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sp</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标题 29">
            <a:extLst>
              <a:ext uri="{FF2B5EF4-FFF2-40B4-BE49-F238E27FC236}">
                <a16:creationId xmlns:a16="http://schemas.microsoft.com/office/drawing/2014/main" id="{796D7B39-4EDC-6DD6-D8C5-352DAD8EA352}"/>
              </a:ext>
            </a:extLst>
          </p:cNvPr>
          <p:cNvSpPr txBox="1">
            <a:spLocks/>
          </p:cNvSpPr>
          <p:nvPr/>
        </p:nvSpPr>
        <p:spPr>
          <a:xfrm>
            <a:off x="605208" y="4219753"/>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普通</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回收</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标题 29">
            <a:extLst>
              <a:ext uri="{FF2B5EF4-FFF2-40B4-BE49-F238E27FC236}">
                <a16:creationId xmlns:a16="http://schemas.microsoft.com/office/drawing/2014/main" id="{11E88A26-2F3D-F7B3-9910-BC76E8E24137}"/>
              </a:ext>
            </a:extLst>
          </p:cNvPr>
          <p:cNvSpPr txBox="1">
            <a:spLocks/>
          </p:cNvSpPr>
          <p:nvPr/>
        </p:nvSpPr>
        <p:spPr>
          <a:xfrm>
            <a:off x="605207" y="4834018"/>
            <a:ext cx="5446337"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回收活动记录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的存储空间</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∙根据</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获取当前</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指令执行位置</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pc</a:t>
            </a:r>
          </a:p>
          <a:p>
            <a:endPar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回收活动记录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endPar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31698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9">
            <a:extLst>
              <a:ext uri="{FF2B5EF4-FFF2-40B4-BE49-F238E27FC236}">
                <a16:creationId xmlns:a16="http://schemas.microsoft.com/office/drawing/2014/main" id="{328B5FFC-DC13-528C-64DC-8F22FA83C9A5}"/>
              </a:ext>
            </a:extLst>
          </p:cNvPr>
          <p:cNvSpPr txBox="1">
            <a:spLocks/>
          </p:cNvSpPr>
          <p:nvPr/>
        </p:nvSpPr>
        <p:spPr>
          <a:xfrm>
            <a:off x="490754" y="1176174"/>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的分配与回收</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2" name="图片 11">
            <a:extLst>
              <a:ext uri="{FF2B5EF4-FFF2-40B4-BE49-F238E27FC236}">
                <a16:creationId xmlns:a16="http://schemas.microsoft.com/office/drawing/2014/main" id="{48D6ABEA-F874-50A7-11E9-5D2CAA38EA32}"/>
              </a:ext>
            </a:extLst>
          </p:cNvPr>
          <p:cNvPicPr>
            <a:picLocks noChangeAspect="1"/>
          </p:cNvPicPr>
          <p:nvPr/>
        </p:nvPicPr>
        <p:blipFill rotWithShape="1">
          <a:blip r:embed="rId4"/>
          <a:srcRect b="2782"/>
          <a:stretch/>
        </p:blipFill>
        <p:spPr>
          <a:xfrm>
            <a:off x="5508459" y="3712930"/>
            <a:ext cx="1229720" cy="2021806"/>
          </a:xfrm>
          <a:prstGeom prst="rect">
            <a:avLst/>
          </a:prstGeom>
        </p:spPr>
      </p:pic>
      <p:sp>
        <p:nvSpPr>
          <p:cNvPr id="22" name="矩形 21">
            <a:extLst>
              <a:ext uri="{FF2B5EF4-FFF2-40B4-BE49-F238E27FC236}">
                <a16:creationId xmlns:a16="http://schemas.microsoft.com/office/drawing/2014/main" id="{6D27D7B8-6D36-8D9B-CEEC-DAB7F57D0119}"/>
              </a:ext>
            </a:extLst>
          </p:cNvPr>
          <p:cNvSpPr/>
          <p:nvPr/>
        </p:nvSpPr>
        <p:spPr>
          <a:xfrm>
            <a:off x="5595621" y="355482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1A3EB19-81D9-0D2C-83BB-C2AA1EBDB954}"/>
              </a:ext>
            </a:extLst>
          </p:cNvPr>
          <p:cNvSpPr/>
          <p:nvPr/>
        </p:nvSpPr>
        <p:spPr>
          <a:xfrm>
            <a:off x="5595621" y="331606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BF7009D9-EB40-40AF-0F08-64F41E63657D}"/>
              </a:ext>
            </a:extLst>
          </p:cNvPr>
          <p:cNvSpPr/>
          <p:nvPr/>
        </p:nvSpPr>
        <p:spPr>
          <a:xfrm>
            <a:off x="5595621" y="307730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2C782DA5-9FBA-8807-3606-715B9B382FDC}"/>
              </a:ext>
            </a:extLst>
          </p:cNvPr>
          <p:cNvSpPr txBox="1"/>
          <p:nvPr/>
        </p:nvSpPr>
        <p:spPr>
          <a:xfrm>
            <a:off x="5808101" y="3535702"/>
            <a:ext cx="575799" cy="276999"/>
          </a:xfrm>
          <a:prstGeom prst="rect">
            <a:avLst/>
          </a:prstGeom>
          <a:noFill/>
        </p:spPr>
        <p:txBody>
          <a:bodyPr wrap="none" rtlCol="0">
            <a:spAutoFit/>
          </a:bodyPr>
          <a:lstStyle/>
          <a:p>
            <a:r>
              <a:rPr lang="en-US" altLang="zh-CN" sz="1200" dirty="0">
                <a:solidFill>
                  <a:srgbClr val="FF0000"/>
                </a:solidFill>
              </a:rPr>
              <a:t>para1</a:t>
            </a:r>
            <a:endParaRPr lang="zh-CN" altLang="en-US" sz="1200" dirty="0">
              <a:solidFill>
                <a:srgbClr val="FF0000"/>
              </a:solidFill>
            </a:endParaRPr>
          </a:p>
        </p:txBody>
      </p:sp>
      <p:sp>
        <p:nvSpPr>
          <p:cNvPr id="26" name="文本框 25">
            <a:extLst>
              <a:ext uri="{FF2B5EF4-FFF2-40B4-BE49-F238E27FC236}">
                <a16:creationId xmlns:a16="http://schemas.microsoft.com/office/drawing/2014/main" id="{404C7070-C483-E76F-3579-FEC6BE3DD185}"/>
              </a:ext>
            </a:extLst>
          </p:cNvPr>
          <p:cNvSpPr txBox="1"/>
          <p:nvPr/>
        </p:nvSpPr>
        <p:spPr>
          <a:xfrm>
            <a:off x="5814402" y="3298660"/>
            <a:ext cx="575799" cy="276999"/>
          </a:xfrm>
          <a:prstGeom prst="rect">
            <a:avLst/>
          </a:prstGeom>
          <a:noFill/>
        </p:spPr>
        <p:txBody>
          <a:bodyPr wrap="none" rtlCol="0">
            <a:spAutoFit/>
          </a:bodyPr>
          <a:lstStyle/>
          <a:p>
            <a:r>
              <a:rPr lang="en-US" altLang="zh-CN" sz="1200" dirty="0">
                <a:solidFill>
                  <a:srgbClr val="FF0000"/>
                </a:solidFill>
              </a:rPr>
              <a:t>para2</a:t>
            </a:r>
            <a:endParaRPr lang="zh-CN" altLang="en-US" sz="1200" dirty="0">
              <a:solidFill>
                <a:srgbClr val="FF0000"/>
              </a:solidFill>
            </a:endParaRPr>
          </a:p>
        </p:txBody>
      </p:sp>
      <p:sp>
        <p:nvSpPr>
          <p:cNvPr id="27" name="文本框 26">
            <a:extLst>
              <a:ext uri="{FF2B5EF4-FFF2-40B4-BE49-F238E27FC236}">
                <a16:creationId xmlns:a16="http://schemas.microsoft.com/office/drawing/2014/main" id="{F5E08033-6D4C-54A1-AD7F-885A38AB58A5}"/>
              </a:ext>
            </a:extLst>
          </p:cNvPr>
          <p:cNvSpPr txBox="1"/>
          <p:nvPr/>
        </p:nvSpPr>
        <p:spPr>
          <a:xfrm>
            <a:off x="5820703" y="3061618"/>
            <a:ext cx="575799" cy="276999"/>
          </a:xfrm>
          <a:prstGeom prst="rect">
            <a:avLst/>
          </a:prstGeom>
          <a:noFill/>
        </p:spPr>
        <p:txBody>
          <a:bodyPr wrap="none" rtlCol="0">
            <a:spAutoFit/>
          </a:bodyPr>
          <a:lstStyle/>
          <a:p>
            <a:r>
              <a:rPr lang="en-US" altLang="zh-CN" sz="1200" dirty="0">
                <a:solidFill>
                  <a:srgbClr val="FF0000"/>
                </a:solidFill>
              </a:rPr>
              <a:t>para3</a:t>
            </a:r>
            <a:endParaRPr lang="zh-CN" altLang="en-US" sz="1200" dirty="0">
              <a:solidFill>
                <a:srgbClr val="FF0000"/>
              </a:solidFill>
            </a:endParaRPr>
          </a:p>
        </p:txBody>
      </p:sp>
      <p:sp>
        <p:nvSpPr>
          <p:cNvPr id="29" name="矩形 28">
            <a:extLst>
              <a:ext uri="{FF2B5EF4-FFF2-40B4-BE49-F238E27FC236}">
                <a16:creationId xmlns:a16="http://schemas.microsoft.com/office/drawing/2014/main" id="{5993656E-7D5C-A59A-3E84-2DE4741A0DF2}"/>
              </a:ext>
            </a:extLst>
          </p:cNvPr>
          <p:cNvSpPr/>
          <p:nvPr/>
        </p:nvSpPr>
        <p:spPr>
          <a:xfrm>
            <a:off x="5595620" y="1594548"/>
            <a:ext cx="1000760" cy="148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3C68A623-2B2D-5AD1-B4F6-E4825C7CFACE}"/>
              </a:ext>
            </a:extLst>
          </p:cNvPr>
          <p:cNvSpPr/>
          <p:nvPr/>
        </p:nvSpPr>
        <p:spPr>
          <a:xfrm>
            <a:off x="6989391" y="3860702"/>
            <a:ext cx="457200" cy="243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箭头连接符 31">
            <a:extLst>
              <a:ext uri="{FF2B5EF4-FFF2-40B4-BE49-F238E27FC236}">
                <a16:creationId xmlns:a16="http://schemas.microsoft.com/office/drawing/2014/main" id="{AC087373-E8E0-AEA4-DE77-A1074376960D}"/>
              </a:ext>
            </a:extLst>
          </p:cNvPr>
          <p:cNvCxnSpPr/>
          <p:nvPr/>
        </p:nvCxnSpPr>
        <p:spPr>
          <a:xfrm flipH="1">
            <a:off x="6596380" y="3148422"/>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E33792EE-3FEA-53C8-7CD1-57757CC67BFC}"/>
              </a:ext>
            </a:extLst>
          </p:cNvPr>
          <p:cNvSpPr txBox="1"/>
          <p:nvPr/>
        </p:nvSpPr>
        <p:spPr>
          <a:xfrm>
            <a:off x="6738179" y="2963756"/>
            <a:ext cx="492443" cy="369332"/>
          </a:xfrm>
          <a:prstGeom prst="rect">
            <a:avLst/>
          </a:prstGeom>
          <a:noFill/>
        </p:spPr>
        <p:txBody>
          <a:bodyPr wrap="none" rtlCol="0">
            <a:spAutoFit/>
          </a:bodyPr>
          <a:lstStyle/>
          <a:p>
            <a:r>
              <a:rPr lang="en-US" altLang="zh-CN" dirty="0">
                <a:solidFill>
                  <a:srgbClr val="FF0000"/>
                </a:solidFill>
              </a:rPr>
              <a:t>SP</a:t>
            </a:r>
            <a:endParaRPr lang="zh-CN" altLang="en-US" dirty="0">
              <a:solidFill>
                <a:srgbClr val="FF0000"/>
              </a:solidFill>
            </a:endParaRPr>
          </a:p>
        </p:txBody>
      </p:sp>
      <p:pic>
        <p:nvPicPr>
          <p:cNvPr id="38" name="图片 37">
            <a:extLst>
              <a:ext uri="{FF2B5EF4-FFF2-40B4-BE49-F238E27FC236}">
                <a16:creationId xmlns:a16="http://schemas.microsoft.com/office/drawing/2014/main" id="{6A6AB018-B0FF-3B41-0969-4D76B3F3FAB8}"/>
              </a:ext>
            </a:extLst>
          </p:cNvPr>
          <p:cNvPicPr>
            <a:picLocks noChangeAspect="1"/>
          </p:cNvPicPr>
          <p:nvPr/>
        </p:nvPicPr>
        <p:blipFill rotWithShape="1">
          <a:blip r:embed="rId4"/>
          <a:srcRect b="2782"/>
          <a:stretch/>
        </p:blipFill>
        <p:spPr>
          <a:xfrm>
            <a:off x="7766044" y="3712930"/>
            <a:ext cx="1229720" cy="2021806"/>
          </a:xfrm>
          <a:prstGeom prst="rect">
            <a:avLst/>
          </a:prstGeom>
        </p:spPr>
      </p:pic>
      <p:sp>
        <p:nvSpPr>
          <p:cNvPr id="39" name="矩形 38">
            <a:extLst>
              <a:ext uri="{FF2B5EF4-FFF2-40B4-BE49-F238E27FC236}">
                <a16:creationId xmlns:a16="http://schemas.microsoft.com/office/drawing/2014/main" id="{ACD1A1DD-F754-64A3-5275-016C06E7BBC0}"/>
              </a:ext>
            </a:extLst>
          </p:cNvPr>
          <p:cNvSpPr/>
          <p:nvPr/>
        </p:nvSpPr>
        <p:spPr>
          <a:xfrm>
            <a:off x="7853206" y="355482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E5AA09BB-A9E1-6438-CC00-F49E4FD97476}"/>
              </a:ext>
            </a:extLst>
          </p:cNvPr>
          <p:cNvSpPr/>
          <p:nvPr/>
        </p:nvSpPr>
        <p:spPr>
          <a:xfrm>
            <a:off x="7853206" y="331606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6B9A62BF-A7FA-8C81-726B-5FB61C567E47}"/>
              </a:ext>
            </a:extLst>
          </p:cNvPr>
          <p:cNvSpPr/>
          <p:nvPr/>
        </p:nvSpPr>
        <p:spPr>
          <a:xfrm>
            <a:off x="7853206" y="3077302"/>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9B60ABC9-5E91-0799-3682-39D06D0D4E64}"/>
              </a:ext>
            </a:extLst>
          </p:cNvPr>
          <p:cNvSpPr txBox="1"/>
          <p:nvPr/>
        </p:nvSpPr>
        <p:spPr>
          <a:xfrm>
            <a:off x="8065686" y="3535702"/>
            <a:ext cx="646331" cy="276999"/>
          </a:xfrm>
          <a:prstGeom prst="rect">
            <a:avLst/>
          </a:prstGeom>
          <a:noFill/>
        </p:spPr>
        <p:txBody>
          <a:bodyPr wrap="none" rtlCol="0">
            <a:spAutoFit/>
          </a:bodyPr>
          <a:lstStyle/>
          <a:p>
            <a:r>
              <a:rPr lang="zh-CN" altLang="en-US" sz="1200" dirty="0">
                <a:solidFill>
                  <a:srgbClr val="FF0000"/>
                </a:solidFill>
              </a:rPr>
              <a:t>返回值</a:t>
            </a:r>
          </a:p>
        </p:txBody>
      </p:sp>
      <p:sp>
        <p:nvSpPr>
          <p:cNvPr id="43" name="文本框 42">
            <a:extLst>
              <a:ext uri="{FF2B5EF4-FFF2-40B4-BE49-F238E27FC236}">
                <a16:creationId xmlns:a16="http://schemas.microsoft.com/office/drawing/2014/main" id="{042BD2B8-3469-6FE2-3A54-480484EB47F9}"/>
              </a:ext>
            </a:extLst>
          </p:cNvPr>
          <p:cNvSpPr txBox="1"/>
          <p:nvPr/>
        </p:nvSpPr>
        <p:spPr>
          <a:xfrm>
            <a:off x="7988167" y="3298660"/>
            <a:ext cx="800219" cy="276999"/>
          </a:xfrm>
          <a:prstGeom prst="rect">
            <a:avLst/>
          </a:prstGeom>
          <a:noFill/>
        </p:spPr>
        <p:txBody>
          <a:bodyPr wrap="none" rtlCol="0">
            <a:spAutoFit/>
          </a:bodyPr>
          <a:lstStyle/>
          <a:p>
            <a:r>
              <a:rPr lang="zh-CN" altLang="en-US" sz="1200" dirty="0">
                <a:solidFill>
                  <a:srgbClr val="FF0000"/>
                </a:solidFill>
              </a:rPr>
              <a:t>返回地址</a:t>
            </a:r>
          </a:p>
        </p:txBody>
      </p:sp>
      <p:sp>
        <p:nvSpPr>
          <p:cNvPr id="44" name="文本框 43">
            <a:extLst>
              <a:ext uri="{FF2B5EF4-FFF2-40B4-BE49-F238E27FC236}">
                <a16:creationId xmlns:a16="http://schemas.microsoft.com/office/drawing/2014/main" id="{361FD2C4-FECF-FFF0-C3BB-6187D409C1FD}"/>
              </a:ext>
            </a:extLst>
          </p:cNvPr>
          <p:cNvSpPr txBox="1"/>
          <p:nvPr/>
        </p:nvSpPr>
        <p:spPr>
          <a:xfrm>
            <a:off x="8078288" y="3061618"/>
            <a:ext cx="646331" cy="276999"/>
          </a:xfrm>
          <a:prstGeom prst="rect">
            <a:avLst/>
          </a:prstGeom>
          <a:noFill/>
        </p:spPr>
        <p:txBody>
          <a:bodyPr wrap="none" rtlCol="0">
            <a:spAutoFit/>
          </a:bodyPr>
          <a:lstStyle/>
          <a:p>
            <a:r>
              <a:rPr lang="zh-CN" altLang="en-US" sz="1200" dirty="0">
                <a:solidFill>
                  <a:srgbClr val="FF0000"/>
                </a:solidFill>
              </a:rPr>
              <a:t>静态链</a:t>
            </a:r>
          </a:p>
        </p:txBody>
      </p:sp>
      <p:sp>
        <p:nvSpPr>
          <p:cNvPr id="45" name="矩形 44">
            <a:extLst>
              <a:ext uri="{FF2B5EF4-FFF2-40B4-BE49-F238E27FC236}">
                <a16:creationId xmlns:a16="http://schemas.microsoft.com/office/drawing/2014/main" id="{C61501F1-E1AF-B9C4-69D3-61236A647780}"/>
              </a:ext>
            </a:extLst>
          </p:cNvPr>
          <p:cNvSpPr/>
          <p:nvPr/>
        </p:nvSpPr>
        <p:spPr>
          <a:xfrm>
            <a:off x="7853205" y="1594548"/>
            <a:ext cx="1000760" cy="148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a:extLst>
              <a:ext uri="{FF2B5EF4-FFF2-40B4-BE49-F238E27FC236}">
                <a16:creationId xmlns:a16="http://schemas.microsoft.com/office/drawing/2014/main" id="{42F49632-D122-7A2F-2EFA-82C9BD3B4D60}"/>
              </a:ext>
            </a:extLst>
          </p:cNvPr>
          <p:cNvCxnSpPr>
            <a:cxnSpLocks/>
          </p:cNvCxnSpPr>
          <p:nvPr/>
        </p:nvCxnSpPr>
        <p:spPr>
          <a:xfrm flipH="1">
            <a:off x="8869860" y="3891762"/>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6041D187-56B6-885E-8125-863C94E763C5}"/>
              </a:ext>
            </a:extLst>
          </p:cNvPr>
          <p:cNvSpPr txBox="1"/>
          <p:nvPr/>
        </p:nvSpPr>
        <p:spPr>
          <a:xfrm>
            <a:off x="9011659" y="3707096"/>
            <a:ext cx="492443" cy="369332"/>
          </a:xfrm>
          <a:prstGeom prst="rect">
            <a:avLst/>
          </a:prstGeom>
          <a:noFill/>
        </p:spPr>
        <p:txBody>
          <a:bodyPr wrap="square" rtlCol="0">
            <a:spAutoFit/>
          </a:bodyPr>
          <a:lstStyle/>
          <a:p>
            <a:r>
              <a:rPr lang="en-US" altLang="zh-CN" dirty="0">
                <a:solidFill>
                  <a:srgbClr val="FF0000"/>
                </a:solidFill>
              </a:rPr>
              <a:t>SP</a:t>
            </a:r>
            <a:endParaRPr lang="zh-CN" altLang="en-US" dirty="0">
              <a:solidFill>
                <a:srgbClr val="FF0000"/>
              </a:solidFill>
            </a:endParaRPr>
          </a:p>
        </p:txBody>
      </p:sp>
      <p:sp>
        <p:nvSpPr>
          <p:cNvPr id="48" name="矩形 47">
            <a:extLst>
              <a:ext uri="{FF2B5EF4-FFF2-40B4-BE49-F238E27FC236}">
                <a16:creationId xmlns:a16="http://schemas.microsoft.com/office/drawing/2014/main" id="{096A5932-F1A6-9E6B-F5A8-15259D7F6E1B}"/>
              </a:ext>
            </a:extLst>
          </p:cNvPr>
          <p:cNvSpPr/>
          <p:nvPr/>
        </p:nvSpPr>
        <p:spPr>
          <a:xfrm>
            <a:off x="7853206" y="2568678"/>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B1904F7F-4B9F-E459-3015-508D68F3ADCD}"/>
              </a:ext>
            </a:extLst>
          </p:cNvPr>
          <p:cNvSpPr/>
          <p:nvPr/>
        </p:nvSpPr>
        <p:spPr>
          <a:xfrm>
            <a:off x="7853206" y="2329918"/>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22C8CD23-9874-B4B0-1F65-C9919298C8DF}"/>
              </a:ext>
            </a:extLst>
          </p:cNvPr>
          <p:cNvSpPr/>
          <p:nvPr/>
        </p:nvSpPr>
        <p:spPr>
          <a:xfrm>
            <a:off x="7853206" y="2091158"/>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ABC4A5A1-5EAA-69BA-9856-DDB2A3CBEA00}"/>
              </a:ext>
            </a:extLst>
          </p:cNvPr>
          <p:cNvSpPr txBox="1"/>
          <p:nvPr/>
        </p:nvSpPr>
        <p:spPr>
          <a:xfrm>
            <a:off x="8065686" y="2549558"/>
            <a:ext cx="575799" cy="276999"/>
          </a:xfrm>
          <a:prstGeom prst="rect">
            <a:avLst/>
          </a:prstGeom>
          <a:noFill/>
        </p:spPr>
        <p:txBody>
          <a:bodyPr wrap="none" rtlCol="0">
            <a:spAutoFit/>
          </a:bodyPr>
          <a:lstStyle/>
          <a:p>
            <a:r>
              <a:rPr lang="en-US" altLang="zh-CN" sz="1200" dirty="0">
                <a:solidFill>
                  <a:srgbClr val="FF0000"/>
                </a:solidFill>
              </a:rPr>
              <a:t>para1</a:t>
            </a:r>
            <a:endParaRPr lang="zh-CN" altLang="en-US" sz="1200" dirty="0">
              <a:solidFill>
                <a:srgbClr val="FF0000"/>
              </a:solidFill>
            </a:endParaRPr>
          </a:p>
        </p:txBody>
      </p:sp>
      <p:sp>
        <p:nvSpPr>
          <p:cNvPr id="52" name="文本框 51">
            <a:extLst>
              <a:ext uri="{FF2B5EF4-FFF2-40B4-BE49-F238E27FC236}">
                <a16:creationId xmlns:a16="http://schemas.microsoft.com/office/drawing/2014/main" id="{BF2B153A-A2A5-CBB9-8B21-416AD510A1FF}"/>
              </a:ext>
            </a:extLst>
          </p:cNvPr>
          <p:cNvSpPr txBox="1"/>
          <p:nvPr/>
        </p:nvSpPr>
        <p:spPr>
          <a:xfrm>
            <a:off x="8071987" y="2312516"/>
            <a:ext cx="575799" cy="276999"/>
          </a:xfrm>
          <a:prstGeom prst="rect">
            <a:avLst/>
          </a:prstGeom>
          <a:noFill/>
        </p:spPr>
        <p:txBody>
          <a:bodyPr wrap="none" rtlCol="0">
            <a:spAutoFit/>
          </a:bodyPr>
          <a:lstStyle/>
          <a:p>
            <a:r>
              <a:rPr lang="en-US" altLang="zh-CN" sz="1200" dirty="0">
                <a:solidFill>
                  <a:srgbClr val="FF0000"/>
                </a:solidFill>
              </a:rPr>
              <a:t>para2</a:t>
            </a:r>
            <a:endParaRPr lang="zh-CN" altLang="en-US" sz="1200" dirty="0">
              <a:solidFill>
                <a:srgbClr val="FF0000"/>
              </a:solidFill>
            </a:endParaRPr>
          </a:p>
        </p:txBody>
      </p:sp>
      <p:sp>
        <p:nvSpPr>
          <p:cNvPr id="53" name="文本框 52">
            <a:extLst>
              <a:ext uri="{FF2B5EF4-FFF2-40B4-BE49-F238E27FC236}">
                <a16:creationId xmlns:a16="http://schemas.microsoft.com/office/drawing/2014/main" id="{8D868177-5B84-688D-B1DF-3796B801763A}"/>
              </a:ext>
            </a:extLst>
          </p:cNvPr>
          <p:cNvSpPr txBox="1"/>
          <p:nvPr/>
        </p:nvSpPr>
        <p:spPr>
          <a:xfrm>
            <a:off x="8078288" y="2075474"/>
            <a:ext cx="575799" cy="276999"/>
          </a:xfrm>
          <a:prstGeom prst="rect">
            <a:avLst/>
          </a:prstGeom>
          <a:noFill/>
        </p:spPr>
        <p:txBody>
          <a:bodyPr wrap="none" rtlCol="0">
            <a:spAutoFit/>
          </a:bodyPr>
          <a:lstStyle/>
          <a:p>
            <a:r>
              <a:rPr lang="en-US" altLang="zh-CN" sz="1200" dirty="0">
                <a:solidFill>
                  <a:srgbClr val="FF0000"/>
                </a:solidFill>
              </a:rPr>
              <a:t>para3</a:t>
            </a:r>
            <a:endParaRPr lang="zh-CN" altLang="en-US" sz="1200" dirty="0">
              <a:solidFill>
                <a:srgbClr val="FF0000"/>
              </a:solidFill>
            </a:endParaRPr>
          </a:p>
        </p:txBody>
      </p:sp>
      <p:sp>
        <p:nvSpPr>
          <p:cNvPr id="55" name="文本框 54">
            <a:extLst>
              <a:ext uri="{FF2B5EF4-FFF2-40B4-BE49-F238E27FC236}">
                <a16:creationId xmlns:a16="http://schemas.microsoft.com/office/drawing/2014/main" id="{59168ECC-242A-1EB7-6A37-BA35F669154F}"/>
              </a:ext>
            </a:extLst>
          </p:cNvPr>
          <p:cNvSpPr txBox="1"/>
          <p:nvPr/>
        </p:nvSpPr>
        <p:spPr>
          <a:xfrm>
            <a:off x="8065110" y="2819423"/>
            <a:ext cx="646331" cy="276999"/>
          </a:xfrm>
          <a:prstGeom prst="rect">
            <a:avLst/>
          </a:prstGeom>
          <a:noFill/>
        </p:spPr>
        <p:txBody>
          <a:bodyPr wrap="none" rtlCol="0">
            <a:spAutoFit/>
          </a:bodyPr>
          <a:lstStyle/>
          <a:p>
            <a:r>
              <a:rPr lang="zh-CN" altLang="en-US" sz="1200" dirty="0">
                <a:solidFill>
                  <a:srgbClr val="FF0000"/>
                </a:solidFill>
              </a:rPr>
              <a:t>动态链</a:t>
            </a:r>
          </a:p>
        </p:txBody>
      </p:sp>
      <p:cxnSp>
        <p:nvCxnSpPr>
          <p:cNvPr id="57" name="直接箭头连接符 56">
            <a:extLst>
              <a:ext uri="{FF2B5EF4-FFF2-40B4-BE49-F238E27FC236}">
                <a16:creationId xmlns:a16="http://schemas.microsoft.com/office/drawing/2014/main" id="{9B337066-EDA4-87E9-5216-383476597BD0}"/>
              </a:ext>
            </a:extLst>
          </p:cNvPr>
          <p:cNvCxnSpPr/>
          <p:nvPr/>
        </p:nvCxnSpPr>
        <p:spPr>
          <a:xfrm flipH="1">
            <a:off x="6596380" y="5642166"/>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C300B70B-6ED5-9168-3FBE-4C2C685D7B6C}"/>
              </a:ext>
            </a:extLst>
          </p:cNvPr>
          <p:cNvSpPr txBox="1"/>
          <p:nvPr/>
        </p:nvSpPr>
        <p:spPr>
          <a:xfrm>
            <a:off x="6738179" y="5457500"/>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59" name="箭头: 右 58">
            <a:extLst>
              <a:ext uri="{FF2B5EF4-FFF2-40B4-BE49-F238E27FC236}">
                <a16:creationId xmlns:a16="http://schemas.microsoft.com/office/drawing/2014/main" id="{1319D51E-C1BB-EBFA-B945-8C3C3B4E7447}"/>
              </a:ext>
            </a:extLst>
          </p:cNvPr>
          <p:cNvSpPr/>
          <p:nvPr/>
        </p:nvSpPr>
        <p:spPr>
          <a:xfrm>
            <a:off x="9462542" y="3931467"/>
            <a:ext cx="457200" cy="243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箭头连接符 59">
            <a:extLst>
              <a:ext uri="{FF2B5EF4-FFF2-40B4-BE49-F238E27FC236}">
                <a16:creationId xmlns:a16="http://schemas.microsoft.com/office/drawing/2014/main" id="{58F9F8D0-180B-081F-886A-F3E95CADBA38}"/>
              </a:ext>
            </a:extLst>
          </p:cNvPr>
          <p:cNvCxnSpPr/>
          <p:nvPr/>
        </p:nvCxnSpPr>
        <p:spPr>
          <a:xfrm flipH="1">
            <a:off x="8893715" y="5642166"/>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E4A5397D-B444-D066-FA61-211C323CF711}"/>
              </a:ext>
            </a:extLst>
          </p:cNvPr>
          <p:cNvSpPr txBox="1"/>
          <p:nvPr/>
        </p:nvSpPr>
        <p:spPr>
          <a:xfrm>
            <a:off x="9035514" y="5457500"/>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pic>
        <p:nvPicPr>
          <p:cNvPr id="62" name="图片 61">
            <a:extLst>
              <a:ext uri="{FF2B5EF4-FFF2-40B4-BE49-F238E27FC236}">
                <a16:creationId xmlns:a16="http://schemas.microsoft.com/office/drawing/2014/main" id="{1BED5346-8345-89B6-CD52-23CA4780EBE8}"/>
              </a:ext>
            </a:extLst>
          </p:cNvPr>
          <p:cNvPicPr>
            <a:picLocks noChangeAspect="1"/>
          </p:cNvPicPr>
          <p:nvPr/>
        </p:nvPicPr>
        <p:blipFill rotWithShape="1">
          <a:blip r:embed="rId4"/>
          <a:srcRect b="2782"/>
          <a:stretch/>
        </p:blipFill>
        <p:spPr>
          <a:xfrm>
            <a:off x="10079031" y="3784985"/>
            <a:ext cx="1229720" cy="2021806"/>
          </a:xfrm>
          <a:prstGeom prst="rect">
            <a:avLst/>
          </a:prstGeom>
        </p:spPr>
      </p:pic>
      <p:sp>
        <p:nvSpPr>
          <p:cNvPr id="63" name="矩形 62">
            <a:extLst>
              <a:ext uri="{FF2B5EF4-FFF2-40B4-BE49-F238E27FC236}">
                <a16:creationId xmlns:a16="http://schemas.microsoft.com/office/drawing/2014/main" id="{E9F59CFD-8E9C-E832-8DBC-1BD28FF891EB}"/>
              </a:ext>
            </a:extLst>
          </p:cNvPr>
          <p:cNvSpPr/>
          <p:nvPr/>
        </p:nvSpPr>
        <p:spPr>
          <a:xfrm>
            <a:off x="10166193" y="3626877"/>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E1D0D15E-2D37-B121-7E7F-2E257DA74926}"/>
              </a:ext>
            </a:extLst>
          </p:cNvPr>
          <p:cNvSpPr/>
          <p:nvPr/>
        </p:nvSpPr>
        <p:spPr>
          <a:xfrm>
            <a:off x="10166193" y="3388117"/>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E2155DA5-EC67-083F-BBB2-0F11124618A7}"/>
              </a:ext>
            </a:extLst>
          </p:cNvPr>
          <p:cNvSpPr/>
          <p:nvPr/>
        </p:nvSpPr>
        <p:spPr>
          <a:xfrm>
            <a:off x="10166193" y="3149357"/>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902D1AC5-ECD6-52F5-A049-3B37D0AB7EF8}"/>
              </a:ext>
            </a:extLst>
          </p:cNvPr>
          <p:cNvSpPr txBox="1"/>
          <p:nvPr/>
        </p:nvSpPr>
        <p:spPr>
          <a:xfrm>
            <a:off x="10378673" y="3607757"/>
            <a:ext cx="646331" cy="276999"/>
          </a:xfrm>
          <a:prstGeom prst="rect">
            <a:avLst/>
          </a:prstGeom>
          <a:noFill/>
        </p:spPr>
        <p:txBody>
          <a:bodyPr wrap="none" rtlCol="0">
            <a:spAutoFit/>
          </a:bodyPr>
          <a:lstStyle/>
          <a:p>
            <a:r>
              <a:rPr lang="zh-CN" altLang="en-US" sz="1200" dirty="0">
                <a:solidFill>
                  <a:srgbClr val="FF0000"/>
                </a:solidFill>
              </a:rPr>
              <a:t>返回值</a:t>
            </a:r>
          </a:p>
        </p:txBody>
      </p:sp>
      <p:sp>
        <p:nvSpPr>
          <p:cNvPr id="67" name="文本框 66">
            <a:extLst>
              <a:ext uri="{FF2B5EF4-FFF2-40B4-BE49-F238E27FC236}">
                <a16:creationId xmlns:a16="http://schemas.microsoft.com/office/drawing/2014/main" id="{3E43CFA2-61A2-463C-190D-9B89ED544B5B}"/>
              </a:ext>
            </a:extLst>
          </p:cNvPr>
          <p:cNvSpPr txBox="1"/>
          <p:nvPr/>
        </p:nvSpPr>
        <p:spPr>
          <a:xfrm>
            <a:off x="10301154" y="3370715"/>
            <a:ext cx="800219" cy="276999"/>
          </a:xfrm>
          <a:prstGeom prst="rect">
            <a:avLst/>
          </a:prstGeom>
          <a:noFill/>
        </p:spPr>
        <p:txBody>
          <a:bodyPr wrap="none" rtlCol="0">
            <a:spAutoFit/>
          </a:bodyPr>
          <a:lstStyle/>
          <a:p>
            <a:r>
              <a:rPr lang="zh-CN" altLang="en-US" sz="1200" dirty="0">
                <a:solidFill>
                  <a:srgbClr val="FF0000"/>
                </a:solidFill>
              </a:rPr>
              <a:t>返回地址</a:t>
            </a:r>
          </a:p>
        </p:txBody>
      </p:sp>
      <p:sp>
        <p:nvSpPr>
          <p:cNvPr id="68" name="文本框 67">
            <a:extLst>
              <a:ext uri="{FF2B5EF4-FFF2-40B4-BE49-F238E27FC236}">
                <a16:creationId xmlns:a16="http://schemas.microsoft.com/office/drawing/2014/main" id="{D47D3863-0E17-F2EA-4CDB-E8AE5E67C94C}"/>
              </a:ext>
            </a:extLst>
          </p:cNvPr>
          <p:cNvSpPr txBox="1"/>
          <p:nvPr/>
        </p:nvSpPr>
        <p:spPr>
          <a:xfrm>
            <a:off x="10391275" y="3133673"/>
            <a:ext cx="646331" cy="276999"/>
          </a:xfrm>
          <a:prstGeom prst="rect">
            <a:avLst/>
          </a:prstGeom>
          <a:noFill/>
        </p:spPr>
        <p:txBody>
          <a:bodyPr wrap="none" rtlCol="0">
            <a:spAutoFit/>
          </a:bodyPr>
          <a:lstStyle/>
          <a:p>
            <a:r>
              <a:rPr lang="zh-CN" altLang="en-US" sz="1200" dirty="0">
                <a:solidFill>
                  <a:srgbClr val="FF0000"/>
                </a:solidFill>
              </a:rPr>
              <a:t>静态链</a:t>
            </a:r>
          </a:p>
        </p:txBody>
      </p:sp>
      <p:sp>
        <p:nvSpPr>
          <p:cNvPr id="69" name="矩形 68">
            <a:extLst>
              <a:ext uri="{FF2B5EF4-FFF2-40B4-BE49-F238E27FC236}">
                <a16:creationId xmlns:a16="http://schemas.microsoft.com/office/drawing/2014/main" id="{DF7A9F4F-636B-EA2C-CEE7-2E1241AD51C0}"/>
              </a:ext>
            </a:extLst>
          </p:cNvPr>
          <p:cNvSpPr/>
          <p:nvPr/>
        </p:nvSpPr>
        <p:spPr>
          <a:xfrm>
            <a:off x="10166192" y="1666603"/>
            <a:ext cx="1000760" cy="148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箭头连接符 69">
            <a:extLst>
              <a:ext uri="{FF2B5EF4-FFF2-40B4-BE49-F238E27FC236}">
                <a16:creationId xmlns:a16="http://schemas.microsoft.com/office/drawing/2014/main" id="{F96199BD-40C1-2644-C956-1EE37F224057}"/>
              </a:ext>
            </a:extLst>
          </p:cNvPr>
          <p:cNvCxnSpPr>
            <a:cxnSpLocks/>
          </p:cNvCxnSpPr>
          <p:nvPr/>
        </p:nvCxnSpPr>
        <p:spPr>
          <a:xfrm flipH="1">
            <a:off x="11206702" y="2994288"/>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48F4601F-7392-F47D-1D31-2CAD253ABBD8}"/>
              </a:ext>
            </a:extLst>
          </p:cNvPr>
          <p:cNvSpPr txBox="1"/>
          <p:nvPr/>
        </p:nvSpPr>
        <p:spPr>
          <a:xfrm>
            <a:off x="11348501" y="2809622"/>
            <a:ext cx="492443" cy="369332"/>
          </a:xfrm>
          <a:prstGeom prst="rect">
            <a:avLst/>
          </a:prstGeom>
          <a:noFill/>
        </p:spPr>
        <p:txBody>
          <a:bodyPr wrap="square" rtlCol="0">
            <a:spAutoFit/>
          </a:bodyPr>
          <a:lstStyle/>
          <a:p>
            <a:r>
              <a:rPr lang="en-US" altLang="zh-CN" dirty="0">
                <a:solidFill>
                  <a:srgbClr val="FF0000"/>
                </a:solidFill>
              </a:rPr>
              <a:t>SP</a:t>
            </a:r>
            <a:endParaRPr lang="zh-CN" altLang="en-US" dirty="0">
              <a:solidFill>
                <a:srgbClr val="FF0000"/>
              </a:solidFill>
            </a:endParaRPr>
          </a:p>
        </p:txBody>
      </p:sp>
      <p:sp>
        <p:nvSpPr>
          <p:cNvPr id="72" name="矩形 71">
            <a:extLst>
              <a:ext uri="{FF2B5EF4-FFF2-40B4-BE49-F238E27FC236}">
                <a16:creationId xmlns:a16="http://schemas.microsoft.com/office/drawing/2014/main" id="{E9ED9244-DC2C-7958-FC02-0C23AD58D580}"/>
              </a:ext>
            </a:extLst>
          </p:cNvPr>
          <p:cNvSpPr/>
          <p:nvPr/>
        </p:nvSpPr>
        <p:spPr>
          <a:xfrm>
            <a:off x="10166193" y="2640733"/>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44CBDA00-B946-C469-FBE5-5E4C4864C2E8}"/>
              </a:ext>
            </a:extLst>
          </p:cNvPr>
          <p:cNvSpPr/>
          <p:nvPr/>
        </p:nvSpPr>
        <p:spPr>
          <a:xfrm>
            <a:off x="10166193" y="2401973"/>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A23DD9F8-B9D3-510F-6B6F-C3EC6EC61A00}"/>
              </a:ext>
            </a:extLst>
          </p:cNvPr>
          <p:cNvSpPr/>
          <p:nvPr/>
        </p:nvSpPr>
        <p:spPr>
          <a:xfrm>
            <a:off x="10166193" y="2163213"/>
            <a:ext cx="1000760" cy="238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4A503240-D11C-DDC0-2E34-58E5173E4D12}"/>
              </a:ext>
            </a:extLst>
          </p:cNvPr>
          <p:cNvSpPr txBox="1"/>
          <p:nvPr/>
        </p:nvSpPr>
        <p:spPr>
          <a:xfrm>
            <a:off x="10378673" y="2621613"/>
            <a:ext cx="575799" cy="276999"/>
          </a:xfrm>
          <a:prstGeom prst="rect">
            <a:avLst/>
          </a:prstGeom>
          <a:noFill/>
        </p:spPr>
        <p:txBody>
          <a:bodyPr wrap="none" rtlCol="0">
            <a:spAutoFit/>
          </a:bodyPr>
          <a:lstStyle/>
          <a:p>
            <a:r>
              <a:rPr lang="en-US" altLang="zh-CN" sz="1200" dirty="0">
                <a:solidFill>
                  <a:srgbClr val="FF0000"/>
                </a:solidFill>
              </a:rPr>
              <a:t>para1</a:t>
            </a:r>
            <a:endParaRPr lang="zh-CN" altLang="en-US" sz="1200" dirty="0">
              <a:solidFill>
                <a:srgbClr val="FF0000"/>
              </a:solidFill>
            </a:endParaRPr>
          </a:p>
        </p:txBody>
      </p:sp>
      <p:sp>
        <p:nvSpPr>
          <p:cNvPr id="76" name="文本框 75">
            <a:extLst>
              <a:ext uri="{FF2B5EF4-FFF2-40B4-BE49-F238E27FC236}">
                <a16:creationId xmlns:a16="http://schemas.microsoft.com/office/drawing/2014/main" id="{D9EBB8DD-4D2A-CC9F-5EAB-C637FDF3EF54}"/>
              </a:ext>
            </a:extLst>
          </p:cNvPr>
          <p:cNvSpPr txBox="1"/>
          <p:nvPr/>
        </p:nvSpPr>
        <p:spPr>
          <a:xfrm>
            <a:off x="10384974" y="2384571"/>
            <a:ext cx="575799" cy="276999"/>
          </a:xfrm>
          <a:prstGeom prst="rect">
            <a:avLst/>
          </a:prstGeom>
          <a:noFill/>
        </p:spPr>
        <p:txBody>
          <a:bodyPr wrap="none" rtlCol="0">
            <a:spAutoFit/>
          </a:bodyPr>
          <a:lstStyle/>
          <a:p>
            <a:r>
              <a:rPr lang="en-US" altLang="zh-CN" sz="1200" dirty="0">
                <a:solidFill>
                  <a:srgbClr val="FF0000"/>
                </a:solidFill>
              </a:rPr>
              <a:t>para2</a:t>
            </a:r>
            <a:endParaRPr lang="zh-CN" altLang="en-US" sz="1200" dirty="0">
              <a:solidFill>
                <a:srgbClr val="FF0000"/>
              </a:solidFill>
            </a:endParaRPr>
          </a:p>
        </p:txBody>
      </p:sp>
      <p:sp>
        <p:nvSpPr>
          <p:cNvPr id="77" name="文本框 76">
            <a:extLst>
              <a:ext uri="{FF2B5EF4-FFF2-40B4-BE49-F238E27FC236}">
                <a16:creationId xmlns:a16="http://schemas.microsoft.com/office/drawing/2014/main" id="{06F9B7E7-36BA-ED6C-CBE2-D8100E3B600B}"/>
              </a:ext>
            </a:extLst>
          </p:cNvPr>
          <p:cNvSpPr txBox="1"/>
          <p:nvPr/>
        </p:nvSpPr>
        <p:spPr>
          <a:xfrm>
            <a:off x="10391275" y="2147529"/>
            <a:ext cx="575799" cy="276999"/>
          </a:xfrm>
          <a:prstGeom prst="rect">
            <a:avLst/>
          </a:prstGeom>
          <a:noFill/>
        </p:spPr>
        <p:txBody>
          <a:bodyPr wrap="none" rtlCol="0">
            <a:spAutoFit/>
          </a:bodyPr>
          <a:lstStyle/>
          <a:p>
            <a:r>
              <a:rPr lang="en-US" altLang="zh-CN" sz="1200" dirty="0">
                <a:solidFill>
                  <a:srgbClr val="FF0000"/>
                </a:solidFill>
              </a:rPr>
              <a:t>para3</a:t>
            </a:r>
            <a:endParaRPr lang="zh-CN" altLang="en-US" sz="1200" dirty="0">
              <a:solidFill>
                <a:srgbClr val="FF0000"/>
              </a:solidFill>
            </a:endParaRPr>
          </a:p>
        </p:txBody>
      </p:sp>
      <p:sp>
        <p:nvSpPr>
          <p:cNvPr id="78" name="文本框 77">
            <a:extLst>
              <a:ext uri="{FF2B5EF4-FFF2-40B4-BE49-F238E27FC236}">
                <a16:creationId xmlns:a16="http://schemas.microsoft.com/office/drawing/2014/main" id="{829B8F3F-031B-7B28-5D15-7EC25C9E618E}"/>
              </a:ext>
            </a:extLst>
          </p:cNvPr>
          <p:cNvSpPr txBox="1"/>
          <p:nvPr/>
        </p:nvSpPr>
        <p:spPr>
          <a:xfrm>
            <a:off x="10378097" y="2891478"/>
            <a:ext cx="646331" cy="276999"/>
          </a:xfrm>
          <a:prstGeom prst="rect">
            <a:avLst/>
          </a:prstGeom>
          <a:noFill/>
        </p:spPr>
        <p:txBody>
          <a:bodyPr wrap="none" rtlCol="0">
            <a:spAutoFit/>
          </a:bodyPr>
          <a:lstStyle/>
          <a:p>
            <a:r>
              <a:rPr lang="zh-CN" altLang="en-US" sz="1200" dirty="0">
                <a:solidFill>
                  <a:srgbClr val="FF0000"/>
                </a:solidFill>
              </a:rPr>
              <a:t>动态链</a:t>
            </a:r>
          </a:p>
        </p:txBody>
      </p:sp>
      <p:cxnSp>
        <p:nvCxnSpPr>
          <p:cNvPr id="79" name="直接箭头连接符 78">
            <a:extLst>
              <a:ext uri="{FF2B5EF4-FFF2-40B4-BE49-F238E27FC236}">
                <a16:creationId xmlns:a16="http://schemas.microsoft.com/office/drawing/2014/main" id="{B1D53CE3-61C8-2716-801D-273D4A15D7B6}"/>
              </a:ext>
            </a:extLst>
          </p:cNvPr>
          <p:cNvCxnSpPr/>
          <p:nvPr/>
        </p:nvCxnSpPr>
        <p:spPr>
          <a:xfrm flipH="1">
            <a:off x="11212194" y="3784985"/>
            <a:ext cx="22432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61159C91-6FD8-4344-0241-A01FDEB45A6C}"/>
              </a:ext>
            </a:extLst>
          </p:cNvPr>
          <p:cNvSpPr txBox="1"/>
          <p:nvPr/>
        </p:nvSpPr>
        <p:spPr>
          <a:xfrm>
            <a:off x="11353993" y="3600319"/>
            <a:ext cx="530915" cy="369332"/>
          </a:xfrm>
          <a:prstGeom prst="rect">
            <a:avLst/>
          </a:prstGeom>
          <a:noFill/>
        </p:spPr>
        <p:txBody>
          <a:bodyPr wrap="none" rtlCol="0">
            <a:spAutoFit/>
          </a:bodyPr>
          <a:lstStyle/>
          <a:p>
            <a:r>
              <a:rPr lang="en-US" altLang="zh-CN" dirty="0">
                <a:solidFill>
                  <a:srgbClr val="FF0000"/>
                </a:solidFill>
              </a:rPr>
              <a:t>MP</a:t>
            </a:r>
            <a:endParaRPr lang="zh-CN" altLang="en-US" dirty="0">
              <a:solidFill>
                <a:srgbClr val="FF0000"/>
              </a:solidFill>
            </a:endParaRPr>
          </a:p>
        </p:txBody>
      </p:sp>
      <p:sp>
        <p:nvSpPr>
          <p:cNvPr id="81" name="文本框 80">
            <a:extLst>
              <a:ext uri="{FF2B5EF4-FFF2-40B4-BE49-F238E27FC236}">
                <a16:creationId xmlns:a16="http://schemas.microsoft.com/office/drawing/2014/main" id="{B9318439-DE9A-0F72-5A12-31AB3DDAE997}"/>
              </a:ext>
            </a:extLst>
          </p:cNvPr>
          <p:cNvSpPr txBox="1"/>
          <p:nvPr/>
        </p:nvSpPr>
        <p:spPr>
          <a:xfrm>
            <a:off x="6708541" y="3412229"/>
            <a:ext cx="1107996"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参数复制</a:t>
            </a:r>
          </a:p>
        </p:txBody>
      </p:sp>
      <p:sp>
        <p:nvSpPr>
          <p:cNvPr id="82" name="文本框 81">
            <a:extLst>
              <a:ext uri="{FF2B5EF4-FFF2-40B4-BE49-F238E27FC236}">
                <a16:creationId xmlns:a16="http://schemas.microsoft.com/office/drawing/2014/main" id="{CBD7FFDF-FE42-06CE-B117-E4BF14400D6C}"/>
              </a:ext>
            </a:extLst>
          </p:cNvPr>
          <p:cNvSpPr txBox="1"/>
          <p:nvPr/>
        </p:nvSpPr>
        <p:spPr>
          <a:xfrm>
            <a:off x="9410079" y="3453795"/>
            <a:ext cx="64633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跳转</a:t>
            </a:r>
          </a:p>
        </p:txBody>
      </p:sp>
      <p:grpSp>
        <p:nvGrpSpPr>
          <p:cNvPr id="2" name="组合 1">
            <a:extLst>
              <a:ext uri="{FF2B5EF4-FFF2-40B4-BE49-F238E27FC236}">
                <a16:creationId xmlns:a16="http://schemas.microsoft.com/office/drawing/2014/main" id="{AEE3C2AE-5AAA-5F62-07AC-487A46A4A4CF}"/>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09E77997-ED8A-7DF6-C921-56E0E677C77A}"/>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1F09DA8-24B1-71E7-5411-53CF83FBD9A0}"/>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1CB4B3F5-A592-617D-45A9-4B9D088525D3}"/>
              </a:ext>
            </a:extLst>
          </p:cNvPr>
          <p:cNvSpPr txBox="1"/>
          <p:nvPr/>
        </p:nvSpPr>
        <p:spPr>
          <a:xfrm>
            <a:off x="490754" y="213647"/>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
        <p:nvSpPr>
          <p:cNvPr id="8" name="标题 29">
            <a:extLst>
              <a:ext uri="{FF2B5EF4-FFF2-40B4-BE49-F238E27FC236}">
                <a16:creationId xmlns:a16="http://schemas.microsoft.com/office/drawing/2014/main" id="{80638458-951A-1F88-30E5-6A7254068248}"/>
              </a:ext>
            </a:extLst>
          </p:cNvPr>
          <p:cNvSpPr txBox="1">
            <a:spLocks/>
          </p:cNvSpPr>
          <p:nvPr/>
        </p:nvSpPr>
        <p:spPr>
          <a:xfrm>
            <a:off x="478281" y="1899040"/>
            <a:ext cx="6511110"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将参数存入内存空间</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标题 29">
            <a:extLst>
              <a:ext uri="{FF2B5EF4-FFF2-40B4-BE49-F238E27FC236}">
                <a16:creationId xmlns:a16="http://schemas.microsoft.com/office/drawing/2014/main" id="{1B816ED9-2FA3-C449-34BD-327923B889EA}"/>
              </a:ext>
            </a:extLst>
          </p:cNvPr>
          <p:cNvSpPr txBox="1">
            <a:spLocks/>
          </p:cNvSpPr>
          <p:nvPr/>
        </p:nvSpPr>
        <p:spPr>
          <a:xfrm>
            <a:off x="478280" y="2640733"/>
            <a:ext cx="3731641"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生成新的活动记录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标题 29">
            <a:extLst>
              <a:ext uri="{FF2B5EF4-FFF2-40B4-BE49-F238E27FC236}">
                <a16:creationId xmlns:a16="http://schemas.microsoft.com/office/drawing/2014/main" id="{9C0E7F4D-85C8-0065-FF70-BF052C0849C1}"/>
              </a:ext>
            </a:extLst>
          </p:cNvPr>
          <p:cNvSpPr txBox="1">
            <a:spLocks/>
          </p:cNvSpPr>
          <p:nvPr/>
        </p:nvSpPr>
        <p:spPr>
          <a:xfrm>
            <a:off x="490754" y="3405455"/>
            <a:ext cx="3731641" cy="646331"/>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记录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以及返回后的指令执行位置</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30851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DFDA-A4DA-AADF-286F-2F6F474F221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A23A5709-1ADC-5562-FFE2-99D1FCDE7927}"/>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5D05CB21-D237-4084-ED86-E3520BEDCB14}"/>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6C5B109-2951-29B8-1C0C-CA6C511927AA}"/>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E48766C1-7A03-6408-C2FA-3A89FCF5D68F}"/>
              </a:ext>
            </a:extLst>
          </p:cNvPr>
          <p:cNvSpPr txBox="1"/>
          <p:nvPr/>
        </p:nvSpPr>
        <p:spPr>
          <a:xfrm>
            <a:off x="485493" y="214656"/>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
        <p:nvSpPr>
          <p:cNvPr id="4" name="标题 29">
            <a:extLst>
              <a:ext uri="{FF2B5EF4-FFF2-40B4-BE49-F238E27FC236}">
                <a16:creationId xmlns:a16="http://schemas.microsoft.com/office/drawing/2014/main" id="{B0447A3E-2B6C-825D-A1FB-C8B6E3D3A1E6}"/>
              </a:ext>
            </a:extLst>
          </p:cNvPr>
          <p:cNvSpPr txBox="1">
            <a:spLocks/>
          </p:cNvSpPr>
          <p:nvPr/>
        </p:nvSpPr>
        <p:spPr>
          <a:xfrm>
            <a:off x="497963" y="1184631"/>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sz="2400" dirty="0">
                <a:latin typeface="Times New Roman" panose="02020603050405020304" pitchFamily="18" charset="0"/>
                <a:ea typeface="楷体" panose="02010609060101010101" pitchFamily="49" charset="-122"/>
                <a:cs typeface="Times New Roman" panose="02020603050405020304" pitchFamily="18" charset="0"/>
              </a:rPr>
              <a:t>LOD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处理相关</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5B4FBDF9-84B1-B776-3850-439BA50081E3}"/>
              </a:ext>
            </a:extLst>
          </p:cNvPr>
          <p:cNvSpPr/>
          <p:nvPr/>
        </p:nvSpPr>
        <p:spPr>
          <a:xfrm>
            <a:off x="6301268" y="696511"/>
            <a:ext cx="1282615" cy="411553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B1DE891E-91F8-EEDD-897E-1D8F9622D17F}"/>
              </a:ext>
            </a:extLst>
          </p:cNvPr>
          <p:cNvCxnSpPr/>
          <p:nvPr/>
        </p:nvCxnSpPr>
        <p:spPr>
          <a:xfrm>
            <a:off x="6292373" y="1490339"/>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29" name="直接连接符 28">
            <a:extLst>
              <a:ext uri="{FF2B5EF4-FFF2-40B4-BE49-F238E27FC236}">
                <a16:creationId xmlns:a16="http://schemas.microsoft.com/office/drawing/2014/main" id="{6EA828E1-3BEF-5F54-8BD8-73B3A82EABB4}"/>
              </a:ext>
            </a:extLst>
          </p:cNvPr>
          <p:cNvCxnSpPr/>
          <p:nvPr/>
        </p:nvCxnSpPr>
        <p:spPr>
          <a:xfrm>
            <a:off x="6288367" y="2231548"/>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0" name="直接连接符 29">
            <a:extLst>
              <a:ext uri="{FF2B5EF4-FFF2-40B4-BE49-F238E27FC236}">
                <a16:creationId xmlns:a16="http://schemas.microsoft.com/office/drawing/2014/main" id="{A2C24F26-0F6A-0417-12FC-3E07BDD00789}"/>
              </a:ext>
            </a:extLst>
          </p:cNvPr>
          <p:cNvCxnSpPr/>
          <p:nvPr/>
        </p:nvCxnSpPr>
        <p:spPr>
          <a:xfrm>
            <a:off x="6288366" y="3954630"/>
            <a:ext cx="1282615" cy="0"/>
          </a:xfrm>
          <a:prstGeom prst="line">
            <a:avLst/>
          </a:prstGeom>
        </p:spPr>
        <p:style>
          <a:lnRef idx="1">
            <a:schemeClr val="accent3"/>
          </a:lnRef>
          <a:fillRef idx="0">
            <a:schemeClr val="accent3"/>
          </a:fillRef>
          <a:effectRef idx="0">
            <a:schemeClr val="accent3"/>
          </a:effectRef>
          <a:fontRef idx="minor">
            <a:schemeClr val="tx1"/>
          </a:fontRef>
        </p:style>
      </p:cxnSp>
      <p:sp>
        <p:nvSpPr>
          <p:cNvPr id="32" name="文本框 31">
            <a:extLst>
              <a:ext uri="{FF2B5EF4-FFF2-40B4-BE49-F238E27FC236}">
                <a16:creationId xmlns:a16="http://schemas.microsoft.com/office/drawing/2014/main" id="{1028FDED-2507-252F-A107-71A223D6E916}"/>
              </a:ext>
            </a:extLst>
          </p:cNvPr>
          <p:cNvSpPr txBox="1"/>
          <p:nvPr/>
        </p:nvSpPr>
        <p:spPr>
          <a:xfrm>
            <a:off x="6539175" y="3975506"/>
            <a:ext cx="3369165"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F5B11266-21E9-4BF0-F767-F268CC51438C}"/>
              </a:ext>
            </a:extLst>
          </p:cNvPr>
          <p:cNvSpPr txBox="1"/>
          <p:nvPr/>
        </p:nvSpPr>
        <p:spPr>
          <a:xfrm>
            <a:off x="6584727" y="2916085"/>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a:t>
            </a:r>
            <a:endParaRPr lang="zh-CN" altLang="en-US" sz="2000"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F2B7AB1A-4573-1A81-D9C9-151C9CCA1B86}"/>
              </a:ext>
            </a:extLst>
          </p:cNvPr>
          <p:cNvSpPr txBox="1"/>
          <p:nvPr/>
        </p:nvSpPr>
        <p:spPr>
          <a:xfrm>
            <a:off x="6389288" y="1633308"/>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 + 1</a:t>
            </a:r>
            <a:endParaRPr lang="zh-CN" altLang="en-US" sz="2000"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D1960858-5E39-21A7-7171-9B68F41CD7E0}"/>
              </a:ext>
            </a:extLst>
          </p:cNvPr>
          <p:cNvSpPr txBox="1"/>
          <p:nvPr/>
        </p:nvSpPr>
        <p:spPr>
          <a:xfrm>
            <a:off x="6339266" y="897865"/>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 + 2</a:t>
            </a:r>
            <a:endParaRPr lang="zh-CN" altLang="en-US" sz="2000" dirty="0">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0EE8BB79-4B2B-C2CD-C64B-EA8D1F831544}"/>
              </a:ext>
            </a:extLst>
          </p:cNvPr>
          <p:cNvSpPr/>
          <p:nvPr/>
        </p:nvSpPr>
        <p:spPr>
          <a:xfrm>
            <a:off x="9689432" y="772282"/>
            <a:ext cx="1282615" cy="411553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DEC8D70C-298D-074D-ED36-13C80CE46B47}"/>
              </a:ext>
            </a:extLst>
          </p:cNvPr>
          <p:cNvCxnSpPr/>
          <p:nvPr/>
        </p:nvCxnSpPr>
        <p:spPr>
          <a:xfrm>
            <a:off x="9689432" y="1235327"/>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8" name="直接连接符 37">
            <a:extLst>
              <a:ext uri="{FF2B5EF4-FFF2-40B4-BE49-F238E27FC236}">
                <a16:creationId xmlns:a16="http://schemas.microsoft.com/office/drawing/2014/main" id="{2E00E6CB-CC07-4384-76CC-DF2E414474F4}"/>
              </a:ext>
            </a:extLst>
          </p:cNvPr>
          <p:cNvCxnSpPr/>
          <p:nvPr/>
        </p:nvCxnSpPr>
        <p:spPr>
          <a:xfrm>
            <a:off x="9689432" y="1702995"/>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9" name="直接连接符 38">
            <a:extLst>
              <a:ext uri="{FF2B5EF4-FFF2-40B4-BE49-F238E27FC236}">
                <a16:creationId xmlns:a16="http://schemas.microsoft.com/office/drawing/2014/main" id="{C819153F-6DE3-9482-BEF5-B802B9F9EE6A}"/>
              </a:ext>
            </a:extLst>
          </p:cNvPr>
          <p:cNvCxnSpPr/>
          <p:nvPr/>
        </p:nvCxnSpPr>
        <p:spPr>
          <a:xfrm>
            <a:off x="9689432" y="2149727"/>
            <a:ext cx="1282615" cy="0"/>
          </a:xfrm>
          <a:prstGeom prst="line">
            <a:avLst/>
          </a:prstGeom>
        </p:spPr>
        <p:style>
          <a:lnRef idx="1">
            <a:schemeClr val="accent3"/>
          </a:lnRef>
          <a:fillRef idx="0">
            <a:schemeClr val="accent3"/>
          </a:fillRef>
          <a:effectRef idx="0">
            <a:schemeClr val="accent3"/>
          </a:effectRef>
          <a:fontRef idx="minor">
            <a:schemeClr val="tx1"/>
          </a:fontRef>
        </p:style>
      </p:cxnSp>
      <p:sp>
        <p:nvSpPr>
          <p:cNvPr id="40" name="文本框 39">
            <a:extLst>
              <a:ext uri="{FF2B5EF4-FFF2-40B4-BE49-F238E27FC236}">
                <a16:creationId xmlns:a16="http://schemas.microsoft.com/office/drawing/2014/main" id="{9929798D-CB10-97A8-37F2-E7DB7F3A684D}"/>
              </a:ext>
            </a:extLst>
          </p:cNvPr>
          <p:cNvSpPr txBox="1"/>
          <p:nvPr/>
        </p:nvSpPr>
        <p:spPr>
          <a:xfrm>
            <a:off x="9966812" y="3145300"/>
            <a:ext cx="1194287"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5ED5BDE3-0491-99FF-E69E-ADD30065C2E1}"/>
              </a:ext>
            </a:extLst>
          </p:cNvPr>
          <p:cNvSpPr txBox="1"/>
          <p:nvPr/>
        </p:nvSpPr>
        <p:spPr>
          <a:xfrm>
            <a:off x="6295130" y="5046590"/>
            <a:ext cx="1374671" cy="707886"/>
          </a:xfrm>
          <a:prstGeom prst="rect">
            <a:avLst/>
          </a:prstGeom>
          <a:noFill/>
        </p:spPr>
        <p:txBody>
          <a:bodyPr wrap="square" rtlCol="0">
            <a:spAutoFit/>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存储空间</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Memory</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文本框 41">
            <a:extLst>
              <a:ext uri="{FF2B5EF4-FFF2-40B4-BE49-F238E27FC236}">
                <a16:creationId xmlns:a16="http://schemas.microsoft.com/office/drawing/2014/main" id="{6BD1DEF1-B982-1EE2-FC97-BA85D6E7D34E}"/>
              </a:ext>
            </a:extLst>
          </p:cNvPr>
          <p:cNvSpPr txBox="1"/>
          <p:nvPr/>
        </p:nvSpPr>
        <p:spPr>
          <a:xfrm>
            <a:off x="9713976" y="5122362"/>
            <a:ext cx="1374671" cy="707886"/>
          </a:xfrm>
          <a:prstGeom prst="rect">
            <a:avLst/>
          </a:prstGeom>
          <a:noFill/>
        </p:spPr>
        <p:txBody>
          <a:bodyPr wrap="square" rtlCol="0">
            <a:spAutoFit/>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运算栈</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Stack</a:t>
            </a:r>
          </a:p>
        </p:txBody>
      </p:sp>
      <p:sp>
        <p:nvSpPr>
          <p:cNvPr id="43" name="文本框 42">
            <a:extLst>
              <a:ext uri="{FF2B5EF4-FFF2-40B4-BE49-F238E27FC236}">
                <a16:creationId xmlns:a16="http://schemas.microsoft.com/office/drawing/2014/main" id="{98AA16E8-D2D6-9911-E019-B15E4319377F}"/>
              </a:ext>
            </a:extLst>
          </p:cNvPr>
          <p:cNvSpPr txBox="1"/>
          <p:nvPr/>
        </p:nvSpPr>
        <p:spPr>
          <a:xfrm>
            <a:off x="9708431" y="1749251"/>
            <a:ext cx="3369165" cy="338554"/>
          </a:xfrm>
          <a:prstGeom prst="rect">
            <a:avLst/>
          </a:prstGeom>
          <a:noFill/>
        </p:spPr>
        <p:txBody>
          <a:bodyPr wrap="square" rtlCol="0">
            <a:spAutoFit/>
          </a:bodyPr>
          <a:lstStyle/>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文本框 43">
            <a:extLst>
              <a:ext uri="{FF2B5EF4-FFF2-40B4-BE49-F238E27FC236}">
                <a16:creationId xmlns:a16="http://schemas.microsoft.com/office/drawing/2014/main" id="{097E3109-CC17-7CF6-8F7A-B4F61F074D90}"/>
              </a:ext>
            </a:extLst>
          </p:cNvPr>
          <p:cNvSpPr txBox="1"/>
          <p:nvPr/>
        </p:nvSpPr>
        <p:spPr>
          <a:xfrm>
            <a:off x="9680912" y="1285894"/>
            <a:ext cx="3369165" cy="338554"/>
          </a:xfrm>
          <a:prstGeom prst="rect">
            <a:avLst/>
          </a:prstGeom>
          <a:noFill/>
        </p:spPr>
        <p:txBody>
          <a:bodyPr wrap="square" rtlCol="0">
            <a:spAutoFit/>
          </a:bodyPr>
          <a:lstStyle/>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n + 1</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文本框 44">
            <a:extLst>
              <a:ext uri="{FF2B5EF4-FFF2-40B4-BE49-F238E27FC236}">
                <a16:creationId xmlns:a16="http://schemas.microsoft.com/office/drawing/2014/main" id="{CCCA9855-82D8-9347-231E-3C690DC727F6}"/>
              </a:ext>
            </a:extLst>
          </p:cNvPr>
          <p:cNvSpPr txBox="1"/>
          <p:nvPr/>
        </p:nvSpPr>
        <p:spPr>
          <a:xfrm>
            <a:off x="9689432" y="816150"/>
            <a:ext cx="3369165" cy="338554"/>
          </a:xfrm>
          <a:prstGeom prst="rect">
            <a:avLst/>
          </a:prstGeom>
          <a:noFill/>
        </p:spPr>
        <p:txBody>
          <a:bodyPr wrap="square" rtlCol="0">
            <a:spAutoFit/>
          </a:bodyPr>
          <a:lstStyle/>
          <a:p>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 + 2</a:t>
            </a:r>
            <a:endPar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6" name="文本框 45">
            <a:extLst>
              <a:ext uri="{FF2B5EF4-FFF2-40B4-BE49-F238E27FC236}">
                <a16:creationId xmlns:a16="http://schemas.microsoft.com/office/drawing/2014/main" id="{2E4C1245-13D1-F9B1-F0B7-27E450E56B1D}"/>
              </a:ext>
            </a:extLst>
          </p:cNvPr>
          <p:cNvSpPr txBox="1"/>
          <p:nvPr/>
        </p:nvSpPr>
        <p:spPr>
          <a:xfrm>
            <a:off x="637886" y="2085940"/>
            <a:ext cx="320040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level:</a:t>
            </a:r>
            <a:endParaRPr lang="zh-CN" altLang="en-US"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3F86F683-C7F1-3764-5449-3F00D80BD088}"/>
              </a:ext>
            </a:extLst>
          </p:cNvPr>
          <p:cNvSpPr txBox="1"/>
          <p:nvPr/>
        </p:nvSpPr>
        <p:spPr>
          <a:xfrm>
            <a:off x="655829" y="2789306"/>
            <a:ext cx="3200400"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addr</a:t>
            </a:r>
            <a:r>
              <a:rPr lang="zh-CN" altLang="en-US" dirty="0">
                <a:latin typeface="Times New Roman" panose="02020603050405020304" pitchFamily="18" charset="0"/>
                <a:cs typeface="Times New Roman" panose="02020603050405020304" pitchFamily="18" charset="0"/>
              </a:rPr>
              <a:t>：</a:t>
            </a:r>
          </a:p>
        </p:txBody>
      </p:sp>
      <p:sp>
        <p:nvSpPr>
          <p:cNvPr id="48" name="文本框 47">
            <a:extLst>
              <a:ext uri="{FF2B5EF4-FFF2-40B4-BE49-F238E27FC236}">
                <a16:creationId xmlns:a16="http://schemas.microsoft.com/office/drawing/2014/main" id="{0EECDAB1-B9F5-E7D7-04DC-56A17B8DB386}"/>
              </a:ext>
            </a:extLst>
          </p:cNvPr>
          <p:cNvSpPr txBox="1"/>
          <p:nvPr/>
        </p:nvSpPr>
        <p:spPr>
          <a:xfrm>
            <a:off x="752259" y="3463985"/>
            <a:ext cx="3200400" cy="369332"/>
          </a:xfrm>
          <a:prstGeom prst="rect">
            <a:avLst/>
          </a:prstGeom>
          <a:noFill/>
        </p:spPr>
        <p:txBody>
          <a:bodyPr wrap="square" rtlCol="0">
            <a:spAutoFit/>
          </a:bodyPr>
          <a:lstStyle/>
          <a:p>
            <a:r>
              <a:rPr lang="en-US" altLang="zh-CN" dirty="0" err="1">
                <a:latin typeface="Times New Roman" panose="02020603050405020304" pitchFamily="18" charset="0"/>
                <a:ea typeface="楷体" panose="02010609060101010101" pitchFamily="49" charset="-122"/>
                <a:cs typeface="Times New Roman" panose="02020603050405020304" pitchFamily="18" charset="0"/>
              </a:rPr>
              <a:t>sp</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 name="箭头: 左弧形 48">
            <a:extLst>
              <a:ext uri="{FF2B5EF4-FFF2-40B4-BE49-F238E27FC236}">
                <a16:creationId xmlns:a16="http://schemas.microsoft.com/office/drawing/2014/main" id="{FED69616-E768-669D-F594-DD5DCAA6E075}"/>
              </a:ext>
            </a:extLst>
          </p:cNvPr>
          <p:cNvSpPr/>
          <p:nvPr/>
        </p:nvSpPr>
        <p:spPr>
          <a:xfrm>
            <a:off x="5849616" y="1490339"/>
            <a:ext cx="348046" cy="820471"/>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0" name="箭头: 左弧形 49">
            <a:extLst>
              <a:ext uri="{FF2B5EF4-FFF2-40B4-BE49-F238E27FC236}">
                <a16:creationId xmlns:a16="http://schemas.microsoft.com/office/drawing/2014/main" id="{013FA313-4F6B-6C90-0ECA-3992E6B470A4}"/>
              </a:ext>
            </a:extLst>
          </p:cNvPr>
          <p:cNvSpPr/>
          <p:nvPr/>
        </p:nvSpPr>
        <p:spPr>
          <a:xfrm>
            <a:off x="5829779" y="2297865"/>
            <a:ext cx="348047" cy="1677639"/>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AA960F85-EE2C-7F2B-76AE-3BCF663BF828}"/>
              </a:ext>
            </a:extLst>
          </p:cNvPr>
          <p:cNvSpPr txBox="1"/>
          <p:nvPr/>
        </p:nvSpPr>
        <p:spPr>
          <a:xfrm>
            <a:off x="5089245" y="1664810"/>
            <a:ext cx="53297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SL</a:t>
            </a:r>
            <a:endParaRPr lang="zh-CN" altLang="en-US"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1BAF99DB-B524-2328-6E8C-01E76C879F9B}"/>
              </a:ext>
            </a:extLst>
          </p:cNvPr>
          <p:cNvSpPr txBox="1"/>
          <p:nvPr/>
        </p:nvSpPr>
        <p:spPr>
          <a:xfrm>
            <a:off x="5063282" y="2720063"/>
            <a:ext cx="53297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SL</a:t>
            </a:r>
            <a:endParaRPr lang="zh-CN" altLang="en-US" dirty="0">
              <a:latin typeface="Times New Roman" panose="02020603050405020304" pitchFamily="18" charset="0"/>
              <a:cs typeface="Times New Roman" panose="02020603050405020304" pitchFamily="18" charset="0"/>
            </a:endParaRPr>
          </a:p>
        </p:txBody>
      </p:sp>
      <p:sp>
        <p:nvSpPr>
          <p:cNvPr id="53" name="箭头: 左 52">
            <a:extLst>
              <a:ext uri="{FF2B5EF4-FFF2-40B4-BE49-F238E27FC236}">
                <a16:creationId xmlns:a16="http://schemas.microsoft.com/office/drawing/2014/main" id="{44BA16F5-2080-12D3-A1A8-3B916CBA6AFE}"/>
              </a:ext>
            </a:extLst>
          </p:cNvPr>
          <p:cNvSpPr/>
          <p:nvPr/>
        </p:nvSpPr>
        <p:spPr>
          <a:xfrm>
            <a:off x="8954735" y="754119"/>
            <a:ext cx="507304" cy="510725"/>
          </a:xfrm>
          <a:prstGeom prst="leftArrow">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9CACBA2C-953F-2712-0006-39CDF254A21A}"/>
              </a:ext>
            </a:extLst>
          </p:cNvPr>
          <p:cNvSpPr txBox="1"/>
          <p:nvPr/>
        </p:nvSpPr>
        <p:spPr>
          <a:xfrm>
            <a:off x="8263683" y="774132"/>
            <a:ext cx="3200400" cy="400110"/>
          </a:xfrm>
          <a:prstGeom prst="rect">
            <a:avLst/>
          </a:prstGeom>
          <a:noFill/>
        </p:spPr>
        <p:txBody>
          <a:bodyPr wrap="square" rtlCol="0">
            <a:spAutoFit/>
          </a:bodyPr>
          <a:lstStyle/>
          <a:p>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sp</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5" name="文本框 54">
            <a:extLst>
              <a:ext uri="{FF2B5EF4-FFF2-40B4-BE49-F238E27FC236}">
                <a16:creationId xmlns:a16="http://schemas.microsoft.com/office/drawing/2014/main" id="{9C41DEF9-0B8C-0038-FCD8-24D5718E79F7}"/>
              </a:ext>
            </a:extLst>
          </p:cNvPr>
          <p:cNvSpPr txBox="1"/>
          <p:nvPr/>
        </p:nvSpPr>
        <p:spPr>
          <a:xfrm>
            <a:off x="4374588" y="756259"/>
            <a:ext cx="3200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寻找</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leval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SL</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文本框 55">
            <a:extLst>
              <a:ext uri="{FF2B5EF4-FFF2-40B4-BE49-F238E27FC236}">
                <a16:creationId xmlns:a16="http://schemas.microsoft.com/office/drawing/2014/main" id="{79AF78CD-4040-3C4E-BCC8-D1FCD6E62E07}"/>
              </a:ext>
            </a:extLst>
          </p:cNvPr>
          <p:cNvSpPr txBox="1"/>
          <p:nvPr/>
        </p:nvSpPr>
        <p:spPr>
          <a:xfrm>
            <a:off x="8263683" y="3120125"/>
            <a:ext cx="3200400"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addr</a:t>
            </a:r>
            <a:endParaRPr lang="zh-CN" altLang="en-US" dirty="0">
              <a:latin typeface="Times New Roman" panose="02020603050405020304" pitchFamily="18" charset="0"/>
              <a:cs typeface="Times New Roman" panose="02020603050405020304" pitchFamily="18" charset="0"/>
            </a:endParaRPr>
          </a:p>
        </p:txBody>
      </p:sp>
      <p:sp>
        <p:nvSpPr>
          <p:cNvPr id="57" name="箭头: 左弧形 56">
            <a:extLst>
              <a:ext uri="{FF2B5EF4-FFF2-40B4-BE49-F238E27FC236}">
                <a16:creationId xmlns:a16="http://schemas.microsoft.com/office/drawing/2014/main" id="{D3872DE0-DA4D-10E4-7838-1683878EB4A6}"/>
              </a:ext>
            </a:extLst>
          </p:cNvPr>
          <p:cNvSpPr/>
          <p:nvPr/>
        </p:nvSpPr>
        <p:spPr>
          <a:xfrm rot="10800000">
            <a:off x="7749261" y="2916084"/>
            <a:ext cx="333155" cy="1028155"/>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8" name="文本框 57">
            <a:extLst>
              <a:ext uri="{FF2B5EF4-FFF2-40B4-BE49-F238E27FC236}">
                <a16:creationId xmlns:a16="http://schemas.microsoft.com/office/drawing/2014/main" id="{CD2358E3-208E-7F98-BAB8-6D79D72BC24B}"/>
              </a:ext>
            </a:extLst>
          </p:cNvPr>
          <p:cNvSpPr txBox="1"/>
          <p:nvPr/>
        </p:nvSpPr>
        <p:spPr>
          <a:xfrm>
            <a:off x="1603610" y="2778916"/>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获取变量基地址：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箭头: 左弧形 58">
            <a:extLst>
              <a:ext uri="{FF2B5EF4-FFF2-40B4-BE49-F238E27FC236}">
                <a16:creationId xmlns:a16="http://schemas.microsoft.com/office/drawing/2014/main" id="{56BBD63E-03D8-3592-EB95-5A3A98A39F0A}"/>
              </a:ext>
            </a:extLst>
          </p:cNvPr>
          <p:cNvSpPr/>
          <p:nvPr/>
        </p:nvSpPr>
        <p:spPr>
          <a:xfrm rot="10800000">
            <a:off x="7776427" y="2465442"/>
            <a:ext cx="333155" cy="439286"/>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cxnSp>
        <p:nvCxnSpPr>
          <p:cNvPr id="61" name="直接箭头连接符 60">
            <a:extLst>
              <a:ext uri="{FF2B5EF4-FFF2-40B4-BE49-F238E27FC236}">
                <a16:creationId xmlns:a16="http://schemas.microsoft.com/office/drawing/2014/main" id="{2B21A229-5631-4D35-9B2B-B1087FF1FC13}"/>
              </a:ext>
            </a:extLst>
          </p:cNvPr>
          <p:cNvCxnSpPr>
            <a:cxnSpLocks/>
          </p:cNvCxnSpPr>
          <p:nvPr/>
        </p:nvCxnSpPr>
        <p:spPr>
          <a:xfrm>
            <a:off x="8486384" y="1191228"/>
            <a:ext cx="0" cy="1261029"/>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62" name="文本框 61">
            <a:extLst>
              <a:ext uri="{FF2B5EF4-FFF2-40B4-BE49-F238E27FC236}">
                <a16:creationId xmlns:a16="http://schemas.microsoft.com/office/drawing/2014/main" id="{193C1657-CCA3-AE72-071C-1041CFD3FA92}"/>
              </a:ext>
            </a:extLst>
          </p:cNvPr>
          <p:cNvSpPr txBox="1"/>
          <p:nvPr/>
        </p:nvSpPr>
        <p:spPr>
          <a:xfrm>
            <a:off x="8365875" y="2765506"/>
            <a:ext cx="427214"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3" name="文本框 62">
            <a:extLst>
              <a:ext uri="{FF2B5EF4-FFF2-40B4-BE49-F238E27FC236}">
                <a16:creationId xmlns:a16="http://schemas.microsoft.com/office/drawing/2014/main" id="{2FD0B25F-76CB-D92E-A850-91D1D98F3C9C}"/>
              </a:ext>
            </a:extLst>
          </p:cNvPr>
          <p:cNvSpPr txBox="1"/>
          <p:nvPr/>
        </p:nvSpPr>
        <p:spPr>
          <a:xfrm>
            <a:off x="1603610" y="2082925"/>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获取变量活动记录</a:t>
            </a:r>
          </a:p>
        </p:txBody>
      </p:sp>
      <p:sp>
        <p:nvSpPr>
          <p:cNvPr id="64" name="文本框 63">
            <a:extLst>
              <a:ext uri="{FF2B5EF4-FFF2-40B4-BE49-F238E27FC236}">
                <a16:creationId xmlns:a16="http://schemas.microsoft.com/office/drawing/2014/main" id="{35C925C0-405C-16FB-2094-A10E29C6887E}"/>
              </a:ext>
            </a:extLst>
          </p:cNvPr>
          <p:cNvSpPr txBox="1"/>
          <p:nvPr/>
        </p:nvSpPr>
        <p:spPr>
          <a:xfrm>
            <a:off x="1603610" y="3471892"/>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获取具体变量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5" name="标题 29">
            <a:extLst>
              <a:ext uri="{FF2B5EF4-FFF2-40B4-BE49-F238E27FC236}">
                <a16:creationId xmlns:a16="http://schemas.microsoft.com/office/drawing/2014/main" id="{BB19D8C7-119D-6824-0889-2C7FFA3DD237}"/>
              </a:ext>
            </a:extLst>
          </p:cNvPr>
          <p:cNvSpPr txBox="1">
            <a:spLocks/>
          </p:cNvSpPr>
          <p:nvPr/>
        </p:nvSpPr>
        <p:spPr>
          <a:xfrm>
            <a:off x="637886" y="4372003"/>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注意区分</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LOD</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LEA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指令的使用！</a:t>
            </a:r>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6" name="标题 29">
            <a:extLst>
              <a:ext uri="{FF2B5EF4-FFF2-40B4-BE49-F238E27FC236}">
                <a16:creationId xmlns:a16="http://schemas.microsoft.com/office/drawing/2014/main" id="{B3AFC3CC-E67B-72B5-D4A8-459C08937EC9}"/>
              </a:ext>
            </a:extLst>
          </p:cNvPr>
          <p:cNvSpPr txBox="1">
            <a:spLocks/>
          </p:cNvSpPr>
          <p:nvPr/>
        </p:nvSpPr>
        <p:spPr>
          <a:xfrm>
            <a:off x="637885" y="4928079"/>
            <a:ext cx="5446337" cy="1291740"/>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LOD:</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获取变量的</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值</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LEA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：获取变量的</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绝对地址</a:t>
            </a:r>
            <a:endParaRPr 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 name="文本框 66">
            <a:extLst>
              <a:ext uri="{FF2B5EF4-FFF2-40B4-BE49-F238E27FC236}">
                <a16:creationId xmlns:a16="http://schemas.microsoft.com/office/drawing/2014/main" id="{A4A170D5-A602-20DE-9F7E-503A1947EA32}"/>
              </a:ext>
            </a:extLst>
          </p:cNvPr>
          <p:cNvSpPr txBox="1"/>
          <p:nvPr/>
        </p:nvSpPr>
        <p:spPr>
          <a:xfrm>
            <a:off x="8372242" y="3413179"/>
            <a:ext cx="427214"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9" name="文本框 68">
            <a:extLst>
              <a:ext uri="{FF2B5EF4-FFF2-40B4-BE49-F238E27FC236}">
                <a16:creationId xmlns:a16="http://schemas.microsoft.com/office/drawing/2014/main" id="{D1A18F28-84C2-B3AB-882C-CCDC7E931C51}"/>
              </a:ext>
            </a:extLst>
          </p:cNvPr>
          <p:cNvSpPr txBox="1"/>
          <p:nvPr/>
        </p:nvSpPr>
        <p:spPr>
          <a:xfrm>
            <a:off x="8082416" y="3713220"/>
            <a:ext cx="1333603"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基地址</a:t>
            </a:r>
          </a:p>
        </p:txBody>
      </p:sp>
      <p:sp>
        <p:nvSpPr>
          <p:cNvPr id="71" name="文本框 70">
            <a:extLst>
              <a:ext uri="{FF2B5EF4-FFF2-40B4-BE49-F238E27FC236}">
                <a16:creationId xmlns:a16="http://schemas.microsoft.com/office/drawing/2014/main" id="{B3E6169E-244C-8283-9F53-A0268129C5D3}"/>
              </a:ext>
            </a:extLst>
          </p:cNvPr>
          <p:cNvSpPr txBox="1"/>
          <p:nvPr/>
        </p:nvSpPr>
        <p:spPr>
          <a:xfrm>
            <a:off x="8302126" y="2427857"/>
            <a:ext cx="427214" cy="400110"/>
          </a:xfrm>
          <a:prstGeom prst="rect">
            <a:avLst/>
          </a:prstGeom>
          <a:noFill/>
        </p:spPr>
        <p:txBody>
          <a:bodyPr wrap="square" rtlCol="0">
            <a:spAutoFit/>
          </a:bodyPr>
          <a:lstStyle/>
          <a:p>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sp</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68410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3D832-A255-E087-933D-3C064203E35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9D9F391-4AA7-5D6E-5227-2AEF5D649F09}"/>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91D47D02-77DB-F310-ECC3-AE927E23583D}"/>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47FC8DC-E747-3DB3-6741-2BBEC30F7A13}"/>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4ED5303C-78C1-013D-76E6-32C6FFFC2777}"/>
              </a:ext>
            </a:extLst>
          </p:cNvPr>
          <p:cNvSpPr txBox="1"/>
          <p:nvPr/>
        </p:nvSpPr>
        <p:spPr>
          <a:xfrm>
            <a:off x="485493" y="214656"/>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
        <p:nvSpPr>
          <p:cNvPr id="4" name="标题 29">
            <a:extLst>
              <a:ext uri="{FF2B5EF4-FFF2-40B4-BE49-F238E27FC236}">
                <a16:creationId xmlns:a16="http://schemas.microsoft.com/office/drawing/2014/main" id="{F03A3239-3115-7976-3E5F-E87EC78FB159}"/>
              </a:ext>
            </a:extLst>
          </p:cNvPr>
          <p:cNvSpPr txBox="1">
            <a:spLocks/>
          </p:cNvSpPr>
          <p:nvPr/>
        </p:nvSpPr>
        <p:spPr>
          <a:xfrm>
            <a:off x="497963" y="1184631"/>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STO</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处理相关</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A4BF0BE6-5252-94DD-4395-3B294B213B69}"/>
              </a:ext>
            </a:extLst>
          </p:cNvPr>
          <p:cNvSpPr/>
          <p:nvPr/>
        </p:nvSpPr>
        <p:spPr>
          <a:xfrm>
            <a:off x="6301268" y="696511"/>
            <a:ext cx="1282615" cy="411553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AE987D24-1D1E-9034-FA2C-5DAFF68EA858}"/>
              </a:ext>
            </a:extLst>
          </p:cNvPr>
          <p:cNvCxnSpPr/>
          <p:nvPr/>
        </p:nvCxnSpPr>
        <p:spPr>
          <a:xfrm>
            <a:off x="6292373" y="1490339"/>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29" name="直接连接符 28">
            <a:extLst>
              <a:ext uri="{FF2B5EF4-FFF2-40B4-BE49-F238E27FC236}">
                <a16:creationId xmlns:a16="http://schemas.microsoft.com/office/drawing/2014/main" id="{74D85F13-5B57-A8EF-D61D-7D137EDCAAFD}"/>
              </a:ext>
            </a:extLst>
          </p:cNvPr>
          <p:cNvCxnSpPr/>
          <p:nvPr/>
        </p:nvCxnSpPr>
        <p:spPr>
          <a:xfrm>
            <a:off x="6288367" y="2231548"/>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0" name="直接连接符 29">
            <a:extLst>
              <a:ext uri="{FF2B5EF4-FFF2-40B4-BE49-F238E27FC236}">
                <a16:creationId xmlns:a16="http://schemas.microsoft.com/office/drawing/2014/main" id="{BA6F0CA7-922F-3C3B-4B30-5C8182C0B3D0}"/>
              </a:ext>
            </a:extLst>
          </p:cNvPr>
          <p:cNvCxnSpPr/>
          <p:nvPr/>
        </p:nvCxnSpPr>
        <p:spPr>
          <a:xfrm>
            <a:off x="6288366" y="3954630"/>
            <a:ext cx="1282615" cy="0"/>
          </a:xfrm>
          <a:prstGeom prst="line">
            <a:avLst/>
          </a:prstGeom>
        </p:spPr>
        <p:style>
          <a:lnRef idx="1">
            <a:schemeClr val="accent3"/>
          </a:lnRef>
          <a:fillRef idx="0">
            <a:schemeClr val="accent3"/>
          </a:fillRef>
          <a:effectRef idx="0">
            <a:schemeClr val="accent3"/>
          </a:effectRef>
          <a:fontRef idx="minor">
            <a:schemeClr val="tx1"/>
          </a:fontRef>
        </p:style>
      </p:cxnSp>
      <p:sp>
        <p:nvSpPr>
          <p:cNvPr id="32" name="文本框 31">
            <a:extLst>
              <a:ext uri="{FF2B5EF4-FFF2-40B4-BE49-F238E27FC236}">
                <a16:creationId xmlns:a16="http://schemas.microsoft.com/office/drawing/2014/main" id="{53DC2613-AD35-E384-03C9-63756A8F8303}"/>
              </a:ext>
            </a:extLst>
          </p:cNvPr>
          <p:cNvSpPr txBox="1"/>
          <p:nvPr/>
        </p:nvSpPr>
        <p:spPr>
          <a:xfrm>
            <a:off x="6539175" y="3975506"/>
            <a:ext cx="3369165"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E0D6DF7F-F2F1-CA3F-C3CC-F3A52CADFD1D}"/>
              </a:ext>
            </a:extLst>
          </p:cNvPr>
          <p:cNvSpPr txBox="1"/>
          <p:nvPr/>
        </p:nvSpPr>
        <p:spPr>
          <a:xfrm>
            <a:off x="6584727" y="2916085"/>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a:t>
            </a:r>
            <a:endParaRPr lang="zh-CN" altLang="en-US" sz="2000"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CAB45421-FD70-5F1F-FBC0-B43B886D271A}"/>
              </a:ext>
            </a:extLst>
          </p:cNvPr>
          <p:cNvSpPr txBox="1"/>
          <p:nvPr/>
        </p:nvSpPr>
        <p:spPr>
          <a:xfrm>
            <a:off x="6389288" y="1633308"/>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 + 1</a:t>
            </a:r>
            <a:endParaRPr lang="zh-CN" altLang="en-US" sz="2000"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282B79B2-21FE-D367-DDD2-7A267713A940}"/>
              </a:ext>
            </a:extLst>
          </p:cNvPr>
          <p:cNvSpPr txBox="1"/>
          <p:nvPr/>
        </p:nvSpPr>
        <p:spPr>
          <a:xfrm>
            <a:off x="6339266" y="897865"/>
            <a:ext cx="3369165"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AR n + 2</a:t>
            </a:r>
            <a:endParaRPr lang="zh-CN" altLang="en-US" sz="2000" dirty="0">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EC362901-DDE0-181F-99A2-E9307A2C180A}"/>
              </a:ext>
            </a:extLst>
          </p:cNvPr>
          <p:cNvSpPr/>
          <p:nvPr/>
        </p:nvSpPr>
        <p:spPr>
          <a:xfrm>
            <a:off x="9668138" y="731541"/>
            <a:ext cx="1333602" cy="411553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B6719641-EA40-711F-0F55-E4FCBEF11895}"/>
              </a:ext>
            </a:extLst>
          </p:cNvPr>
          <p:cNvCxnSpPr/>
          <p:nvPr/>
        </p:nvCxnSpPr>
        <p:spPr>
          <a:xfrm>
            <a:off x="9680911" y="1318229"/>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8" name="直接连接符 37">
            <a:extLst>
              <a:ext uri="{FF2B5EF4-FFF2-40B4-BE49-F238E27FC236}">
                <a16:creationId xmlns:a16="http://schemas.microsoft.com/office/drawing/2014/main" id="{B8AE4F6F-5F39-7E5F-DC09-5AE26E5B00B1}"/>
              </a:ext>
            </a:extLst>
          </p:cNvPr>
          <p:cNvCxnSpPr/>
          <p:nvPr/>
        </p:nvCxnSpPr>
        <p:spPr>
          <a:xfrm>
            <a:off x="9680911" y="1978567"/>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9" name="直接连接符 38">
            <a:extLst>
              <a:ext uri="{FF2B5EF4-FFF2-40B4-BE49-F238E27FC236}">
                <a16:creationId xmlns:a16="http://schemas.microsoft.com/office/drawing/2014/main" id="{A7113178-5B83-EE52-D70C-A35158935DEE}"/>
              </a:ext>
            </a:extLst>
          </p:cNvPr>
          <p:cNvCxnSpPr/>
          <p:nvPr/>
        </p:nvCxnSpPr>
        <p:spPr>
          <a:xfrm>
            <a:off x="9680912" y="2452257"/>
            <a:ext cx="1282615" cy="0"/>
          </a:xfrm>
          <a:prstGeom prst="line">
            <a:avLst/>
          </a:prstGeom>
        </p:spPr>
        <p:style>
          <a:lnRef idx="1">
            <a:schemeClr val="accent3"/>
          </a:lnRef>
          <a:fillRef idx="0">
            <a:schemeClr val="accent3"/>
          </a:fillRef>
          <a:effectRef idx="0">
            <a:schemeClr val="accent3"/>
          </a:effectRef>
          <a:fontRef idx="minor">
            <a:schemeClr val="tx1"/>
          </a:fontRef>
        </p:style>
      </p:cxnSp>
      <p:sp>
        <p:nvSpPr>
          <p:cNvPr id="40" name="文本框 39">
            <a:extLst>
              <a:ext uri="{FF2B5EF4-FFF2-40B4-BE49-F238E27FC236}">
                <a16:creationId xmlns:a16="http://schemas.microsoft.com/office/drawing/2014/main" id="{63D348A6-5E22-713D-1487-23BC916A7935}"/>
              </a:ext>
            </a:extLst>
          </p:cNvPr>
          <p:cNvSpPr txBox="1"/>
          <p:nvPr/>
        </p:nvSpPr>
        <p:spPr>
          <a:xfrm>
            <a:off x="9966812" y="3145300"/>
            <a:ext cx="1194287"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40465932-D475-B5FA-0253-7F5E53DED43E}"/>
              </a:ext>
            </a:extLst>
          </p:cNvPr>
          <p:cNvSpPr txBox="1"/>
          <p:nvPr/>
        </p:nvSpPr>
        <p:spPr>
          <a:xfrm>
            <a:off x="6295130" y="5046590"/>
            <a:ext cx="1374671" cy="707886"/>
          </a:xfrm>
          <a:prstGeom prst="rect">
            <a:avLst/>
          </a:prstGeom>
          <a:noFill/>
        </p:spPr>
        <p:txBody>
          <a:bodyPr wrap="square" rtlCol="0">
            <a:spAutoFit/>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存储空间</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Memory</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文本框 41">
            <a:extLst>
              <a:ext uri="{FF2B5EF4-FFF2-40B4-BE49-F238E27FC236}">
                <a16:creationId xmlns:a16="http://schemas.microsoft.com/office/drawing/2014/main" id="{0FA8B1B7-7606-D7A6-2D1F-38E02D3083A9}"/>
              </a:ext>
            </a:extLst>
          </p:cNvPr>
          <p:cNvSpPr txBox="1"/>
          <p:nvPr/>
        </p:nvSpPr>
        <p:spPr>
          <a:xfrm>
            <a:off x="9713976" y="5122362"/>
            <a:ext cx="1374671" cy="707886"/>
          </a:xfrm>
          <a:prstGeom prst="rect">
            <a:avLst/>
          </a:prstGeom>
          <a:noFill/>
        </p:spPr>
        <p:txBody>
          <a:bodyPr wrap="square" rtlCol="0">
            <a:spAutoFit/>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运算栈</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Stack</a:t>
            </a:r>
          </a:p>
        </p:txBody>
      </p:sp>
      <p:sp>
        <p:nvSpPr>
          <p:cNvPr id="43" name="文本框 42">
            <a:extLst>
              <a:ext uri="{FF2B5EF4-FFF2-40B4-BE49-F238E27FC236}">
                <a16:creationId xmlns:a16="http://schemas.microsoft.com/office/drawing/2014/main" id="{CC04FAF3-02F3-D497-5322-F80432AA50CF}"/>
              </a:ext>
            </a:extLst>
          </p:cNvPr>
          <p:cNvSpPr txBox="1"/>
          <p:nvPr/>
        </p:nvSpPr>
        <p:spPr>
          <a:xfrm>
            <a:off x="9708432" y="2041863"/>
            <a:ext cx="1380216" cy="338554"/>
          </a:xfrm>
          <a:prstGeom prst="rect">
            <a:avLst/>
          </a:prstGeom>
          <a:noFill/>
        </p:spPr>
        <p:txBody>
          <a:bodyPr wrap="square" rtlCol="0">
            <a:spAutoFit/>
          </a:bodyPr>
          <a:lstStyle/>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4" name="文本框 43">
            <a:extLst>
              <a:ext uri="{FF2B5EF4-FFF2-40B4-BE49-F238E27FC236}">
                <a16:creationId xmlns:a16="http://schemas.microsoft.com/office/drawing/2014/main" id="{99DA50B8-875F-68D0-C920-3D048887331A}"/>
              </a:ext>
            </a:extLst>
          </p:cNvPr>
          <p:cNvSpPr txBox="1"/>
          <p:nvPr/>
        </p:nvSpPr>
        <p:spPr>
          <a:xfrm>
            <a:off x="9668139" y="1499963"/>
            <a:ext cx="1333602" cy="338554"/>
          </a:xfrm>
          <a:prstGeom prst="rect">
            <a:avLst/>
          </a:prstGeom>
          <a:noFill/>
        </p:spPr>
        <p:txBody>
          <a:bodyPr wrap="square" rtlCol="0">
            <a:spAutoFit/>
          </a:bodyPr>
          <a:lstStyle/>
          <a:p>
            <a:r>
              <a:rPr lang="zh-CN" altLang="en-US"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 + 1</a:t>
            </a:r>
            <a:endParaRPr lang="zh-CN" altLang="en-US"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文本框 44">
            <a:extLst>
              <a:ext uri="{FF2B5EF4-FFF2-40B4-BE49-F238E27FC236}">
                <a16:creationId xmlns:a16="http://schemas.microsoft.com/office/drawing/2014/main" id="{B5E86765-0402-7485-7144-B36E0B4FCF86}"/>
              </a:ext>
            </a:extLst>
          </p:cNvPr>
          <p:cNvSpPr txBox="1"/>
          <p:nvPr/>
        </p:nvSpPr>
        <p:spPr>
          <a:xfrm>
            <a:off x="9689433" y="886204"/>
            <a:ext cx="1312308" cy="338554"/>
          </a:xfrm>
          <a:prstGeom prst="rect">
            <a:avLst/>
          </a:prstGeom>
          <a:noFill/>
        </p:spPr>
        <p:txBody>
          <a:bodyPr wrap="square" rtlCol="0">
            <a:spAutoFit/>
          </a:bodyPr>
          <a:lstStyle/>
          <a:p>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 + 2</a:t>
            </a:r>
            <a:endPar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6" name="文本框 45">
            <a:extLst>
              <a:ext uri="{FF2B5EF4-FFF2-40B4-BE49-F238E27FC236}">
                <a16:creationId xmlns:a16="http://schemas.microsoft.com/office/drawing/2014/main" id="{2DE2EB6C-9750-80DA-F8EF-EF495EF428F6}"/>
              </a:ext>
            </a:extLst>
          </p:cNvPr>
          <p:cNvSpPr txBox="1"/>
          <p:nvPr/>
        </p:nvSpPr>
        <p:spPr>
          <a:xfrm>
            <a:off x="637886" y="2085940"/>
            <a:ext cx="320040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level:</a:t>
            </a:r>
            <a:endParaRPr lang="zh-CN" altLang="en-US"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C559D762-B975-9575-FA57-61152F92A118}"/>
              </a:ext>
            </a:extLst>
          </p:cNvPr>
          <p:cNvSpPr txBox="1"/>
          <p:nvPr/>
        </p:nvSpPr>
        <p:spPr>
          <a:xfrm>
            <a:off x="655829" y="2789306"/>
            <a:ext cx="3200400"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addr</a:t>
            </a:r>
            <a:r>
              <a:rPr lang="zh-CN" altLang="en-US" dirty="0">
                <a:latin typeface="Times New Roman" panose="02020603050405020304" pitchFamily="18" charset="0"/>
                <a:cs typeface="Times New Roman" panose="02020603050405020304" pitchFamily="18" charset="0"/>
              </a:rPr>
              <a:t>：</a:t>
            </a:r>
          </a:p>
        </p:txBody>
      </p:sp>
      <p:sp>
        <p:nvSpPr>
          <p:cNvPr id="48" name="文本框 47">
            <a:extLst>
              <a:ext uri="{FF2B5EF4-FFF2-40B4-BE49-F238E27FC236}">
                <a16:creationId xmlns:a16="http://schemas.microsoft.com/office/drawing/2014/main" id="{F2DF4D00-F73F-0FE0-D13D-D8E685381AE1}"/>
              </a:ext>
            </a:extLst>
          </p:cNvPr>
          <p:cNvSpPr txBox="1"/>
          <p:nvPr/>
        </p:nvSpPr>
        <p:spPr>
          <a:xfrm>
            <a:off x="752259" y="3463985"/>
            <a:ext cx="3200400" cy="369332"/>
          </a:xfrm>
          <a:prstGeom prst="rect">
            <a:avLst/>
          </a:prstGeom>
          <a:noFill/>
        </p:spPr>
        <p:txBody>
          <a:bodyPr wrap="square" rtlCol="0">
            <a:spAutoFit/>
          </a:bodyPr>
          <a:lstStyle/>
          <a:p>
            <a:r>
              <a:rPr lang="en-US" altLang="zh-CN" dirty="0" err="1">
                <a:latin typeface="Times New Roman" panose="02020603050405020304" pitchFamily="18" charset="0"/>
                <a:ea typeface="楷体" panose="02010609060101010101" pitchFamily="49" charset="-122"/>
                <a:cs typeface="Times New Roman" panose="02020603050405020304" pitchFamily="18" charset="0"/>
              </a:rPr>
              <a:t>sp</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9" name="箭头: 左弧形 48">
            <a:extLst>
              <a:ext uri="{FF2B5EF4-FFF2-40B4-BE49-F238E27FC236}">
                <a16:creationId xmlns:a16="http://schemas.microsoft.com/office/drawing/2014/main" id="{29E67987-BB14-69BD-1DA2-8CB4A2BB554A}"/>
              </a:ext>
            </a:extLst>
          </p:cNvPr>
          <p:cNvSpPr/>
          <p:nvPr/>
        </p:nvSpPr>
        <p:spPr>
          <a:xfrm>
            <a:off x="5849616" y="1490339"/>
            <a:ext cx="348046" cy="820471"/>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0" name="箭头: 左弧形 49">
            <a:extLst>
              <a:ext uri="{FF2B5EF4-FFF2-40B4-BE49-F238E27FC236}">
                <a16:creationId xmlns:a16="http://schemas.microsoft.com/office/drawing/2014/main" id="{7877EED2-B535-CABE-529E-DB5CC999FA1F}"/>
              </a:ext>
            </a:extLst>
          </p:cNvPr>
          <p:cNvSpPr/>
          <p:nvPr/>
        </p:nvSpPr>
        <p:spPr>
          <a:xfrm>
            <a:off x="5829779" y="2297865"/>
            <a:ext cx="348047" cy="1677639"/>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CD28BC43-E73C-B335-D4A3-848F0844EFF2}"/>
              </a:ext>
            </a:extLst>
          </p:cNvPr>
          <p:cNvSpPr txBox="1"/>
          <p:nvPr/>
        </p:nvSpPr>
        <p:spPr>
          <a:xfrm>
            <a:off x="5089245" y="1664810"/>
            <a:ext cx="53297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SL</a:t>
            </a:r>
            <a:endParaRPr lang="zh-CN" altLang="en-US"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1C5C90B6-B3EE-0EF1-D81B-0FB66BB0850F}"/>
              </a:ext>
            </a:extLst>
          </p:cNvPr>
          <p:cNvSpPr txBox="1"/>
          <p:nvPr/>
        </p:nvSpPr>
        <p:spPr>
          <a:xfrm>
            <a:off x="5063282" y="2720063"/>
            <a:ext cx="53297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SL</a:t>
            </a:r>
            <a:endParaRPr lang="zh-CN" altLang="en-US" dirty="0">
              <a:latin typeface="Times New Roman" panose="02020603050405020304" pitchFamily="18" charset="0"/>
              <a:cs typeface="Times New Roman" panose="02020603050405020304" pitchFamily="18" charset="0"/>
            </a:endParaRPr>
          </a:p>
        </p:txBody>
      </p:sp>
      <p:sp>
        <p:nvSpPr>
          <p:cNvPr id="53" name="箭头: 左 52">
            <a:extLst>
              <a:ext uri="{FF2B5EF4-FFF2-40B4-BE49-F238E27FC236}">
                <a16:creationId xmlns:a16="http://schemas.microsoft.com/office/drawing/2014/main" id="{C6CFBE4C-DE55-8C86-8B51-3B6C0D162996}"/>
              </a:ext>
            </a:extLst>
          </p:cNvPr>
          <p:cNvSpPr/>
          <p:nvPr/>
        </p:nvSpPr>
        <p:spPr>
          <a:xfrm>
            <a:off x="9036013" y="803765"/>
            <a:ext cx="389170" cy="403857"/>
          </a:xfrm>
          <a:prstGeom prst="leftArrow">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F2A3F401-394E-A8A5-FED3-22D0C992FC11}"/>
              </a:ext>
            </a:extLst>
          </p:cNvPr>
          <p:cNvSpPr txBox="1"/>
          <p:nvPr/>
        </p:nvSpPr>
        <p:spPr>
          <a:xfrm>
            <a:off x="4374588" y="756259"/>
            <a:ext cx="3200400"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寻找</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leval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SL</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6" name="文本框 55">
            <a:extLst>
              <a:ext uri="{FF2B5EF4-FFF2-40B4-BE49-F238E27FC236}">
                <a16:creationId xmlns:a16="http://schemas.microsoft.com/office/drawing/2014/main" id="{A633B0FC-5033-4E51-24C5-4541906675A0}"/>
              </a:ext>
            </a:extLst>
          </p:cNvPr>
          <p:cNvSpPr txBox="1"/>
          <p:nvPr/>
        </p:nvSpPr>
        <p:spPr>
          <a:xfrm>
            <a:off x="8263683" y="3120125"/>
            <a:ext cx="3200400"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addr</a:t>
            </a:r>
            <a:endParaRPr lang="zh-CN" altLang="en-US" dirty="0">
              <a:latin typeface="Times New Roman" panose="02020603050405020304" pitchFamily="18" charset="0"/>
              <a:cs typeface="Times New Roman" panose="02020603050405020304" pitchFamily="18" charset="0"/>
            </a:endParaRPr>
          </a:p>
        </p:txBody>
      </p:sp>
      <p:sp>
        <p:nvSpPr>
          <p:cNvPr id="57" name="箭头: 左弧形 56">
            <a:extLst>
              <a:ext uri="{FF2B5EF4-FFF2-40B4-BE49-F238E27FC236}">
                <a16:creationId xmlns:a16="http://schemas.microsoft.com/office/drawing/2014/main" id="{BEA5D2FB-2F07-39AD-2BE5-646771C39F9B}"/>
              </a:ext>
            </a:extLst>
          </p:cNvPr>
          <p:cNvSpPr/>
          <p:nvPr/>
        </p:nvSpPr>
        <p:spPr>
          <a:xfrm rot="10800000">
            <a:off x="7749261" y="2916084"/>
            <a:ext cx="333155" cy="1028155"/>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58" name="文本框 57">
            <a:extLst>
              <a:ext uri="{FF2B5EF4-FFF2-40B4-BE49-F238E27FC236}">
                <a16:creationId xmlns:a16="http://schemas.microsoft.com/office/drawing/2014/main" id="{B67057B1-A013-8774-6BE3-56792C0D69A0}"/>
              </a:ext>
            </a:extLst>
          </p:cNvPr>
          <p:cNvSpPr txBox="1"/>
          <p:nvPr/>
        </p:nvSpPr>
        <p:spPr>
          <a:xfrm>
            <a:off x="1603610" y="2778916"/>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获取变量基地址：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9" name="箭头: 左弧形 58">
            <a:extLst>
              <a:ext uri="{FF2B5EF4-FFF2-40B4-BE49-F238E27FC236}">
                <a16:creationId xmlns:a16="http://schemas.microsoft.com/office/drawing/2014/main" id="{BFCE12B3-2D26-D2A2-103F-FFCCE2EACA04}"/>
              </a:ext>
            </a:extLst>
          </p:cNvPr>
          <p:cNvSpPr/>
          <p:nvPr/>
        </p:nvSpPr>
        <p:spPr>
          <a:xfrm rot="10800000">
            <a:off x="7776427" y="2465442"/>
            <a:ext cx="333155" cy="439286"/>
          </a:xfrm>
          <a:prstGeom prst="curved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solidFill>
                <a:schemeClr val="tx1"/>
              </a:solidFill>
            </a:endParaRPr>
          </a:p>
        </p:txBody>
      </p:sp>
      <p:sp>
        <p:nvSpPr>
          <p:cNvPr id="62" name="文本框 61">
            <a:extLst>
              <a:ext uri="{FF2B5EF4-FFF2-40B4-BE49-F238E27FC236}">
                <a16:creationId xmlns:a16="http://schemas.microsoft.com/office/drawing/2014/main" id="{3482CB8E-2F33-83DA-99EF-F8861B3142A4}"/>
              </a:ext>
            </a:extLst>
          </p:cNvPr>
          <p:cNvSpPr txBox="1"/>
          <p:nvPr/>
        </p:nvSpPr>
        <p:spPr>
          <a:xfrm>
            <a:off x="8365875" y="2765506"/>
            <a:ext cx="427214"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3" name="文本框 62">
            <a:extLst>
              <a:ext uri="{FF2B5EF4-FFF2-40B4-BE49-F238E27FC236}">
                <a16:creationId xmlns:a16="http://schemas.microsoft.com/office/drawing/2014/main" id="{2C98A936-6D32-6F3B-696E-6ABDCEF12D79}"/>
              </a:ext>
            </a:extLst>
          </p:cNvPr>
          <p:cNvSpPr txBox="1"/>
          <p:nvPr/>
        </p:nvSpPr>
        <p:spPr>
          <a:xfrm>
            <a:off x="1603610" y="2082925"/>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获取变量活动记录</a:t>
            </a:r>
          </a:p>
        </p:txBody>
      </p:sp>
      <p:sp>
        <p:nvSpPr>
          <p:cNvPr id="64" name="文本框 63">
            <a:extLst>
              <a:ext uri="{FF2B5EF4-FFF2-40B4-BE49-F238E27FC236}">
                <a16:creationId xmlns:a16="http://schemas.microsoft.com/office/drawing/2014/main" id="{61C4BC49-1CA3-4655-30F1-32B47CD3EB2A}"/>
              </a:ext>
            </a:extLst>
          </p:cNvPr>
          <p:cNvSpPr txBox="1"/>
          <p:nvPr/>
        </p:nvSpPr>
        <p:spPr>
          <a:xfrm>
            <a:off x="1603610" y="3471892"/>
            <a:ext cx="3095522" cy="369332"/>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获取具体变量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 name="文本框 66">
            <a:extLst>
              <a:ext uri="{FF2B5EF4-FFF2-40B4-BE49-F238E27FC236}">
                <a16:creationId xmlns:a16="http://schemas.microsoft.com/office/drawing/2014/main" id="{28DA42CF-D1E5-30C7-7924-05FA8644B60F}"/>
              </a:ext>
            </a:extLst>
          </p:cNvPr>
          <p:cNvSpPr txBox="1"/>
          <p:nvPr/>
        </p:nvSpPr>
        <p:spPr>
          <a:xfrm>
            <a:off x="8372242" y="3413179"/>
            <a:ext cx="427214" cy="400110"/>
          </a:xfrm>
          <a:prstGeom prst="rect">
            <a:avLst/>
          </a:prstGeom>
          <a:noFill/>
        </p:spPr>
        <p:txBody>
          <a:bodyPr wrap="square" rtlCol="0">
            <a:spAutoFit/>
          </a:bodyPr>
          <a:lstStyle/>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9" name="文本框 68">
            <a:extLst>
              <a:ext uri="{FF2B5EF4-FFF2-40B4-BE49-F238E27FC236}">
                <a16:creationId xmlns:a16="http://schemas.microsoft.com/office/drawing/2014/main" id="{4170A87D-1602-C685-8089-264F1F061057}"/>
              </a:ext>
            </a:extLst>
          </p:cNvPr>
          <p:cNvSpPr txBox="1"/>
          <p:nvPr/>
        </p:nvSpPr>
        <p:spPr>
          <a:xfrm>
            <a:off x="8082416" y="3713220"/>
            <a:ext cx="1333603"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基地址</a:t>
            </a:r>
          </a:p>
        </p:txBody>
      </p:sp>
      <p:sp>
        <p:nvSpPr>
          <p:cNvPr id="71" name="文本框 70">
            <a:extLst>
              <a:ext uri="{FF2B5EF4-FFF2-40B4-BE49-F238E27FC236}">
                <a16:creationId xmlns:a16="http://schemas.microsoft.com/office/drawing/2014/main" id="{E3A9D619-371F-204A-3095-F3DC6F407C6C}"/>
              </a:ext>
            </a:extLst>
          </p:cNvPr>
          <p:cNvSpPr txBox="1"/>
          <p:nvPr/>
        </p:nvSpPr>
        <p:spPr>
          <a:xfrm>
            <a:off x="8302126" y="2427857"/>
            <a:ext cx="427214" cy="400110"/>
          </a:xfrm>
          <a:prstGeom prst="rect">
            <a:avLst/>
          </a:prstGeom>
          <a:noFill/>
        </p:spPr>
        <p:txBody>
          <a:bodyPr wrap="square" rtlCol="0">
            <a:spAutoFit/>
          </a:bodyPr>
          <a:lstStyle/>
          <a:p>
            <a:r>
              <a:rPr lang="en-US" altLang="zh-CN" sz="20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sp</a:t>
            </a:r>
            <a:endPar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箭头: 左 6">
            <a:extLst>
              <a:ext uri="{FF2B5EF4-FFF2-40B4-BE49-F238E27FC236}">
                <a16:creationId xmlns:a16="http://schemas.microsoft.com/office/drawing/2014/main" id="{B425FB44-843D-9CE4-364F-0935111CE909}"/>
              </a:ext>
            </a:extLst>
          </p:cNvPr>
          <p:cNvSpPr/>
          <p:nvPr/>
        </p:nvSpPr>
        <p:spPr>
          <a:xfrm>
            <a:off x="9051575" y="1484017"/>
            <a:ext cx="389170" cy="403857"/>
          </a:xfrm>
          <a:prstGeom prst="leftArrow">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956AA7F0-1D2F-9865-DC3C-6BED8DAF0B81}"/>
              </a:ext>
            </a:extLst>
          </p:cNvPr>
          <p:cNvSpPr txBox="1"/>
          <p:nvPr/>
        </p:nvSpPr>
        <p:spPr>
          <a:xfrm>
            <a:off x="8073870" y="1486691"/>
            <a:ext cx="910106" cy="369332"/>
          </a:xfrm>
          <a:prstGeom prst="rect">
            <a:avLst/>
          </a:prstGeom>
          <a:noFill/>
        </p:spPr>
        <p:txBody>
          <a:bodyPr wrap="square" rtlCol="0">
            <a:spAutoFit/>
          </a:bodyPr>
          <a:lstStyle/>
          <a:p>
            <a:r>
              <a:rPr lang="zh-CN" altLang="en-US"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存储值</a:t>
            </a:r>
          </a:p>
        </p:txBody>
      </p:sp>
      <p:cxnSp>
        <p:nvCxnSpPr>
          <p:cNvPr id="12" name="直接箭头连接符 11">
            <a:extLst>
              <a:ext uri="{FF2B5EF4-FFF2-40B4-BE49-F238E27FC236}">
                <a16:creationId xmlns:a16="http://schemas.microsoft.com/office/drawing/2014/main" id="{B2F5816D-BA9E-B056-FBF9-98192035AFFB}"/>
              </a:ext>
            </a:extLst>
          </p:cNvPr>
          <p:cNvCxnSpPr>
            <a:endCxn id="71" idx="0"/>
          </p:cNvCxnSpPr>
          <p:nvPr/>
        </p:nvCxnSpPr>
        <p:spPr>
          <a:xfrm>
            <a:off x="8515733" y="1900574"/>
            <a:ext cx="0" cy="527283"/>
          </a:xfrm>
          <a:prstGeom prst="straightConnector1">
            <a:avLst/>
          </a:prstGeom>
          <a:ln w="9525">
            <a:solidFill>
              <a:srgbClr val="00B050"/>
            </a:solidFill>
            <a:tailEnd type="triangle"/>
          </a:ln>
        </p:spPr>
        <p:style>
          <a:lnRef idx="1">
            <a:schemeClr val="accent6"/>
          </a:lnRef>
          <a:fillRef idx="0">
            <a:schemeClr val="accent6"/>
          </a:fillRef>
          <a:effectRef idx="0">
            <a:schemeClr val="accent6"/>
          </a:effectRef>
          <a:fontRef idx="minor">
            <a:schemeClr val="tx1"/>
          </a:fontRef>
        </p:style>
      </p:cxnSp>
      <p:sp>
        <p:nvSpPr>
          <p:cNvPr id="13" name="标题 29">
            <a:extLst>
              <a:ext uri="{FF2B5EF4-FFF2-40B4-BE49-F238E27FC236}">
                <a16:creationId xmlns:a16="http://schemas.microsoft.com/office/drawing/2014/main" id="{95792D06-6A4F-761A-B6B0-F3C0B28E3FA5}"/>
              </a:ext>
            </a:extLst>
          </p:cNvPr>
          <p:cNvSpPr txBox="1">
            <a:spLocks/>
          </p:cNvSpPr>
          <p:nvPr/>
        </p:nvSpPr>
        <p:spPr>
          <a:xfrm>
            <a:off x="623439" y="4402729"/>
            <a:ext cx="5446337" cy="1677639"/>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en-US" sz="2400" dirty="0">
                <a:latin typeface="Times New Roman" panose="02020603050405020304" pitchFamily="18" charset="0"/>
                <a:ea typeface="楷体" panose="02010609060101010101" pitchFamily="49" charset="-122"/>
                <a:cs typeface="Times New Roman" panose="02020603050405020304" pitchFamily="18" charset="0"/>
              </a:rPr>
              <a:t>STO</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需要注意参数的存储问题</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例如：</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0"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 = x;</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 当</a:t>
            </a:r>
            <a:r>
              <a:rPr lang="en-US" altLang="zh-CN" sz="2000" b="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b="0" dirty="0">
                <a:latin typeface="Times New Roman" panose="02020603050405020304" pitchFamily="18" charset="0"/>
                <a:ea typeface="楷体" panose="02010609060101010101" pitchFamily="49" charset="-122"/>
                <a:cs typeface="Times New Roman" panose="02020603050405020304" pitchFamily="18" charset="0"/>
              </a:rPr>
              <a:t>为参数数组时，应当直接从栈中获取</a:t>
            </a:r>
            <a:r>
              <a:rPr lang="zh-CN" alt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绝对地址</a:t>
            </a:r>
            <a:endParaRPr lang="en-US" sz="20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97760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378E5-91E3-9E9C-14D8-A079BC89AB5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D0B38BE-E5DA-C0F7-2D87-A89710D8ABC2}"/>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9E43A048-3894-8BD9-E733-09C109B29E4D}"/>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B2DA0B4-885C-3074-0BC5-1FC6D4783BDA}"/>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85D8707A-79B4-54B1-A625-39F95F8E6B96}"/>
              </a:ext>
            </a:extLst>
          </p:cNvPr>
          <p:cNvSpPr txBox="1"/>
          <p:nvPr/>
        </p:nvSpPr>
        <p:spPr>
          <a:xfrm>
            <a:off x="485493" y="214656"/>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解释执行</a:t>
            </a:r>
          </a:p>
        </p:txBody>
      </p:sp>
      <p:sp>
        <p:nvSpPr>
          <p:cNvPr id="3" name="标题 29">
            <a:extLst>
              <a:ext uri="{FF2B5EF4-FFF2-40B4-BE49-F238E27FC236}">
                <a16:creationId xmlns:a16="http://schemas.microsoft.com/office/drawing/2014/main" id="{2682BA0E-6FC9-FB98-F870-D94942C7265E}"/>
              </a:ext>
            </a:extLst>
          </p:cNvPr>
          <p:cNvSpPr txBox="1">
            <a:spLocks/>
          </p:cNvSpPr>
          <p:nvPr/>
        </p:nvSpPr>
        <p:spPr>
          <a:xfrm>
            <a:off x="878452" y="1106792"/>
            <a:ext cx="5446337" cy="517855"/>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运算处理相关</a:t>
            </a:r>
            <a:endParaRPr 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 name="图片 10">
            <a:extLst>
              <a:ext uri="{FF2B5EF4-FFF2-40B4-BE49-F238E27FC236}">
                <a16:creationId xmlns:a16="http://schemas.microsoft.com/office/drawing/2014/main" id="{229EA3D5-2D35-BD3B-D362-493D6C3701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342" y="1742791"/>
            <a:ext cx="6567785" cy="3379485"/>
          </a:xfrm>
          <a:prstGeom prst="rect">
            <a:avLst/>
          </a:prstGeom>
        </p:spPr>
      </p:pic>
      <p:sp>
        <p:nvSpPr>
          <p:cNvPr id="14" name="文本框 13">
            <a:extLst>
              <a:ext uri="{FF2B5EF4-FFF2-40B4-BE49-F238E27FC236}">
                <a16:creationId xmlns:a16="http://schemas.microsoft.com/office/drawing/2014/main" id="{BE6C6112-1DE0-5EAC-4FA1-E1BB26CD6898}"/>
              </a:ext>
            </a:extLst>
          </p:cNvPr>
          <p:cNvSpPr txBox="1"/>
          <p:nvPr/>
        </p:nvSpPr>
        <p:spPr>
          <a:xfrm>
            <a:off x="878452" y="5565059"/>
            <a:ext cx="6688362"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解释执行中的运算直接根据相应的操作符执行运算即可，注意区分左右操作数的位置</a:t>
            </a:r>
          </a:p>
        </p:txBody>
      </p:sp>
      <p:sp>
        <p:nvSpPr>
          <p:cNvPr id="15" name="矩形 14">
            <a:extLst>
              <a:ext uri="{FF2B5EF4-FFF2-40B4-BE49-F238E27FC236}">
                <a16:creationId xmlns:a16="http://schemas.microsoft.com/office/drawing/2014/main" id="{15509AD0-37C0-1003-D151-7297E0B1BDBD}"/>
              </a:ext>
            </a:extLst>
          </p:cNvPr>
          <p:cNvSpPr/>
          <p:nvPr/>
        </p:nvSpPr>
        <p:spPr>
          <a:xfrm>
            <a:off x="9689433" y="484868"/>
            <a:ext cx="1333602" cy="411553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56488EEA-7D3D-8B8B-B924-8589E38CF9D5}"/>
              </a:ext>
            </a:extLst>
          </p:cNvPr>
          <p:cNvCxnSpPr/>
          <p:nvPr/>
        </p:nvCxnSpPr>
        <p:spPr>
          <a:xfrm>
            <a:off x="9726938" y="1490063"/>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8" name="直接连接符 17">
            <a:extLst>
              <a:ext uri="{FF2B5EF4-FFF2-40B4-BE49-F238E27FC236}">
                <a16:creationId xmlns:a16="http://schemas.microsoft.com/office/drawing/2014/main" id="{3BA9AA64-36CB-4B7A-589C-7153A8E3BB88}"/>
              </a:ext>
            </a:extLst>
          </p:cNvPr>
          <p:cNvCxnSpPr/>
          <p:nvPr/>
        </p:nvCxnSpPr>
        <p:spPr>
          <a:xfrm>
            <a:off x="9693630" y="2511577"/>
            <a:ext cx="128261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9" name="直接连接符 18">
            <a:extLst>
              <a:ext uri="{FF2B5EF4-FFF2-40B4-BE49-F238E27FC236}">
                <a16:creationId xmlns:a16="http://schemas.microsoft.com/office/drawing/2014/main" id="{D9CC1726-E413-2C74-5294-E1DCDAD040C8}"/>
              </a:ext>
            </a:extLst>
          </p:cNvPr>
          <p:cNvCxnSpPr/>
          <p:nvPr/>
        </p:nvCxnSpPr>
        <p:spPr>
          <a:xfrm>
            <a:off x="9693631" y="3035264"/>
            <a:ext cx="1282615" cy="0"/>
          </a:xfrm>
          <a:prstGeom prst="line">
            <a:avLst/>
          </a:prstGeom>
        </p:spPr>
        <p:style>
          <a:lnRef idx="1">
            <a:schemeClr val="accent3"/>
          </a:lnRef>
          <a:fillRef idx="0">
            <a:schemeClr val="accent3"/>
          </a:fillRef>
          <a:effectRef idx="0">
            <a:schemeClr val="accent3"/>
          </a:effectRef>
          <a:fontRef idx="minor">
            <a:schemeClr val="tx1"/>
          </a:fontRef>
        </p:style>
      </p:cxnSp>
      <p:sp>
        <p:nvSpPr>
          <p:cNvPr id="20" name="文本框 19">
            <a:extLst>
              <a:ext uri="{FF2B5EF4-FFF2-40B4-BE49-F238E27FC236}">
                <a16:creationId xmlns:a16="http://schemas.microsoft.com/office/drawing/2014/main" id="{36357128-E695-8E64-AF71-39DDA2DF7C4B}"/>
              </a:ext>
            </a:extLst>
          </p:cNvPr>
          <p:cNvSpPr txBox="1"/>
          <p:nvPr/>
        </p:nvSpPr>
        <p:spPr>
          <a:xfrm>
            <a:off x="9966812" y="3145300"/>
            <a:ext cx="1194287"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04F987CF-9AE8-883B-474C-DA6EE816F8F3}"/>
              </a:ext>
            </a:extLst>
          </p:cNvPr>
          <p:cNvSpPr txBox="1"/>
          <p:nvPr/>
        </p:nvSpPr>
        <p:spPr>
          <a:xfrm>
            <a:off x="9680911" y="5122276"/>
            <a:ext cx="1374671" cy="707886"/>
          </a:xfrm>
          <a:prstGeom prst="rect">
            <a:avLst/>
          </a:prstGeom>
          <a:noFill/>
        </p:spPr>
        <p:txBody>
          <a:bodyPr wrap="square" rtlCol="0">
            <a:spAutoFit/>
          </a:bodyPr>
          <a:lstStyle/>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运算栈</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Stack</a:t>
            </a:r>
          </a:p>
        </p:txBody>
      </p:sp>
      <p:sp>
        <p:nvSpPr>
          <p:cNvPr id="22" name="文本框 21">
            <a:extLst>
              <a:ext uri="{FF2B5EF4-FFF2-40B4-BE49-F238E27FC236}">
                <a16:creationId xmlns:a16="http://schemas.microsoft.com/office/drawing/2014/main" id="{3EF7BF0A-A47D-4317-9B02-FB8F0A375A07}"/>
              </a:ext>
            </a:extLst>
          </p:cNvPr>
          <p:cNvSpPr txBox="1"/>
          <p:nvPr/>
        </p:nvSpPr>
        <p:spPr>
          <a:xfrm>
            <a:off x="9873847" y="2582452"/>
            <a:ext cx="1380216" cy="338554"/>
          </a:xfrm>
          <a:prstGeom prst="rect">
            <a:avLst/>
          </a:prstGeom>
          <a:noFill/>
        </p:spPr>
        <p:txBody>
          <a:bodyPr wrap="square" rtlCol="0">
            <a:spAutoFit/>
          </a:bodyPr>
          <a:lstStyle/>
          <a:p>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文本框 23">
            <a:extLst>
              <a:ext uri="{FF2B5EF4-FFF2-40B4-BE49-F238E27FC236}">
                <a16:creationId xmlns:a16="http://schemas.microsoft.com/office/drawing/2014/main" id="{D8A80B07-24DE-F203-1FA7-AE301A7E555D}"/>
              </a:ext>
            </a:extLst>
          </p:cNvPr>
          <p:cNvSpPr txBox="1"/>
          <p:nvPr/>
        </p:nvSpPr>
        <p:spPr>
          <a:xfrm>
            <a:off x="9687487" y="1864194"/>
            <a:ext cx="1333602" cy="338554"/>
          </a:xfrm>
          <a:prstGeom prst="rect">
            <a:avLst/>
          </a:prstGeom>
          <a:noFill/>
        </p:spPr>
        <p:txBody>
          <a:bodyPr wrap="square" rtlCol="0">
            <a:spAutoFit/>
          </a:bodyPr>
          <a:lstStyle/>
          <a:p>
            <a:r>
              <a:rPr lang="zh-CN" altLang="en-US"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 + 1</a:t>
            </a:r>
            <a:endParaRPr lang="zh-CN" altLang="en-US" sz="160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文本框 24">
            <a:extLst>
              <a:ext uri="{FF2B5EF4-FFF2-40B4-BE49-F238E27FC236}">
                <a16:creationId xmlns:a16="http://schemas.microsoft.com/office/drawing/2014/main" id="{27229491-D2B4-4509-FF73-B004AF3AAE8A}"/>
              </a:ext>
            </a:extLst>
          </p:cNvPr>
          <p:cNvSpPr txBox="1"/>
          <p:nvPr/>
        </p:nvSpPr>
        <p:spPr>
          <a:xfrm>
            <a:off x="9689433" y="886204"/>
            <a:ext cx="1312308" cy="338554"/>
          </a:xfrm>
          <a:prstGeom prst="rect">
            <a:avLst/>
          </a:prstGeom>
          <a:noFill/>
        </p:spPr>
        <p:txBody>
          <a:bodyPr wrap="square" rtlCol="0">
            <a:spAutoFit/>
          </a:bodyPr>
          <a:lstStyle/>
          <a:p>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操作数 </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 + 2</a:t>
            </a:r>
            <a:endPar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文本框 25">
            <a:extLst>
              <a:ext uri="{FF2B5EF4-FFF2-40B4-BE49-F238E27FC236}">
                <a16:creationId xmlns:a16="http://schemas.microsoft.com/office/drawing/2014/main" id="{28F1F14A-5806-4247-066B-06F6836CA9E9}"/>
              </a:ext>
            </a:extLst>
          </p:cNvPr>
          <p:cNvSpPr txBox="1"/>
          <p:nvPr/>
        </p:nvSpPr>
        <p:spPr>
          <a:xfrm>
            <a:off x="8604173" y="1959269"/>
            <a:ext cx="72285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op2</a:t>
            </a:r>
            <a:endParaRPr lang="zh-CN" altLang="en-US"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文本框 26">
            <a:extLst>
              <a:ext uri="{FF2B5EF4-FFF2-40B4-BE49-F238E27FC236}">
                <a16:creationId xmlns:a16="http://schemas.microsoft.com/office/drawing/2014/main" id="{10DE98DF-3F6F-8B3B-4D16-D74018731969}"/>
              </a:ext>
            </a:extLst>
          </p:cNvPr>
          <p:cNvSpPr txBox="1"/>
          <p:nvPr/>
        </p:nvSpPr>
        <p:spPr>
          <a:xfrm>
            <a:off x="8604173" y="676321"/>
            <a:ext cx="722858" cy="369332"/>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op1</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文本框 27">
            <a:extLst>
              <a:ext uri="{FF2B5EF4-FFF2-40B4-BE49-F238E27FC236}">
                <a16:creationId xmlns:a16="http://schemas.microsoft.com/office/drawing/2014/main" id="{2A23E45E-2249-401A-89D7-C16BC5599D6A}"/>
              </a:ext>
            </a:extLst>
          </p:cNvPr>
          <p:cNvSpPr txBox="1"/>
          <p:nvPr/>
        </p:nvSpPr>
        <p:spPr>
          <a:xfrm>
            <a:off x="8666857" y="1348645"/>
            <a:ext cx="722858" cy="369332"/>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op</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4" name="直接箭头连接符 53">
            <a:extLst>
              <a:ext uri="{FF2B5EF4-FFF2-40B4-BE49-F238E27FC236}">
                <a16:creationId xmlns:a16="http://schemas.microsoft.com/office/drawing/2014/main" id="{8A6E42D1-F88B-F550-7777-D207CEAA2551}"/>
              </a:ext>
            </a:extLst>
          </p:cNvPr>
          <p:cNvCxnSpPr/>
          <p:nvPr/>
        </p:nvCxnSpPr>
        <p:spPr>
          <a:xfrm>
            <a:off x="8892387" y="2511577"/>
            <a:ext cx="0" cy="72871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EA11A212-1F73-C539-5B90-C2DE5DFFDCDF}"/>
              </a:ext>
            </a:extLst>
          </p:cNvPr>
          <p:cNvSpPr txBox="1"/>
          <p:nvPr/>
        </p:nvSpPr>
        <p:spPr>
          <a:xfrm>
            <a:off x="8666857" y="3376132"/>
            <a:ext cx="722858" cy="369332"/>
          </a:xfrm>
          <a:prstGeom prst="rect">
            <a:avLst/>
          </a:prstGeom>
          <a:noFill/>
        </p:spPr>
        <p:txBody>
          <a:bodyPr wrap="square" rtlCol="0">
            <a:spAutoFit/>
          </a:bodyPr>
          <a:lstStyle/>
          <a:p>
            <a:r>
              <a:rPr lang="en-US" altLang="zh-CN" dirty="0" err="1">
                <a:latin typeface="Times New Roman" panose="02020603050405020304" pitchFamily="18" charset="0"/>
                <a:ea typeface="楷体" panose="02010609060101010101" pitchFamily="49" charset="-122"/>
                <a:cs typeface="Times New Roman" panose="02020603050405020304" pitchFamily="18" charset="0"/>
              </a:rPr>
              <a:t>ans</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1" name="文本框 60">
            <a:extLst>
              <a:ext uri="{FF2B5EF4-FFF2-40B4-BE49-F238E27FC236}">
                <a16:creationId xmlns:a16="http://schemas.microsoft.com/office/drawing/2014/main" id="{C5BF6D82-8108-54B9-0D5A-E3EDC5B8C8CF}"/>
              </a:ext>
            </a:extLst>
          </p:cNvPr>
          <p:cNvSpPr txBox="1"/>
          <p:nvPr/>
        </p:nvSpPr>
        <p:spPr>
          <a:xfrm>
            <a:off x="11254063" y="837292"/>
            <a:ext cx="722858" cy="369332"/>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Pop()</a:t>
            </a:r>
            <a:endPar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5" name="文本框 64">
            <a:extLst>
              <a:ext uri="{FF2B5EF4-FFF2-40B4-BE49-F238E27FC236}">
                <a16:creationId xmlns:a16="http://schemas.microsoft.com/office/drawing/2014/main" id="{05D2D6F6-D19C-0A5A-7BA8-76B7C9078C7C}"/>
              </a:ext>
            </a:extLst>
          </p:cNvPr>
          <p:cNvSpPr txBox="1"/>
          <p:nvPr/>
        </p:nvSpPr>
        <p:spPr>
          <a:xfrm>
            <a:off x="11254063" y="1819666"/>
            <a:ext cx="72285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Pop()</a:t>
            </a:r>
            <a:endParaRPr lang="zh-CN" altLang="en-US"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66" name="直接箭头连接符 65">
            <a:extLst>
              <a:ext uri="{FF2B5EF4-FFF2-40B4-BE49-F238E27FC236}">
                <a16:creationId xmlns:a16="http://schemas.microsoft.com/office/drawing/2014/main" id="{784FBCB6-D927-26D6-DB2D-37D61F6C30C0}"/>
              </a:ext>
            </a:extLst>
          </p:cNvPr>
          <p:cNvCxnSpPr/>
          <p:nvPr/>
        </p:nvCxnSpPr>
        <p:spPr>
          <a:xfrm>
            <a:off x="8892387" y="3965002"/>
            <a:ext cx="0" cy="72871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2768C2DF-D5F1-ACDB-459B-3180B18B4ADA}"/>
              </a:ext>
            </a:extLst>
          </p:cNvPr>
          <p:cNvSpPr txBox="1"/>
          <p:nvPr/>
        </p:nvSpPr>
        <p:spPr>
          <a:xfrm>
            <a:off x="8604173" y="4829888"/>
            <a:ext cx="722858" cy="646331"/>
          </a:xfrm>
          <a:prstGeom prst="rect">
            <a:avLst/>
          </a:prstGeom>
          <a:noFill/>
        </p:spPr>
        <p:txBody>
          <a:bodyPr wrap="squar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存入栈顶</a:t>
            </a:r>
          </a:p>
        </p:txBody>
      </p:sp>
    </p:spTree>
    <p:custDataLst>
      <p:tags r:id="rId1"/>
    </p:custDataLst>
    <p:extLst>
      <p:ext uri="{BB962C8B-B14F-4D97-AF65-F5344CB8AC3E}">
        <p14:creationId xmlns:p14="http://schemas.microsoft.com/office/powerpoint/2010/main" val="339849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9">
            <a:extLst>
              <a:ext uri="{FF2B5EF4-FFF2-40B4-BE49-F238E27FC236}">
                <a16:creationId xmlns:a16="http://schemas.microsoft.com/office/drawing/2014/main" id="{328B5FFC-DC13-528C-64DC-8F22FA83C9A5}"/>
              </a:ext>
            </a:extLst>
          </p:cNvPr>
          <p:cNvSpPr txBox="1">
            <a:spLocks/>
          </p:cNvSpPr>
          <p:nvPr/>
        </p:nvSpPr>
        <p:spPr>
          <a:xfrm>
            <a:off x="919709" y="1648741"/>
            <a:ext cx="10601571" cy="3920786"/>
          </a:xfrm>
          <a:prstGeom prst="rect">
            <a:avLst/>
          </a:prstGeom>
        </p:spPr>
        <p:txBody>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重点理解</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动态存储管理</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，特别是</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活动记录</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的结构和每个字段的用途</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重点要设计好</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这一结构，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AR</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的设计基本决定了</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生成的难度</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分清楚</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代码生成阶段和解释执行阶段各负责哪些内容</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，划清界限，比如活动记录的字段在解释执行阶段填，代码生成阶段不填</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相对而言，代码生成阶段难度大于解释执行，在编码前需要认真设计，</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特别是一些情况复杂的语法成分（如</a:t>
            </a:r>
            <a:r>
              <a:rPr lang="en-US" altLang="zh-CN" sz="2400" b="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LVal</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考虑清楚可能出现的各种情况</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适合完全没有优化意愿、喜欢自己设计指令的同学。</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选择</a:t>
            </a:r>
            <a:r>
              <a:rPr lang="en-US" altLang="zh-CN"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Pcode</a:t>
            </a:r>
            <a:r>
              <a:rPr lang="zh-CN" altLang="en-US" sz="2400" b="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需要慎重</a:t>
            </a:r>
          </a:p>
          <a:p>
            <a:pPr>
              <a:lnSpc>
                <a:spcPct val="150000"/>
              </a:lnSpc>
            </a:pPr>
            <a:endParaRPr lang="en-US" sz="2400" b="0" dirty="0">
              <a:solidFill>
                <a:srgbClr val="FF0000"/>
              </a:solidFill>
            </a:endParaRPr>
          </a:p>
        </p:txBody>
      </p:sp>
      <p:grpSp>
        <p:nvGrpSpPr>
          <p:cNvPr id="2" name="组合 1">
            <a:extLst>
              <a:ext uri="{FF2B5EF4-FFF2-40B4-BE49-F238E27FC236}">
                <a16:creationId xmlns:a16="http://schemas.microsoft.com/office/drawing/2014/main" id="{C50E41C7-D665-740D-ECA2-2EB9EB631ED3}"/>
              </a:ext>
            </a:extLst>
          </p:cNvPr>
          <p:cNvGrpSpPr/>
          <p:nvPr/>
        </p:nvGrpSpPr>
        <p:grpSpPr>
          <a:xfrm>
            <a:off x="1634" y="188687"/>
            <a:ext cx="187052" cy="592364"/>
            <a:chOff x="11571416" y="3959358"/>
            <a:chExt cx="620584" cy="1723139"/>
          </a:xfrm>
        </p:grpSpPr>
        <p:sp>
          <p:nvSpPr>
            <p:cNvPr id="5" name="矩形 4">
              <a:extLst>
                <a:ext uri="{FF2B5EF4-FFF2-40B4-BE49-F238E27FC236}">
                  <a16:creationId xmlns:a16="http://schemas.microsoft.com/office/drawing/2014/main" id="{C1303C2B-BD25-4AED-A18F-127B2A23B620}"/>
                </a:ext>
              </a:extLst>
            </p:cNvPr>
            <p:cNvSpPr/>
            <p:nvPr/>
          </p:nvSpPr>
          <p:spPr>
            <a:xfrm>
              <a:off x="11571416" y="3959358"/>
              <a:ext cx="620584" cy="1723137"/>
            </a:xfrm>
            <a:prstGeom prst="rect">
              <a:avLst/>
            </a:prstGeom>
            <a:solidFill>
              <a:srgbClr val="3E41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6F5F506-2914-03B7-3D85-D236507A0FE2}"/>
                </a:ext>
              </a:extLst>
            </p:cNvPr>
            <p:cNvSpPr/>
            <p:nvPr/>
          </p:nvSpPr>
          <p:spPr>
            <a:xfrm>
              <a:off x="11571416" y="5115169"/>
              <a:ext cx="620584" cy="567328"/>
            </a:xfrm>
            <a:prstGeom prst="rect">
              <a:avLst/>
            </a:prstGeom>
            <a:solidFill>
              <a:srgbClr val="CF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C4EBE1E0-F61C-77F3-8F50-22730C7C3983}"/>
              </a:ext>
            </a:extLst>
          </p:cNvPr>
          <p:cNvSpPr txBox="1"/>
          <p:nvPr/>
        </p:nvSpPr>
        <p:spPr>
          <a:xfrm>
            <a:off x="542643" y="206018"/>
            <a:ext cx="7325783" cy="646331"/>
          </a:xfrm>
          <a:prstGeom prst="rect">
            <a:avLst/>
          </a:prstGeom>
          <a:noFill/>
        </p:spPr>
        <p:txBody>
          <a:bodyPr wrap="square" rtlCol="0">
            <a:spAutoFit/>
          </a:bodyPr>
          <a:lstStyle/>
          <a:p>
            <a:r>
              <a:rPr lang="en-US" altLang="zh-CN" sz="3600" b="1" dirty="0">
                <a:solidFill>
                  <a:srgbClr val="3E4150"/>
                </a:solidFill>
                <a:latin typeface="微软雅黑" panose="020B0503020204020204" pitchFamily="34" charset="-122"/>
                <a:ea typeface="微软雅黑" panose="020B0503020204020204" pitchFamily="34" charset="-122"/>
              </a:rPr>
              <a:t>Pcode</a:t>
            </a:r>
            <a:r>
              <a:rPr lang="zh-CN" altLang="en-US" sz="3600" b="1" dirty="0">
                <a:solidFill>
                  <a:srgbClr val="3E4150"/>
                </a:solidFill>
                <a:latin typeface="微软雅黑" panose="020B0503020204020204" pitchFamily="34" charset="-122"/>
                <a:ea typeface="微软雅黑" panose="020B0503020204020204" pitchFamily="34" charset="-122"/>
              </a:rPr>
              <a:t>总结</a:t>
            </a:r>
          </a:p>
        </p:txBody>
      </p:sp>
    </p:spTree>
    <p:custDataLst>
      <p:tags r:id="rId1"/>
    </p:custDataLst>
    <p:extLst>
      <p:ext uri="{BB962C8B-B14F-4D97-AF65-F5344CB8AC3E}">
        <p14:creationId xmlns:p14="http://schemas.microsoft.com/office/powerpoint/2010/main" val="426745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par>
                                <p:cTn id="9" presetID="41" presetClass="entr" presetSubtype="0" fill="hold" grpId="0" nodeType="with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8"/>
                                        </p:tgtEl>
                                        <p:attrNameLst>
                                          <p:attrName>ppt_y</p:attrName>
                                        </p:attrNameLst>
                                      </p:cBhvr>
                                      <p:tavLst>
                                        <p:tav tm="0">
                                          <p:val>
                                            <p:strVal val="#ppt_y"/>
                                          </p:val>
                                        </p:tav>
                                        <p:tav tm="100000">
                                          <p:val>
                                            <p:strVal val="#ppt_y"/>
                                          </p:val>
                                        </p:tav>
                                      </p:tavLst>
                                    </p:anim>
                                    <p:anim calcmode="lin" valueType="num">
                                      <p:cBhvr>
                                        <p:cTn id="13"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2318;"/>
</p:tagLst>
</file>

<file path=ppt/tags/tag2.xml><?xml version="1.0" encoding="utf-8"?>
<p:tagLst xmlns:a="http://schemas.openxmlformats.org/drawingml/2006/main" xmlns:r="http://schemas.openxmlformats.org/officeDocument/2006/relationships" xmlns:p="http://schemas.openxmlformats.org/presentationml/2006/main">
  <p:tag name="ISLIDE.DIAGRAM" val="#2318;"/>
</p:tagLst>
</file>

<file path=ppt/tags/tag3.xml><?xml version="1.0" encoding="utf-8"?>
<p:tagLst xmlns:a="http://schemas.openxmlformats.org/drawingml/2006/main" xmlns:r="http://schemas.openxmlformats.org/officeDocument/2006/relationships" xmlns:p="http://schemas.openxmlformats.org/presentationml/2006/main">
  <p:tag name="ISLIDE.DIAGRAM" val="#2318;"/>
</p:tagLst>
</file>

<file path=ppt/tags/tag4.xml><?xml version="1.0" encoding="utf-8"?>
<p:tagLst xmlns:a="http://schemas.openxmlformats.org/drawingml/2006/main" xmlns:r="http://schemas.openxmlformats.org/officeDocument/2006/relationships" xmlns:p="http://schemas.openxmlformats.org/presentationml/2006/main">
  <p:tag name="ISLIDE.DIAGRAM" val="#2318;"/>
</p:tagLst>
</file>

<file path=ppt/tags/tag5.xml><?xml version="1.0" encoding="utf-8"?>
<p:tagLst xmlns:a="http://schemas.openxmlformats.org/drawingml/2006/main" xmlns:r="http://schemas.openxmlformats.org/officeDocument/2006/relationships" xmlns:p="http://schemas.openxmlformats.org/presentationml/2006/main">
  <p:tag name="ISLIDE.DIAGRAM" val="#2318;"/>
</p:tagLst>
</file>

<file path=ppt/tags/tag6.xml><?xml version="1.0" encoding="utf-8"?>
<p:tagLst xmlns:a="http://schemas.openxmlformats.org/drawingml/2006/main" xmlns:r="http://schemas.openxmlformats.org/officeDocument/2006/relationships" xmlns:p="http://schemas.openxmlformats.org/presentationml/2006/main">
  <p:tag name="ISLIDE.DIAGRAM" val="#2318;"/>
</p:tagLst>
</file>

<file path=ppt/tags/tag7.xml><?xml version="1.0" encoding="utf-8"?>
<p:tagLst xmlns:a="http://schemas.openxmlformats.org/drawingml/2006/main" xmlns:r="http://schemas.openxmlformats.org/officeDocument/2006/relationships" xmlns:p="http://schemas.openxmlformats.org/presentationml/2006/main">
  <p:tag name="ISLIDE.DIAGRAM" val="#2318;"/>
</p:tagLst>
</file>

<file path=ppt/tags/tag8.xml><?xml version="1.0" encoding="utf-8"?>
<p:tagLst xmlns:a="http://schemas.openxmlformats.org/drawingml/2006/main" xmlns:r="http://schemas.openxmlformats.org/officeDocument/2006/relationships" xmlns:p="http://schemas.openxmlformats.org/presentationml/2006/main">
  <p:tag name="ISLIDE.DIAGRAM" val="#2318;"/>
</p:tagLst>
</file>

<file path=ppt/tags/tag9.xml><?xml version="1.0" encoding="utf-8"?>
<p:tagLst xmlns:a="http://schemas.openxmlformats.org/drawingml/2006/main" xmlns:r="http://schemas.openxmlformats.org/officeDocument/2006/relationships" xmlns:p="http://schemas.openxmlformats.org/presentationml/2006/main">
  <p:tag name="ISLIDE.DIAGRAM" val="#2318;"/>
</p:tagLst>
</file>

<file path=ppt/tags/tag10.xml><?xml version="1.0" encoding="utf-8"?>
<p:tagLst xmlns:a="http://schemas.openxmlformats.org/drawingml/2006/main" xmlns:r="http://schemas.openxmlformats.org/officeDocument/2006/relationships" xmlns:p="http://schemas.openxmlformats.org/presentationml/2006/main">
  <p:tag name="ISLIDE.DIAGRAM" val="#2318;"/>
</p:tagLst>
</file>

<file path=ppt/tags/tag11.xml><?xml version="1.0" encoding="utf-8"?>
<p:tagLst xmlns:a="http://schemas.openxmlformats.org/drawingml/2006/main" xmlns:r="http://schemas.openxmlformats.org/officeDocument/2006/relationships" xmlns:p="http://schemas.openxmlformats.org/presentationml/2006/main">
  <p:tag name="ISLIDE.DIAGRAM" val="#2318;"/>
</p:tagLst>
</file>

<file path=ppt/tags/tag12.xml><?xml version="1.0" encoding="utf-8"?>
<p:tagLst xmlns:a="http://schemas.openxmlformats.org/drawingml/2006/main" xmlns:r="http://schemas.openxmlformats.org/officeDocument/2006/relationships" xmlns:p="http://schemas.openxmlformats.org/presentationml/2006/main">
  <p:tag name="ISLIDE.DIAGRAM" val="#2318;"/>
</p:tagLst>
</file>

<file path=ppt/tags/tag13.xml><?xml version="1.0" encoding="utf-8"?>
<p:tagLst xmlns:a="http://schemas.openxmlformats.org/drawingml/2006/main" xmlns:r="http://schemas.openxmlformats.org/officeDocument/2006/relationships" xmlns:p="http://schemas.openxmlformats.org/presentationml/2006/main">
  <p:tag name="ISLIDE.DIAGRAM" val="#2318;"/>
</p:tagLst>
</file>

<file path=ppt/tags/tag14.xml><?xml version="1.0" encoding="utf-8"?>
<p:tagLst xmlns:a="http://schemas.openxmlformats.org/drawingml/2006/main" xmlns:r="http://schemas.openxmlformats.org/officeDocument/2006/relationships" xmlns:p="http://schemas.openxmlformats.org/presentationml/2006/main">
  <p:tag name="ISLIDE.DIAGRAM" val="#2318;"/>
</p:tagLst>
</file>

<file path=ppt/tags/tag15.xml><?xml version="1.0" encoding="utf-8"?>
<p:tagLst xmlns:a="http://schemas.openxmlformats.org/drawingml/2006/main" xmlns:r="http://schemas.openxmlformats.org/officeDocument/2006/relationships" xmlns:p="http://schemas.openxmlformats.org/presentationml/2006/main">
  <p:tag name="ISLIDE.DIAGRAM" val="#2318;"/>
</p:tagLst>
</file>

<file path=ppt/tags/tag16.xml><?xml version="1.0" encoding="utf-8"?>
<p:tagLst xmlns:a="http://schemas.openxmlformats.org/drawingml/2006/main" xmlns:r="http://schemas.openxmlformats.org/officeDocument/2006/relationships" xmlns:p="http://schemas.openxmlformats.org/presentationml/2006/main">
  <p:tag name="ISLIDE.DIAGRAM" val="#2318;"/>
</p:tagLst>
</file>

<file path=ppt/tags/tag17.xml><?xml version="1.0" encoding="utf-8"?>
<p:tagLst xmlns:a="http://schemas.openxmlformats.org/drawingml/2006/main" xmlns:r="http://schemas.openxmlformats.org/officeDocument/2006/relationships" xmlns:p="http://schemas.openxmlformats.org/presentationml/2006/main">
  <p:tag name="ISLIDE.DIAGRAM" val="#23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25485</TotalTime>
  <Words>3389</Words>
  <Application>Microsoft Office PowerPoint</Application>
  <PresentationFormat>宽屏</PresentationFormat>
  <Paragraphs>489</Paragraphs>
  <Slides>30</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_</vt:lpstr>
      <vt:lpstr>等线</vt:lpstr>
      <vt:lpstr>等线 Light</vt:lpstr>
      <vt:lpstr>楷体</vt:lpstr>
      <vt:lpstr>微软雅黑</vt:lpstr>
      <vt:lpstr>Arial</vt:lpstr>
      <vt:lpstr>Times New Roman</vt:lpstr>
      <vt:lpstr>Office 主题​​</vt:lpstr>
      <vt:lpstr>编译技术实验专题报告  ——PCODE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zhuoheng li</dc:creator>
  <cp:lastModifiedBy>zhuoheng li</cp:lastModifiedBy>
  <cp:revision>16</cp:revision>
  <dcterms:created xsi:type="dcterms:W3CDTF">2025-08-25T14:40:04Z</dcterms:created>
  <dcterms:modified xsi:type="dcterms:W3CDTF">2025-09-16T02:53:45Z</dcterms:modified>
</cp:coreProperties>
</file>