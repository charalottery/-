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ppt/tags/tag9.xml" ContentType="application/vnd.openxmlformats-officedocument.presentationml.tags+xml"/>
  <Override PartName="/ppt/notesSlides/notesSlide9.xml" ContentType="application/vnd.openxmlformats-officedocument.presentationml.notesSlide+xml"/>
  <Override PartName="/ppt/tags/tag10.xml" ContentType="application/vnd.openxmlformats-officedocument.presentationml.tags+xml"/>
  <Override PartName="/ppt/notesSlides/notesSlide10.xml" ContentType="application/vnd.openxmlformats-officedocument.presentationml.notesSlide+xml"/>
  <Override PartName="/ppt/tags/tag11.xml" ContentType="application/vnd.openxmlformats-officedocument.presentationml.tags+xml"/>
  <Override PartName="/ppt/notesSlides/notesSlide11.xml" ContentType="application/vnd.openxmlformats-officedocument.presentationml.notesSlide+xml"/>
  <Override PartName="/ppt/tags/tag12.xml" ContentType="application/vnd.openxmlformats-officedocument.presentationml.tags+xml"/>
  <Override PartName="/ppt/notesSlides/notesSlide12.xml" ContentType="application/vnd.openxmlformats-officedocument.presentationml.notesSlide+xml"/>
  <Override PartName="/ppt/tags/tag13.xml" ContentType="application/vnd.openxmlformats-officedocument.presentationml.tags+xml"/>
  <Override PartName="/ppt/notesSlides/notesSlide13.xml" ContentType="application/vnd.openxmlformats-officedocument.presentationml.notesSlide+xml"/>
  <Override PartName="/ppt/tags/tag14.xml" ContentType="application/vnd.openxmlformats-officedocument.presentationml.tags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1"/>
  </p:notesMasterIdLst>
  <p:sldIdLst>
    <p:sldId id="256" r:id="rId5"/>
    <p:sldId id="258" r:id="rId6"/>
    <p:sldId id="305" r:id="rId7"/>
    <p:sldId id="413" r:id="rId8"/>
    <p:sldId id="414" r:id="rId9"/>
    <p:sldId id="415" r:id="rId10"/>
    <p:sldId id="418" r:id="rId11"/>
    <p:sldId id="419" r:id="rId12"/>
    <p:sldId id="421" r:id="rId13"/>
    <p:sldId id="422" r:id="rId14"/>
    <p:sldId id="423" r:id="rId15"/>
    <p:sldId id="425" r:id="rId16"/>
    <p:sldId id="432" r:id="rId17"/>
    <p:sldId id="433" r:id="rId18"/>
    <p:sldId id="434" r:id="rId19"/>
    <p:sldId id="417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836E"/>
    <a:srgbClr val="434042"/>
    <a:srgbClr val="65B5C5"/>
    <a:srgbClr val="1BA7C3"/>
    <a:srgbClr val="1C94BE"/>
    <a:srgbClr val="02DAFC"/>
    <a:srgbClr val="02DDFF"/>
    <a:srgbClr val="03BEFE"/>
    <a:srgbClr val="EDCC6F"/>
    <a:srgbClr val="F6EA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14" autoAdjust="0"/>
    <p:restoredTop sz="71990" autoAdjust="0"/>
  </p:normalViewPr>
  <p:slideViewPr>
    <p:cSldViewPr snapToGrid="0">
      <p:cViewPr varScale="1">
        <p:scale>
          <a:sx n="79" d="100"/>
          <a:sy n="79" d="100"/>
        </p:scale>
        <p:origin x="1008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D8963-CFCD-4740-AF60-049850373CDF}" type="datetimeFigureOut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6FDB6-6D2B-46C1-9FA1-D82906A37C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093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800" dirty="0"/>
              <a:t>北航实验开发的编译器基本可以分成前端、中端和后端三部分。其中，前端包括词法分析和语法分析，主要是对输入的字符串进行预处理，建立出语法树。中端包括语义分析器，符号表管理，利用前端生成的语法树来生成中间代码。中间代码可以自行设计，与目标机器无关。后端包括目标翻译器和存储管理，将中间代码翻译成目标代码，至此完成一个编译的基本过程。</a:t>
            </a:r>
            <a:endParaRPr lang="en-US" altLang="zh-CN" sz="800" dirty="0"/>
          </a:p>
          <a:p>
            <a:r>
              <a:rPr lang="zh-CN" altLang="en-US" sz="800" dirty="0"/>
              <a:t>除了上述基本过程，考虑到不同学生的层次，还有多种方案可以选择。例如，学生可以选择不生成目标代码，而是在中间代码部分实现一个解释执行程序，直接运行中间代码得到结果；也可以实现优化器，对生成的代码进行优化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上述编译器的整体架构，对应北航编译实验每一个环节的任务。在作业</a:t>
            </a:r>
            <a:r>
              <a:rPr lang="en-US" altLang="zh-CN" dirty="0"/>
              <a:t>1</a:t>
            </a:r>
            <a:r>
              <a:rPr lang="zh-CN" altLang="en-US" dirty="0"/>
              <a:t>中，学生需要完成一个词法分析器，实现词语的识别。在作业</a:t>
            </a:r>
            <a:r>
              <a:rPr lang="en-US" altLang="zh-CN" dirty="0"/>
              <a:t>2</a:t>
            </a:r>
            <a:r>
              <a:rPr lang="zh-CN" altLang="en-US" dirty="0"/>
              <a:t>中，学生需要完成语法分析器，建立出对应的语法树。在作业</a:t>
            </a:r>
            <a:r>
              <a:rPr lang="en-US" altLang="zh-CN" dirty="0"/>
              <a:t>3</a:t>
            </a:r>
            <a:r>
              <a:rPr lang="zh-CN" altLang="en-US" dirty="0"/>
              <a:t>中，学生需要实现符号表管理及语义分析，对未定义、重定义等一系列错误进行处理。在作业</a:t>
            </a:r>
            <a:r>
              <a:rPr lang="en-US" altLang="zh-CN" dirty="0"/>
              <a:t>4</a:t>
            </a:r>
            <a:r>
              <a:rPr lang="zh-CN" altLang="en-US" dirty="0"/>
              <a:t>中，学生可以选择三个难度不同的子任务。较难的是自行设计中间代码，生成中间代码再翻译成目标代码</a:t>
            </a:r>
            <a:r>
              <a:rPr lang="en-US" altLang="zh-CN" dirty="0"/>
              <a:t>MIPS</a:t>
            </a:r>
            <a:r>
              <a:rPr lang="zh-CN" altLang="en-US" dirty="0"/>
              <a:t>。较为简单的是生成中间代码</a:t>
            </a:r>
            <a:r>
              <a:rPr lang="en-US" altLang="zh-CN" dirty="0"/>
              <a:t>PCODE</a:t>
            </a:r>
            <a:r>
              <a:rPr lang="zh-CN" altLang="en-US" dirty="0"/>
              <a:t>并解释执行，或生成中间代码</a:t>
            </a:r>
            <a:r>
              <a:rPr lang="en-US" altLang="zh-CN" dirty="0"/>
              <a:t>LLVM</a:t>
            </a:r>
            <a:r>
              <a:rPr lang="zh-CN" altLang="en-US" dirty="0"/>
              <a:t>。选择生成</a:t>
            </a:r>
            <a:r>
              <a:rPr lang="en-US" altLang="zh-CN" dirty="0"/>
              <a:t>MIPS</a:t>
            </a:r>
            <a:r>
              <a:rPr lang="zh-CN" altLang="en-US" dirty="0"/>
              <a:t>目标代码的同学，还可以选做优化竞速，实现多种代码优化，在竞速排行榜中不断进步。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239AB-4BE4-2DBC-E9AB-43108A56C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A1B134-0550-1F98-1E43-594559471B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CF9E805-6BEB-1D5F-E81B-7A91747AF4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5B27AF-3239-A47D-31ED-BBC15CECF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4175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800" dirty="0"/>
              <a:t>词法分析 </a:t>
            </a:r>
            <a:r>
              <a:rPr lang="en-US" altLang="zh-CN" sz="800" dirty="0"/>
              <a:t>15min</a:t>
            </a:r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7" name="副标题 46"/>
          <p:cNvSpPr>
            <a:spLocks noGrp="1"/>
          </p:cNvSpPr>
          <p:nvPr userDrawn="1">
            <p:ph type="subTitle" idx="1"/>
          </p:nvPr>
        </p:nvSpPr>
        <p:spPr>
          <a:xfrm>
            <a:off x="980265" y="3237426"/>
            <a:ext cx="6786563" cy="1048678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accent4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8" name="标题 47"/>
          <p:cNvSpPr>
            <a:spLocks noGrp="1"/>
          </p:cNvSpPr>
          <p:nvPr userDrawn="1">
            <p:ph type="ctrTitle" hasCustomPrompt="1"/>
          </p:nvPr>
        </p:nvSpPr>
        <p:spPr>
          <a:xfrm>
            <a:off x="980265" y="1136650"/>
            <a:ext cx="6786563" cy="2360716"/>
          </a:xfrm>
        </p:spPr>
        <p:txBody>
          <a:bodyPr anchor="ctr">
            <a:normAutofit/>
          </a:bodyPr>
          <a:lstStyle>
            <a:lvl1pPr algn="l">
              <a:defRPr sz="4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  <a:endParaRPr lang="zh-CN" altLang="en-US" dirty="0"/>
          </a:p>
        </p:txBody>
      </p:sp>
      <p:sp>
        <p:nvSpPr>
          <p:cNvPr id="49" name="文本占位符 48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80268" y="5094264"/>
            <a:ext cx="53570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50" name="文本占位符 49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80268" y="5419205"/>
            <a:ext cx="53570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1" y="49530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671512" y="812165"/>
            <a:ext cx="12192000" cy="6858000"/>
          </a:xfrm>
          <a:prstGeom prst="rect">
            <a:avLst/>
          </a:prstGeom>
        </p:spPr>
      </p:pic>
      <p:sp>
        <p:nvSpPr>
          <p:cNvPr id="20" name="标题 19"/>
          <p:cNvSpPr>
            <a:spLocks noGrp="1"/>
          </p:cNvSpPr>
          <p:nvPr userDrawn="1">
            <p:ph type="title"/>
          </p:nvPr>
        </p:nvSpPr>
        <p:spPr>
          <a:xfrm>
            <a:off x="5787426" y="3142015"/>
            <a:ext cx="5419185" cy="895350"/>
          </a:xfrm>
        </p:spPr>
        <p:txBody>
          <a:bodyPr anchor="b">
            <a:noAutofit/>
          </a:bodyPr>
          <a:lstStyle>
            <a:lvl1pPr algn="l">
              <a:defRPr sz="2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21" name="文本占位符 20"/>
          <p:cNvSpPr>
            <a:spLocks noGrp="1"/>
          </p:cNvSpPr>
          <p:nvPr userDrawn="1">
            <p:ph type="body" idx="1"/>
          </p:nvPr>
        </p:nvSpPr>
        <p:spPr>
          <a:xfrm>
            <a:off x="5787426" y="4114358"/>
            <a:ext cx="5419185" cy="101562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1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2" y="1130303"/>
            <a:ext cx="5348287" cy="500697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8" name="内容占位符 7"/>
          <p:cNvSpPr>
            <a:spLocks noGrp="1"/>
          </p:cNvSpPr>
          <p:nvPr>
            <p:ph sz="half" idx="13"/>
          </p:nvPr>
        </p:nvSpPr>
        <p:spPr>
          <a:xfrm>
            <a:off x="669927" y="1130303"/>
            <a:ext cx="5348287" cy="5006975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2025/8/26</a:t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5164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1516" y="1685956"/>
            <a:ext cx="5326061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4428" y="1135380"/>
            <a:ext cx="5326061" cy="448976"/>
          </a:xfrm>
        </p:spPr>
        <p:txBody>
          <a:bodyPr anchor="ctr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2" y="1685956"/>
            <a:ext cx="5348287" cy="4503707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2025/8/26</a:t>
            </a:fld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 hasCustomPrompt="1"/>
          </p:nvPr>
        </p:nvSpPr>
        <p:spPr>
          <a:xfrm>
            <a:off x="5183190" y="1130303"/>
            <a:ext cx="6337300" cy="50069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dirty="0"/>
              <a:t>Picture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69925" y="1138238"/>
            <a:ext cx="4282323" cy="499903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 dirty="0"/>
              <a:t>Edit Master text styles</a:t>
            </a: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2025/8/26</a:t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10599" y="1130300"/>
            <a:ext cx="2909888" cy="5006974"/>
          </a:xfrm>
        </p:spPr>
        <p:txBody>
          <a:bodyPr vert="eaVert">
            <a:normAutofit/>
          </a:bodyPr>
          <a:lstStyle>
            <a:lvl1pPr>
              <a:defRPr sz="20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8" y="1130304"/>
            <a:ext cx="7795065" cy="5006973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2025/8/26</a:t>
            </a:fld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 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89D9C7-5DC6-4263-87FF-7C99F6FB63C3}" type="datetime1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OfficePLUS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1" y="495300"/>
            <a:ext cx="12192000" cy="6858000"/>
          </a:xfrm>
          <a:prstGeom prst="rect">
            <a:avLst/>
          </a:prstGeom>
        </p:spPr>
      </p:pic>
      <p:sp>
        <p:nvSpPr>
          <p:cNvPr id="13" name="标题 12"/>
          <p:cNvSpPr>
            <a:spLocks noGrp="1"/>
          </p:cNvSpPr>
          <p:nvPr userDrawn="1">
            <p:ph type="ctrTitle" hasCustomPrompt="1"/>
          </p:nvPr>
        </p:nvSpPr>
        <p:spPr>
          <a:xfrm>
            <a:off x="1454399" y="1396013"/>
            <a:ext cx="5426076" cy="1621509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7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5" name="文本占位符 14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1451003" y="3511749"/>
            <a:ext cx="5426076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en-US" altLang="zh-CN" dirty="0"/>
              <a:t>Data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 hasCustomPrompt="1"/>
          </p:nvPr>
        </p:nvSpPr>
        <p:spPr>
          <a:xfrm>
            <a:off x="1451003" y="3215478"/>
            <a:ext cx="5426076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1"/>
          <p:cNvSpPr>
            <a:spLocks noGrp="1"/>
          </p:cNvSpPr>
          <p:nvPr>
            <p:ph type="dt" sz="half" idx="10"/>
          </p:nvPr>
        </p:nvSpPr>
        <p:spPr>
          <a:xfrm>
            <a:off x="5504656" y="6438900"/>
            <a:ext cx="1802924" cy="215900"/>
          </a:xfrm>
        </p:spPr>
        <p:txBody>
          <a:bodyPr/>
          <a:lstStyle/>
          <a:p>
            <a:fld id="{B89795D8-7546-4F97-9E86-55CD1BFC3EF2}" type="datetime1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60401" y="6438900"/>
            <a:ext cx="3992171" cy="21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</p:spPr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5" y="4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5" y="1123953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zh-CN" altLang="en-US" dirty="0"/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2"/>
          </p:nvPr>
        </p:nvSpPr>
        <p:spPr>
          <a:xfrm>
            <a:off x="5401732" y="6240467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6489D9C7-5DC6-4263-87FF-7C99F6FB63C3}" type="datetime1">
              <a:rPr lang="zh-CN" altLang="en-US" smtClean="0"/>
              <a:t>2025/8/26</a:t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</p:nvPr>
        </p:nvSpPr>
        <p:spPr>
          <a:xfrm>
            <a:off x="669926" y="6240467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altLang="zh-CN" dirty="0"/>
              <a:t>OfficePLUS</a:t>
            </a:r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</p:nvPr>
        </p:nvSpPr>
        <p:spPr>
          <a:xfrm>
            <a:off x="8610599" y="6240467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4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8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0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1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3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cs typeface="+mn-ea"/>
                <a:sym typeface="+mn-lt"/>
              </a:rPr>
              <a:t>编译器</a:t>
            </a:r>
            <a:r>
              <a:rPr lang="zh-CN" altLang="en-US" sz="2800" b="1" dirty="0">
                <a:cs typeface="+mn-ea"/>
                <a:sym typeface="+mn-lt"/>
              </a:rPr>
              <a:t>总体框架</a:t>
            </a:r>
            <a:r>
              <a:rPr lang="zh-CN" altLang="en-US" sz="2800" dirty="0">
                <a:cs typeface="+mn-ea"/>
                <a:sym typeface="+mn-lt"/>
              </a:rPr>
              <a:t>与</a:t>
            </a:r>
            <a:r>
              <a:rPr lang="zh-CN" altLang="en-US" sz="2800" b="1" dirty="0">
                <a:cs typeface="+mn-ea"/>
                <a:sym typeface="+mn-lt"/>
              </a:rPr>
              <a:t>词法分析</a:t>
            </a:r>
            <a:endParaRPr lang="en-US" altLang="zh-CN" sz="2800" b="1" dirty="0">
              <a:cs typeface="+mn-ea"/>
              <a:sym typeface="+mn-lt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编译技术实验专题报告</a:t>
            </a:r>
            <a:endParaRPr lang="zh-CN" altLang="en-US" sz="72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979360-3ECF-1DD9-1D77-6ECB713730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编译器整体架构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87426" y="2105561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solidFill>
                  <a:schemeClr val="accent1"/>
                </a:solidFill>
              </a:rPr>
              <a:t>1</a:t>
            </a:r>
            <a:endParaRPr lang="zh-CN" altLang="en-US" sz="8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4"/>
            <a:ext cx="10850563" cy="10286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编译器整体架构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882906" y="3231373"/>
            <a:ext cx="1487851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词法分析器</a:t>
            </a:r>
            <a:endParaRPr lang="en-US" altLang="zh-CN" dirty="0"/>
          </a:p>
          <a:p>
            <a:pPr algn="ctr"/>
            <a:r>
              <a:rPr lang="en-US" altLang="zh-CN" dirty="0" err="1"/>
              <a:t>Lexer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086271" y="3231373"/>
            <a:ext cx="1455939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语法分析器</a:t>
            </a:r>
            <a:endParaRPr lang="en-US" altLang="zh-CN" dirty="0"/>
          </a:p>
          <a:p>
            <a:pPr algn="ctr"/>
            <a:r>
              <a:rPr lang="en-US" altLang="zh-CN" dirty="0"/>
              <a:t>Parser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306420" y="3228118"/>
            <a:ext cx="1455939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语义分析器</a:t>
            </a:r>
            <a:endParaRPr lang="en-US" altLang="zh-CN" dirty="0"/>
          </a:p>
          <a:p>
            <a:pPr algn="ctr"/>
            <a:r>
              <a:rPr lang="en-US" altLang="zh-CN" dirty="0"/>
              <a:t>Visitor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558418" y="4534628"/>
            <a:ext cx="1455939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优化器</a:t>
            </a:r>
            <a:endParaRPr lang="en-US" altLang="zh-CN" dirty="0"/>
          </a:p>
          <a:p>
            <a:pPr algn="ctr"/>
            <a:r>
              <a:rPr lang="en-US" altLang="zh-CN" dirty="0"/>
              <a:t>Optimizer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65941" y="3275169"/>
            <a:ext cx="1640895" cy="488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中间代码容器</a:t>
            </a:r>
          </a:p>
        </p:txBody>
      </p:sp>
      <p:sp>
        <p:nvSpPr>
          <p:cNvPr id="17" name="矩形 16"/>
          <p:cNvSpPr/>
          <p:nvPr/>
        </p:nvSpPr>
        <p:spPr>
          <a:xfrm>
            <a:off x="9370918" y="3228118"/>
            <a:ext cx="1640895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目标翻译器</a:t>
            </a:r>
            <a:endParaRPr lang="en-US" altLang="zh-CN" dirty="0"/>
          </a:p>
          <a:p>
            <a:pPr algn="ctr"/>
            <a:r>
              <a:rPr lang="en-US" altLang="zh-CN" dirty="0"/>
              <a:t>Translator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350673" y="2052096"/>
            <a:ext cx="1871430" cy="604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解释执行程序</a:t>
            </a:r>
            <a:endParaRPr lang="en-US" altLang="zh-CN" dirty="0"/>
          </a:p>
          <a:p>
            <a:pPr algn="ctr"/>
            <a:r>
              <a:rPr lang="en-US" altLang="zh-CN" dirty="0"/>
              <a:t>Virtual Machine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5" idx="3"/>
            <a:endCxn id="6" idx="1"/>
          </p:cNvCxnSpPr>
          <p:nvPr/>
        </p:nvCxnSpPr>
        <p:spPr>
          <a:xfrm>
            <a:off x="2370757" y="3522561"/>
            <a:ext cx="715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2343063" y="3170349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token</a:t>
            </a:r>
            <a:endParaRPr lang="zh-CN" altLang="en-US" dirty="0"/>
          </a:p>
        </p:txBody>
      </p:sp>
      <p:cxnSp>
        <p:nvCxnSpPr>
          <p:cNvPr id="25" name="直接箭头连接符 24"/>
          <p:cNvCxnSpPr>
            <a:stCxn id="6" idx="3"/>
            <a:endCxn id="13" idx="1"/>
          </p:cNvCxnSpPr>
          <p:nvPr/>
        </p:nvCxnSpPr>
        <p:spPr>
          <a:xfrm flipV="1">
            <a:off x="4542210" y="3519306"/>
            <a:ext cx="764210" cy="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13" idx="3"/>
            <a:endCxn id="15" idx="1"/>
          </p:cNvCxnSpPr>
          <p:nvPr/>
        </p:nvCxnSpPr>
        <p:spPr>
          <a:xfrm flipV="1">
            <a:off x="6762359" y="3519305"/>
            <a:ext cx="7035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15" idx="3"/>
            <a:endCxn id="17" idx="1"/>
          </p:cNvCxnSpPr>
          <p:nvPr/>
        </p:nvCxnSpPr>
        <p:spPr>
          <a:xfrm>
            <a:off x="9106836" y="3519305"/>
            <a:ext cx="2640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/>
          <p:cNvSpPr txBox="1"/>
          <p:nvPr/>
        </p:nvSpPr>
        <p:spPr>
          <a:xfrm>
            <a:off x="4485734" y="312231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语法树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6625611" y="285878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中间代码</a:t>
            </a:r>
          </a:p>
        </p:txBody>
      </p:sp>
      <p:cxnSp>
        <p:nvCxnSpPr>
          <p:cNvPr id="63" name="直接箭头连接符 62"/>
          <p:cNvCxnSpPr>
            <a:stCxn id="15" idx="0"/>
            <a:endCxn id="18" idx="2"/>
          </p:cNvCxnSpPr>
          <p:nvPr/>
        </p:nvCxnSpPr>
        <p:spPr>
          <a:xfrm flipH="1" flipV="1">
            <a:off x="8286388" y="2656605"/>
            <a:ext cx="1" cy="61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18" idx="0"/>
          </p:cNvCxnSpPr>
          <p:nvPr/>
        </p:nvCxnSpPr>
        <p:spPr>
          <a:xfrm flipV="1">
            <a:off x="8286388" y="1554480"/>
            <a:ext cx="0" cy="497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文本框 69"/>
          <p:cNvSpPr txBox="1"/>
          <p:nvPr/>
        </p:nvSpPr>
        <p:spPr>
          <a:xfrm>
            <a:off x="7652443" y="113134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解释执行结果</a:t>
            </a:r>
          </a:p>
        </p:txBody>
      </p:sp>
      <p:cxnSp>
        <p:nvCxnSpPr>
          <p:cNvPr id="71" name="直接箭头连接符 70"/>
          <p:cNvCxnSpPr>
            <a:stCxn id="14" idx="0"/>
            <a:endCxn id="15" idx="2"/>
          </p:cNvCxnSpPr>
          <p:nvPr/>
        </p:nvCxnSpPr>
        <p:spPr>
          <a:xfrm flipV="1">
            <a:off x="8286388" y="3763440"/>
            <a:ext cx="1" cy="771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/>
          <p:cNvSpPr txBox="1"/>
          <p:nvPr/>
        </p:nvSpPr>
        <p:spPr>
          <a:xfrm>
            <a:off x="6850730" y="3975315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中间代码优化</a:t>
            </a:r>
          </a:p>
        </p:txBody>
      </p:sp>
      <p:cxnSp>
        <p:nvCxnSpPr>
          <p:cNvPr id="76" name="直接箭头连接符 75"/>
          <p:cNvCxnSpPr>
            <a:stCxn id="17" idx="3"/>
          </p:cNvCxnSpPr>
          <p:nvPr/>
        </p:nvCxnSpPr>
        <p:spPr>
          <a:xfrm flipV="1">
            <a:off x="11011813" y="3519304"/>
            <a:ext cx="41818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文本框 78"/>
          <p:cNvSpPr txBox="1"/>
          <p:nvPr/>
        </p:nvSpPr>
        <p:spPr>
          <a:xfrm>
            <a:off x="11048563" y="311090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目标代码</a:t>
            </a:r>
          </a:p>
        </p:txBody>
      </p:sp>
      <p:sp>
        <p:nvSpPr>
          <p:cNvPr id="80" name="矩形 79"/>
          <p:cNvSpPr/>
          <p:nvPr/>
        </p:nvSpPr>
        <p:spPr>
          <a:xfrm>
            <a:off x="5037457" y="4534628"/>
            <a:ext cx="1985551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符号表管理</a:t>
            </a:r>
            <a:r>
              <a:rPr lang="en-US" altLang="zh-CN" dirty="0"/>
              <a:t>Symbol Manager</a:t>
            </a:r>
            <a:endParaRPr lang="zh-CN" altLang="en-US" dirty="0"/>
          </a:p>
        </p:txBody>
      </p:sp>
      <p:cxnSp>
        <p:nvCxnSpPr>
          <p:cNvPr id="82" name="直接箭头连接符 81"/>
          <p:cNvCxnSpPr>
            <a:stCxn id="80" idx="0"/>
            <a:endCxn id="13" idx="2"/>
          </p:cNvCxnSpPr>
          <p:nvPr/>
        </p:nvCxnSpPr>
        <p:spPr>
          <a:xfrm flipV="1">
            <a:off x="6030233" y="3810493"/>
            <a:ext cx="4157" cy="724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900189" y="400174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符号信息</a:t>
            </a:r>
          </a:p>
        </p:txBody>
      </p:sp>
      <p:sp>
        <p:nvSpPr>
          <p:cNvPr id="91" name="矩形 90"/>
          <p:cNvSpPr/>
          <p:nvPr/>
        </p:nvSpPr>
        <p:spPr>
          <a:xfrm>
            <a:off x="9166601" y="4543309"/>
            <a:ext cx="1985551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存储管理</a:t>
            </a:r>
            <a:endParaRPr lang="en-US" altLang="zh-CN" dirty="0"/>
          </a:p>
          <a:p>
            <a:pPr algn="ctr"/>
            <a:r>
              <a:rPr lang="en-US" altLang="zh-CN" dirty="0"/>
              <a:t>Activity Record</a:t>
            </a:r>
            <a:endParaRPr lang="zh-CN" altLang="en-US" dirty="0"/>
          </a:p>
        </p:txBody>
      </p:sp>
      <p:cxnSp>
        <p:nvCxnSpPr>
          <p:cNvPr id="92" name="直接箭头连接符 91"/>
          <p:cNvCxnSpPr>
            <a:stCxn id="91" idx="0"/>
          </p:cNvCxnSpPr>
          <p:nvPr/>
        </p:nvCxnSpPr>
        <p:spPr>
          <a:xfrm flipV="1">
            <a:off x="10159377" y="3819174"/>
            <a:ext cx="4157" cy="724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/>
          <p:cNvSpPr txBox="1"/>
          <p:nvPr/>
        </p:nvSpPr>
        <p:spPr>
          <a:xfrm>
            <a:off x="9023999" y="399657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存储信息</a:t>
            </a:r>
          </a:p>
        </p:txBody>
      </p:sp>
      <p:cxnSp>
        <p:nvCxnSpPr>
          <p:cNvPr id="97" name="直接箭头连接符 96"/>
          <p:cNvCxnSpPr/>
          <p:nvPr/>
        </p:nvCxnSpPr>
        <p:spPr>
          <a:xfrm>
            <a:off x="1076960" y="5892800"/>
            <a:ext cx="34087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文本框 98"/>
          <p:cNvSpPr txBox="1"/>
          <p:nvPr/>
        </p:nvSpPr>
        <p:spPr>
          <a:xfrm>
            <a:off x="2156817" y="5982201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前端 </a:t>
            </a:r>
            <a:r>
              <a:rPr lang="en-US" altLang="zh-CN" dirty="0"/>
              <a:t>Front</a:t>
            </a:r>
            <a:endParaRPr lang="zh-CN" altLang="en-US" dirty="0"/>
          </a:p>
        </p:txBody>
      </p:sp>
      <p:cxnSp>
        <p:nvCxnSpPr>
          <p:cNvPr id="100" name="直接箭头连接符 99"/>
          <p:cNvCxnSpPr/>
          <p:nvPr/>
        </p:nvCxnSpPr>
        <p:spPr>
          <a:xfrm>
            <a:off x="5318621" y="5892800"/>
            <a:ext cx="3408774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文本框 100"/>
          <p:cNvSpPr txBox="1"/>
          <p:nvPr/>
        </p:nvSpPr>
        <p:spPr>
          <a:xfrm>
            <a:off x="6327946" y="5982201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中端 </a:t>
            </a:r>
            <a:r>
              <a:rPr lang="en-US" altLang="zh-CN" dirty="0"/>
              <a:t>Middle</a:t>
            </a:r>
            <a:endParaRPr lang="zh-CN" altLang="en-US" dirty="0"/>
          </a:p>
        </p:txBody>
      </p:sp>
      <p:cxnSp>
        <p:nvCxnSpPr>
          <p:cNvPr id="102" name="直接箭头连接符 101"/>
          <p:cNvCxnSpPr/>
          <p:nvPr/>
        </p:nvCxnSpPr>
        <p:spPr>
          <a:xfrm>
            <a:off x="9222103" y="5916584"/>
            <a:ext cx="2207897" cy="0"/>
          </a:xfrm>
          <a:prstGeom prst="straightConnector1">
            <a:avLst/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文本框 102"/>
          <p:cNvSpPr txBox="1"/>
          <p:nvPr/>
        </p:nvSpPr>
        <p:spPr>
          <a:xfrm>
            <a:off x="9788401" y="5982201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后端 </a:t>
            </a:r>
            <a:r>
              <a:rPr lang="en-US" altLang="zh-CN" dirty="0"/>
              <a:t>Back</a:t>
            </a:r>
            <a:endParaRPr lang="zh-CN" altLang="en-US" dirty="0"/>
          </a:p>
        </p:txBody>
      </p:sp>
      <p:cxnSp>
        <p:nvCxnSpPr>
          <p:cNvPr id="2" name="直接连接符 1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24" grpId="0"/>
      <p:bldP spid="61" grpId="0"/>
      <p:bldP spid="62" grpId="0"/>
      <p:bldP spid="70" grpId="0"/>
      <p:bldP spid="74" grpId="0"/>
      <p:bldP spid="79" grpId="0"/>
      <p:bldP spid="80" grpId="0" animBg="1"/>
      <p:bldP spid="85" grpId="0"/>
      <p:bldP spid="91" grpId="0" animBg="1"/>
      <p:bldP spid="93" grpId="0"/>
      <p:bldP spid="99" grpId="0"/>
      <p:bldP spid="101" grpId="0"/>
      <p:bldP spid="10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4"/>
            <a:ext cx="10850563" cy="102869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编译器整体架构</a:t>
            </a:r>
            <a:endParaRPr lang="en-US" dirty="0"/>
          </a:p>
        </p:txBody>
      </p:sp>
      <p:sp>
        <p:nvSpPr>
          <p:cNvPr id="5" name="矩形 4"/>
          <p:cNvSpPr/>
          <p:nvPr/>
        </p:nvSpPr>
        <p:spPr>
          <a:xfrm>
            <a:off x="882906" y="3231373"/>
            <a:ext cx="1487851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词法分析器</a:t>
            </a:r>
            <a:endParaRPr lang="en-US" altLang="zh-CN" dirty="0"/>
          </a:p>
          <a:p>
            <a:pPr algn="ctr"/>
            <a:r>
              <a:rPr lang="en-US" altLang="zh-CN" dirty="0" err="1"/>
              <a:t>Lexer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086271" y="3231373"/>
            <a:ext cx="1455939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语法分析器</a:t>
            </a:r>
            <a:endParaRPr lang="en-US" altLang="zh-CN" dirty="0"/>
          </a:p>
          <a:p>
            <a:pPr algn="ctr"/>
            <a:r>
              <a:rPr lang="en-US" altLang="zh-CN" dirty="0"/>
              <a:t>Parser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306420" y="3228118"/>
            <a:ext cx="1455939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语义分析器</a:t>
            </a:r>
            <a:endParaRPr lang="en-US" altLang="zh-CN" dirty="0"/>
          </a:p>
          <a:p>
            <a:pPr algn="ctr"/>
            <a:r>
              <a:rPr lang="en-US" altLang="zh-CN" dirty="0"/>
              <a:t>Visitor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7558418" y="4534628"/>
            <a:ext cx="1455939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优化器</a:t>
            </a:r>
            <a:endParaRPr lang="en-US" altLang="zh-CN" dirty="0"/>
          </a:p>
          <a:p>
            <a:pPr algn="ctr"/>
            <a:r>
              <a:rPr lang="en-US" altLang="zh-CN" dirty="0"/>
              <a:t>Optimizer</a:t>
            </a:r>
            <a:endParaRPr lang="zh-CN" altLang="en-US" dirty="0"/>
          </a:p>
        </p:txBody>
      </p:sp>
      <p:sp>
        <p:nvSpPr>
          <p:cNvPr id="15" name="矩形 14"/>
          <p:cNvSpPr/>
          <p:nvPr/>
        </p:nvSpPr>
        <p:spPr>
          <a:xfrm>
            <a:off x="7465941" y="3275169"/>
            <a:ext cx="1640895" cy="48827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中间代码容器</a:t>
            </a:r>
          </a:p>
        </p:txBody>
      </p:sp>
      <p:sp>
        <p:nvSpPr>
          <p:cNvPr id="17" name="矩形 16"/>
          <p:cNvSpPr/>
          <p:nvPr/>
        </p:nvSpPr>
        <p:spPr>
          <a:xfrm>
            <a:off x="9370918" y="3228118"/>
            <a:ext cx="1640895" cy="5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目标翻译器</a:t>
            </a:r>
            <a:endParaRPr lang="en-US" altLang="zh-CN" dirty="0"/>
          </a:p>
          <a:p>
            <a:pPr algn="ctr"/>
            <a:r>
              <a:rPr lang="en-US" altLang="zh-CN" dirty="0"/>
              <a:t>Translator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7350673" y="2052096"/>
            <a:ext cx="1871430" cy="6045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解释执行程序</a:t>
            </a:r>
            <a:endParaRPr lang="en-US" altLang="zh-CN" dirty="0"/>
          </a:p>
          <a:p>
            <a:pPr algn="ctr"/>
            <a:r>
              <a:rPr lang="en-US" altLang="zh-CN" dirty="0"/>
              <a:t>Virtual Machine</a:t>
            </a:r>
            <a:endParaRPr lang="zh-CN" altLang="en-US" dirty="0"/>
          </a:p>
        </p:txBody>
      </p:sp>
      <p:cxnSp>
        <p:nvCxnSpPr>
          <p:cNvPr id="23" name="直接箭头连接符 22"/>
          <p:cNvCxnSpPr>
            <a:stCxn id="5" idx="3"/>
            <a:endCxn id="6" idx="1"/>
          </p:cNvCxnSpPr>
          <p:nvPr/>
        </p:nvCxnSpPr>
        <p:spPr>
          <a:xfrm>
            <a:off x="2370757" y="3522561"/>
            <a:ext cx="7155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6" idx="3"/>
            <a:endCxn id="13" idx="1"/>
          </p:cNvCxnSpPr>
          <p:nvPr/>
        </p:nvCxnSpPr>
        <p:spPr>
          <a:xfrm flipV="1">
            <a:off x="4542210" y="3519306"/>
            <a:ext cx="764210" cy="32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13" idx="3"/>
            <a:endCxn id="15" idx="1"/>
          </p:cNvCxnSpPr>
          <p:nvPr/>
        </p:nvCxnSpPr>
        <p:spPr>
          <a:xfrm flipV="1">
            <a:off x="6762359" y="3519305"/>
            <a:ext cx="7035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15" idx="3"/>
            <a:endCxn id="17" idx="1"/>
          </p:cNvCxnSpPr>
          <p:nvPr/>
        </p:nvCxnSpPr>
        <p:spPr>
          <a:xfrm>
            <a:off x="9106836" y="3519305"/>
            <a:ext cx="26408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15" idx="0"/>
            <a:endCxn id="18" idx="2"/>
          </p:cNvCxnSpPr>
          <p:nvPr/>
        </p:nvCxnSpPr>
        <p:spPr>
          <a:xfrm flipH="1" flipV="1">
            <a:off x="8286388" y="2656605"/>
            <a:ext cx="1" cy="6185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/>
          <p:cNvCxnSpPr>
            <a:stCxn id="18" idx="0"/>
          </p:cNvCxnSpPr>
          <p:nvPr/>
        </p:nvCxnSpPr>
        <p:spPr>
          <a:xfrm flipV="1">
            <a:off x="8286388" y="1554480"/>
            <a:ext cx="0" cy="4976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箭头连接符 70"/>
          <p:cNvCxnSpPr>
            <a:stCxn id="14" idx="0"/>
            <a:endCxn id="15" idx="2"/>
          </p:cNvCxnSpPr>
          <p:nvPr/>
        </p:nvCxnSpPr>
        <p:spPr>
          <a:xfrm flipV="1">
            <a:off x="8286388" y="3763440"/>
            <a:ext cx="1" cy="771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17" idx="3"/>
          </p:cNvCxnSpPr>
          <p:nvPr/>
        </p:nvCxnSpPr>
        <p:spPr>
          <a:xfrm flipV="1">
            <a:off x="11011813" y="3519304"/>
            <a:ext cx="418187" cy="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矩形 79"/>
          <p:cNvSpPr/>
          <p:nvPr/>
        </p:nvSpPr>
        <p:spPr>
          <a:xfrm>
            <a:off x="5037457" y="4534628"/>
            <a:ext cx="1985551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符号表管理</a:t>
            </a:r>
            <a:r>
              <a:rPr lang="en-US" altLang="zh-CN" dirty="0"/>
              <a:t>Symbol Manager</a:t>
            </a:r>
            <a:endParaRPr lang="zh-CN" altLang="en-US" dirty="0"/>
          </a:p>
        </p:txBody>
      </p:sp>
      <p:cxnSp>
        <p:nvCxnSpPr>
          <p:cNvPr id="82" name="直接箭头连接符 81"/>
          <p:cNvCxnSpPr>
            <a:stCxn id="80" idx="0"/>
            <a:endCxn id="13" idx="2"/>
          </p:cNvCxnSpPr>
          <p:nvPr/>
        </p:nvCxnSpPr>
        <p:spPr>
          <a:xfrm flipV="1">
            <a:off x="6030233" y="3810493"/>
            <a:ext cx="4157" cy="724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矩形 90"/>
          <p:cNvSpPr/>
          <p:nvPr/>
        </p:nvSpPr>
        <p:spPr>
          <a:xfrm>
            <a:off x="9166601" y="4543309"/>
            <a:ext cx="1985551" cy="5791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存储管理</a:t>
            </a:r>
            <a:endParaRPr lang="en-US" altLang="zh-CN" dirty="0"/>
          </a:p>
          <a:p>
            <a:pPr algn="ctr"/>
            <a:r>
              <a:rPr lang="en-US" altLang="zh-CN" dirty="0"/>
              <a:t>Activity Record</a:t>
            </a:r>
            <a:endParaRPr lang="zh-CN" altLang="en-US" dirty="0"/>
          </a:p>
        </p:txBody>
      </p:sp>
      <p:cxnSp>
        <p:nvCxnSpPr>
          <p:cNvPr id="92" name="直接箭头连接符 91"/>
          <p:cNvCxnSpPr>
            <a:stCxn id="91" idx="0"/>
          </p:cNvCxnSpPr>
          <p:nvPr/>
        </p:nvCxnSpPr>
        <p:spPr>
          <a:xfrm flipV="1">
            <a:off x="10159377" y="3819174"/>
            <a:ext cx="4157" cy="7241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670718" y="2915920"/>
            <a:ext cx="1905765" cy="11582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54672" y="2519649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1 </a:t>
            </a:r>
            <a:r>
              <a:rPr lang="zh-CN" altLang="en-US" dirty="0">
                <a:solidFill>
                  <a:srgbClr val="FF0000"/>
                </a:solidFill>
              </a:rPr>
              <a:t>词法分析</a:t>
            </a:r>
          </a:p>
        </p:txBody>
      </p:sp>
      <p:sp>
        <p:nvSpPr>
          <p:cNvPr id="7" name="椭圆 6"/>
          <p:cNvSpPr/>
          <p:nvPr/>
        </p:nvSpPr>
        <p:spPr>
          <a:xfrm>
            <a:off x="2855587" y="2940184"/>
            <a:ext cx="1905765" cy="115824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892521" y="2513402"/>
            <a:ext cx="1762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2 </a:t>
            </a:r>
            <a:r>
              <a:rPr lang="zh-CN" altLang="en-US" dirty="0">
                <a:solidFill>
                  <a:srgbClr val="FF0000"/>
                </a:solidFill>
              </a:rPr>
              <a:t>语法分析</a:t>
            </a:r>
          </a:p>
        </p:txBody>
      </p:sp>
      <p:sp>
        <p:nvSpPr>
          <p:cNvPr id="9" name="椭圆 8"/>
          <p:cNvSpPr/>
          <p:nvPr/>
        </p:nvSpPr>
        <p:spPr>
          <a:xfrm>
            <a:off x="4761352" y="2773680"/>
            <a:ext cx="2536418" cy="298703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121597" y="2347626"/>
            <a:ext cx="1744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3 </a:t>
            </a:r>
            <a:r>
              <a:rPr lang="zh-CN" altLang="en-US" dirty="0">
                <a:solidFill>
                  <a:srgbClr val="FF0000"/>
                </a:solidFill>
              </a:rPr>
              <a:t>语义分析</a:t>
            </a:r>
          </a:p>
        </p:txBody>
      </p:sp>
      <p:sp>
        <p:nvSpPr>
          <p:cNvPr id="11" name="椭圆 10"/>
          <p:cNvSpPr/>
          <p:nvPr/>
        </p:nvSpPr>
        <p:spPr>
          <a:xfrm>
            <a:off x="7297770" y="2913245"/>
            <a:ext cx="4011325" cy="185598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9752494" y="2543913"/>
            <a:ext cx="2518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4.1 MIPS</a:t>
            </a:r>
            <a:r>
              <a:rPr lang="zh-CN" altLang="en-US" dirty="0">
                <a:solidFill>
                  <a:srgbClr val="FF0000"/>
                </a:solidFill>
              </a:rPr>
              <a:t>代码生成</a:t>
            </a:r>
          </a:p>
        </p:txBody>
      </p:sp>
      <p:sp>
        <p:nvSpPr>
          <p:cNvPr id="16" name="椭圆 15"/>
          <p:cNvSpPr/>
          <p:nvPr/>
        </p:nvSpPr>
        <p:spPr>
          <a:xfrm>
            <a:off x="6982969" y="1756484"/>
            <a:ext cx="2658872" cy="111585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762359" y="888078"/>
            <a:ext cx="3833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4.2 PCODE</a:t>
            </a:r>
            <a:r>
              <a:rPr lang="zh-CN" altLang="en-US" dirty="0">
                <a:solidFill>
                  <a:srgbClr val="FF0000"/>
                </a:solidFill>
              </a:rPr>
              <a:t>代码生成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解释执行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4.3 LLVM</a:t>
            </a:r>
            <a:r>
              <a:rPr lang="zh-CN" altLang="en-US" dirty="0">
                <a:solidFill>
                  <a:srgbClr val="FF0000"/>
                </a:solidFill>
              </a:rPr>
              <a:t>代码生成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6990368" y="5631935"/>
            <a:ext cx="2685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作业</a:t>
            </a:r>
            <a:r>
              <a:rPr lang="en-US" altLang="zh-CN" dirty="0">
                <a:solidFill>
                  <a:srgbClr val="FF0000"/>
                </a:solidFill>
              </a:rPr>
              <a:t>5</a:t>
            </a:r>
            <a:r>
              <a:rPr lang="zh-CN" altLang="en-US" dirty="0">
                <a:solidFill>
                  <a:srgbClr val="FF0000"/>
                </a:solidFill>
              </a:rPr>
              <a:t>（选做）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优化竞速</a:t>
            </a:r>
          </a:p>
        </p:txBody>
      </p:sp>
      <p:sp>
        <p:nvSpPr>
          <p:cNvPr id="21" name="椭圆 20"/>
          <p:cNvSpPr/>
          <p:nvPr/>
        </p:nvSpPr>
        <p:spPr>
          <a:xfrm>
            <a:off x="7297770" y="4248297"/>
            <a:ext cx="1924333" cy="127329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" name="直接连接符 21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/>
      <p:bldP spid="3" grpId="1"/>
      <p:bldP spid="7" grpId="0" animBg="1"/>
      <p:bldP spid="7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 animBg="1"/>
      <p:bldP spid="11" grpId="1" animBg="1"/>
      <p:bldP spid="12" grpId="0"/>
      <p:bldP spid="12" grpId="1"/>
      <p:bldP spid="16" grpId="0" animBg="1"/>
      <p:bldP spid="16" grpId="1" animBg="1"/>
      <p:bldP spid="19" grpId="0"/>
      <p:bldP spid="19" grpId="1"/>
      <p:bldP spid="20" grpId="0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词法分析</a:t>
            </a: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87426" y="2105561"/>
            <a:ext cx="7553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dirty="0">
                <a:solidFill>
                  <a:schemeClr val="accent1"/>
                </a:solidFill>
              </a:rPr>
              <a:t>2</a:t>
            </a:r>
            <a:endParaRPr lang="zh-CN" altLang="en-US" sz="8000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词法分析总体概述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859213" y="1222714"/>
            <a:ext cx="2750261" cy="51785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词法分析器功能</a:t>
            </a:r>
            <a:endParaRPr lang="en-US" sz="2400" dirty="0"/>
          </a:p>
        </p:txBody>
      </p:sp>
      <p:sp>
        <p:nvSpPr>
          <p:cNvPr id="3" name="标题 29"/>
          <p:cNvSpPr txBox="1"/>
          <p:nvPr/>
        </p:nvSpPr>
        <p:spPr>
          <a:xfrm>
            <a:off x="1360530" y="1860884"/>
            <a:ext cx="6159208" cy="14756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0" dirty="0">
                <a:latin typeface="+mj-ea"/>
              </a:rPr>
              <a:t>划分单词，同时提取出类别、值等信息</a:t>
            </a:r>
            <a:endParaRPr lang="en-US" altLang="zh-CN" sz="2000" b="0" dirty="0">
              <a:latin typeface="+mj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0" dirty="0">
                <a:latin typeface="+mj-ea"/>
              </a:rPr>
              <a:t>处理注释</a:t>
            </a:r>
            <a:endParaRPr lang="en-US" altLang="zh-CN" sz="2000" b="0" dirty="0">
              <a:latin typeface="+mj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en-US" sz="2000" b="0" dirty="0">
                <a:latin typeface="+mj-ea"/>
              </a:rPr>
              <a:t>统计行号</a:t>
            </a:r>
            <a:endParaRPr lang="en-US" sz="2000" b="0" dirty="0">
              <a:latin typeface="+mj-ea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915" y="3749841"/>
            <a:ext cx="6675495" cy="1885445"/>
          </a:xfrm>
          <a:prstGeom prst="rect">
            <a:avLst/>
          </a:prstGeom>
        </p:spPr>
      </p:pic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词法分析设计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类设计</a:t>
            </a:r>
            <a:endParaRPr lang="en-US" sz="2400" dirty="0"/>
          </a:p>
        </p:txBody>
      </p:sp>
      <p:sp>
        <p:nvSpPr>
          <p:cNvPr id="8" name="标题 29"/>
          <p:cNvSpPr txBox="1"/>
          <p:nvPr/>
        </p:nvSpPr>
        <p:spPr>
          <a:xfrm>
            <a:off x="1360529" y="1860884"/>
            <a:ext cx="5718451" cy="11947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Lexer</a:t>
            </a:r>
            <a:r>
              <a:rPr lang="zh-CN" altLang="en-US" sz="2000" b="0" dirty="0">
                <a:latin typeface="+mj-ea"/>
              </a:rPr>
              <a:t>：</a:t>
            </a:r>
            <a:r>
              <a:rPr lang="en-US" altLang="zh-CN" sz="2000" b="0" dirty="0">
                <a:latin typeface="+mj-ea"/>
              </a:rPr>
              <a:t> </a:t>
            </a:r>
            <a:r>
              <a:rPr lang="zh-CN" altLang="en-US" sz="2000" b="0" dirty="0">
                <a:latin typeface="+mj-ea"/>
              </a:rPr>
              <a:t>词法分析器类（单例模式）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TokenType</a:t>
            </a:r>
            <a:r>
              <a:rPr lang="zh-CN" altLang="en-US" sz="2000" b="0" dirty="0">
                <a:latin typeface="+mj-ea"/>
              </a:rPr>
              <a:t>：</a:t>
            </a:r>
            <a:r>
              <a:rPr lang="en-US" altLang="zh-CN" sz="2000" b="0" dirty="0">
                <a:latin typeface="+mj-ea"/>
              </a:rPr>
              <a:t> </a:t>
            </a:r>
            <a:r>
              <a:rPr lang="zh-CN" altLang="en-US" sz="2000" b="0" dirty="0">
                <a:latin typeface="+mj-ea"/>
              </a:rPr>
              <a:t>单词类型枚举类</a:t>
            </a:r>
            <a:endParaRPr lang="en-US" sz="2000" b="0" dirty="0">
              <a:latin typeface="+mj-ea"/>
            </a:endParaRPr>
          </a:p>
        </p:txBody>
      </p:sp>
      <p:sp>
        <p:nvSpPr>
          <p:cNvPr id="9" name="标题 29"/>
          <p:cNvSpPr txBox="1"/>
          <p:nvPr/>
        </p:nvSpPr>
        <p:spPr>
          <a:xfrm>
            <a:off x="859213" y="3427245"/>
            <a:ext cx="3315746" cy="5075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词法分析器主要接口</a:t>
            </a:r>
            <a:endParaRPr lang="en-US" sz="2400" dirty="0"/>
          </a:p>
        </p:txBody>
      </p:sp>
      <p:sp>
        <p:nvSpPr>
          <p:cNvPr id="10" name="标题 29"/>
          <p:cNvSpPr txBox="1"/>
          <p:nvPr/>
        </p:nvSpPr>
        <p:spPr>
          <a:xfrm>
            <a:off x="1360529" y="4065415"/>
            <a:ext cx="6255461" cy="188544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0" dirty="0">
                <a:latin typeface="+mj-ea"/>
              </a:rPr>
              <a:t>next() </a:t>
            </a:r>
            <a:r>
              <a:rPr lang="zh-CN" altLang="en-US" sz="2000" b="0" dirty="0">
                <a:latin typeface="+mj-ea"/>
              </a:rPr>
              <a:t>处理下一个单词</a:t>
            </a:r>
            <a:endParaRPr lang="en-US" altLang="zh-CN" sz="2000" b="0" dirty="0">
              <a:latin typeface="+mj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altLang="zh-CN" sz="2000" b="0" dirty="0" err="1">
                <a:latin typeface="+mj-ea"/>
              </a:rPr>
              <a:t>getToken</a:t>
            </a:r>
            <a:r>
              <a:rPr lang="en-US" altLang="zh-CN" sz="2000" b="0" dirty="0">
                <a:latin typeface="+mj-ea"/>
              </a:rPr>
              <a:t>() </a:t>
            </a:r>
            <a:r>
              <a:rPr lang="zh-CN" altLang="en-US" sz="2000" b="0" dirty="0">
                <a:latin typeface="+mj-ea"/>
              </a:rPr>
              <a:t>获得读取的单词值</a:t>
            </a:r>
            <a:endParaRPr lang="en-US" altLang="zh-CN" sz="2000" b="0" dirty="0">
              <a:latin typeface="+mj-ea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000" b="0" dirty="0" err="1">
                <a:latin typeface="+mj-ea"/>
              </a:rPr>
              <a:t>getTokenType</a:t>
            </a:r>
            <a:r>
              <a:rPr lang="en-US" sz="2000" b="0" dirty="0">
                <a:latin typeface="+mj-ea"/>
              </a:rPr>
              <a:t>()</a:t>
            </a:r>
            <a:r>
              <a:rPr lang="zh-CN" altLang="en-US" sz="2000" b="0" dirty="0">
                <a:latin typeface="+mj-ea"/>
              </a:rPr>
              <a:t> 获得读取的单词类型</a:t>
            </a:r>
            <a:endParaRPr lang="en-US" sz="2000" b="0" dirty="0">
              <a:latin typeface="+mj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词法分析设计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词法分析器主要数据成员</a:t>
            </a:r>
            <a:endParaRPr lang="en-US" sz="2400" dirty="0"/>
          </a:p>
        </p:txBody>
      </p:sp>
      <p:sp>
        <p:nvSpPr>
          <p:cNvPr id="8" name="标题 29"/>
          <p:cNvSpPr txBox="1"/>
          <p:nvPr/>
        </p:nvSpPr>
        <p:spPr>
          <a:xfrm>
            <a:off x="1360530" y="1860884"/>
            <a:ext cx="4172169" cy="377440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+mj-ea"/>
              </a:rPr>
              <a:t>source</a:t>
            </a:r>
            <a:r>
              <a:rPr lang="zh-CN" altLang="en-US" sz="2000" b="0" dirty="0">
                <a:latin typeface="+mj-ea"/>
              </a:rPr>
              <a:t>：源程序字符串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curPos</a:t>
            </a:r>
            <a:r>
              <a:rPr lang="zh-CN" altLang="en-US" sz="2000" b="0" dirty="0">
                <a:latin typeface="+mj-ea"/>
              </a:rPr>
              <a:t>：当前字符串位置指针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+mj-ea"/>
              </a:rPr>
              <a:t>token</a:t>
            </a:r>
            <a:r>
              <a:rPr lang="zh-CN" altLang="en-US" sz="2000" b="0" dirty="0">
                <a:latin typeface="+mj-ea"/>
              </a:rPr>
              <a:t>：解析单词值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tokenType</a:t>
            </a:r>
            <a:r>
              <a:rPr lang="zh-CN" altLang="en-US" sz="2000" b="0" dirty="0">
                <a:latin typeface="+mj-ea"/>
              </a:rPr>
              <a:t>：解析单词类型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reserveWords</a:t>
            </a:r>
            <a:r>
              <a:rPr lang="zh-CN" altLang="en-US" sz="2000" b="0" dirty="0">
                <a:latin typeface="+mj-ea"/>
              </a:rPr>
              <a:t>：保留字表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 err="1">
                <a:latin typeface="+mj-ea"/>
              </a:rPr>
              <a:t>lineNum</a:t>
            </a:r>
            <a:r>
              <a:rPr lang="zh-CN" altLang="en-US" sz="2000" b="0" dirty="0">
                <a:latin typeface="+mj-ea"/>
              </a:rPr>
              <a:t>：当前行号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+mj-ea"/>
              </a:rPr>
              <a:t>number</a:t>
            </a:r>
            <a:r>
              <a:rPr lang="zh-CN" altLang="en-US" sz="2000" b="0" dirty="0">
                <a:latin typeface="+mj-ea"/>
              </a:rPr>
              <a:t>：解析数值</a:t>
            </a:r>
            <a:endParaRPr lang="en-US" altLang="zh-CN" sz="2000" b="0" dirty="0">
              <a:latin typeface="+mj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0" dirty="0">
              <a:latin typeface="+mj-ea"/>
            </a:endParaRPr>
          </a:p>
        </p:txBody>
      </p:sp>
      <p:sp>
        <p:nvSpPr>
          <p:cNvPr id="5" name="标题 29"/>
          <p:cNvSpPr txBox="1"/>
          <p:nvPr/>
        </p:nvSpPr>
        <p:spPr>
          <a:xfrm>
            <a:off x="7578065" y="5835315"/>
            <a:ext cx="2538209" cy="497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2000" b="0" dirty="0">
                <a:latin typeface="+mj-ea"/>
              </a:rPr>
              <a:t>词法分析器工作过程</a:t>
            </a:r>
            <a:endParaRPr lang="en-US" sz="2000" b="0" dirty="0">
              <a:latin typeface="+mj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4117" y="1100129"/>
            <a:ext cx="5279706" cy="4657742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词法分析编码实现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词法分析器主要方法编程</a:t>
            </a:r>
            <a:endParaRPr lang="en-US" sz="2400" dirty="0"/>
          </a:p>
        </p:txBody>
      </p:sp>
      <p:sp>
        <p:nvSpPr>
          <p:cNvPr id="9" name="标题 29"/>
          <p:cNvSpPr txBox="1"/>
          <p:nvPr/>
        </p:nvSpPr>
        <p:spPr>
          <a:xfrm>
            <a:off x="1035410" y="1672389"/>
            <a:ext cx="4025609" cy="6628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next() </a:t>
            </a:r>
            <a:r>
              <a:rPr lang="zh-CN" altLang="en-US" sz="2000" b="0" dirty="0">
                <a:latin typeface="+mj-ea"/>
              </a:rPr>
              <a:t>模拟有限状态自动机</a:t>
            </a:r>
            <a:endParaRPr lang="en-US" sz="2000" b="0" dirty="0">
              <a:latin typeface="+mj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61" y="3276601"/>
            <a:ext cx="5656705" cy="1246115"/>
          </a:xfrm>
          <a:prstGeom prst="rect">
            <a:avLst/>
          </a:prstGeom>
        </p:spPr>
      </p:pic>
      <p:sp>
        <p:nvSpPr>
          <p:cNvPr id="5" name="标题 29"/>
          <p:cNvSpPr txBox="1"/>
          <p:nvPr/>
        </p:nvSpPr>
        <p:spPr>
          <a:xfrm>
            <a:off x="1547742" y="4615135"/>
            <a:ext cx="2648552" cy="6628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b="0" dirty="0">
                <a:latin typeface="+mj-ea"/>
              </a:rPr>
              <a:t>识别标识符</a:t>
            </a:r>
            <a:r>
              <a:rPr lang="en-US" altLang="zh-CN" sz="1800" b="0" dirty="0">
                <a:latin typeface="+mj-ea"/>
              </a:rPr>
              <a:t>/</a:t>
            </a:r>
            <a:r>
              <a:rPr lang="zh-CN" altLang="en-US" sz="1800" b="0" dirty="0">
                <a:latin typeface="+mj-ea"/>
              </a:rPr>
              <a:t>关键字</a:t>
            </a:r>
            <a:endParaRPr lang="en-US" sz="1800" b="0" dirty="0">
              <a:latin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43015" y="1855611"/>
            <a:ext cx="5701255" cy="393569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if(</a:t>
            </a:r>
            <a:r>
              <a:rPr lang="en-US" altLang="zh-CN" sz="1400" dirty="0" err="1">
                <a:latin typeface="Consolas" panose="020B0609020204030204" pitchFamily="49" charset="0"/>
              </a:rPr>
              <a:t>isNonDigit</a:t>
            </a:r>
            <a:r>
              <a:rPr lang="en-US" altLang="zh-CN" sz="1400" dirty="0">
                <a:latin typeface="Consolas" panose="020B0609020204030204" pitchFamily="49" charset="0"/>
              </a:rPr>
              <a:t>(c)) {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标识符或保留字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token += c;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while(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(</a:t>
            </a:r>
            <a:r>
              <a:rPr lang="en-US" altLang="zh-CN" sz="1400" dirty="0" err="1">
                <a:latin typeface="Consolas" panose="020B0609020204030204" pitchFamily="49" charset="0"/>
              </a:rPr>
              <a:t>isNonDigit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)) || 	</a:t>
            </a:r>
            <a:r>
              <a:rPr lang="en-US" altLang="zh-CN" sz="1400" dirty="0" err="1">
                <a:latin typeface="Consolas" panose="020B0609020204030204" pitchFamily="49" charset="0"/>
              </a:rPr>
              <a:t>Character.isDigit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)))) {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	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下一个字符为数字或字母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	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  	token += c;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	}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	reserve();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查关键字表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	return 0;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词法分析编码实现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词法分析器主要方法编程</a:t>
            </a:r>
            <a:endParaRPr lang="en-US" sz="2400" dirty="0"/>
          </a:p>
        </p:txBody>
      </p:sp>
      <p:sp>
        <p:nvSpPr>
          <p:cNvPr id="9" name="标题 29"/>
          <p:cNvSpPr txBox="1"/>
          <p:nvPr/>
        </p:nvSpPr>
        <p:spPr>
          <a:xfrm>
            <a:off x="1035410" y="1672389"/>
            <a:ext cx="4025609" cy="6628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next() </a:t>
            </a:r>
            <a:r>
              <a:rPr lang="zh-CN" altLang="en-US" sz="2000" b="0" dirty="0">
                <a:latin typeface="+mj-ea"/>
              </a:rPr>
              <a:t>模拟有限状态自动机</a:t>
            </a:r>
            <a:endParaRPr lang="en-US" sz="2000" b="0" dirty="0">
              <a:latin typeface="+mj-ea"/>
            </a:endParaRPr>
          </a:p>
        </p:txBody>
      </p:sp>
      <p:sp>
        <p:nvSpPr>
          <p:cNvPr id="5" name="标题 29"/>
          <p:cNvSpPr txBox="1"/>
          <p:nvPr/>
        </p:nvSpPr>
        <p:spPr>
          <a:xfrm>
            <a:off x="1547742" y="4615135"/>
            <a:ext cx="2648552" cy="66289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800" b="0" dirty="0">
                <a:latin typeface="+mj-ea"/>
              </a:rPr>
              <a:t>识别无符号整数</a:t>
            </a:r>
            <a:endParaRPr lang="en-US" sz="1800" b="0" dirty="0">
              <a:latin typeface="+mj-ea"/>
            </a:endParaRP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718" y="3107875"/>
            <a:ext cx="5105881" cy="1047565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5952795" y="2003837"/>
            <a:ext cx="5859414" cy="393569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else if(</a:t>
            </a:r>
            <a:r>
              <a:rPr lang="en-US" altLang="zh-CN" sz="1400" dirty="0" err="1">
                <a:latin typeface="Consolas" panose="020B0609020204030204" pitchFamily="49" charset="0"/>
              </a:rPr>
              <a:t>Character.isDigit</a:t>
            </a:r>
            <a:r>
              <a:rPr lang="en-US" altLang="zh-CN" sz="1400" dirty="0">
                <a:latin typeface="Consolas" panose="020B0609020204030204" pitchFamily="49" charset="0"/>
              </a:rPr>
              <a:t>(c)) {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无符号整数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</a:rPr>
              <a:t>            </a:t>
            </a:r>
            <a:r>
              <a:rPr lang="en-US" altLang="zh-CN" sz="1400" dirty="0">
                <a:latin typeface="Consolas" panose="020B0609020204030204" pitchFamily="49" charset="0"/>
              </a:rPr>
              <a:t>token += c;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while(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  <a:r>
              <a:rPr lang="en-US" altLang="zh-CN" sz="1400" dirty="0" err="1">
                <a:latin typeface="Consolas" panose="020B0609020204030204" pitchFamily="49" charset="0"/>
              </a:rPr>
              <a:t>Character.isDigit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))) {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	  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下一个符号是数字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    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    token += c;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}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</a:t>
            </a:r>
            <a:r>
              <a:rPr lang="en-US" altLang="zh-CN" sz="1400" dirty="0" err="1">
                <a:latin typeface="Consolas" panose="020B0609020204030204" pitchFamily="49" charset="0"/>
              </a:rPr>
              <a:t>lexType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LexType.INTCON</a:t>
            </a:r>
            <a:r>
              <a:rPr lang="en-US" altLang="zh-CN" sz="1400" dirty="0">
                <a:latin typeface="Consolas" panose="020B0609020204030204" pitchFamily="49" charset="0"/>
              </a:rPr>
              <a:t>;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设置单词类别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number = </a:t>
            </a:r>
            <a:r>
              <a:rPr lang="en-US" altLang="zh-CN" sz="1400" dirty="0" err="1">
                <a:latin typeface="Consolas" panose="020B0609020204030204" pitchFamily="49" charset="0"/>
              </a:rPr>
              <a:t>Integer.valueOf</a:t>
            </a:r>
            <a:r>
              <a:rPr lang="en-US" altLang="zh-CN" sz="1400" dirty="0">
                <a:latin typeface="Consolas" panose="020B0609020204030204" pitchFamily="49" charset="0"/>
              </a:rPr>
              <a:t>(token);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转化为数值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            return 0;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Consolas" panose="020B0609020204030204" pitchFamily="49" charset="0"/>
              </a:rPr>
              <a:t>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词法分析难点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672389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注释处理</a:t>
            </a:r>
            <a:endParaRPr lang="en-US" sz="2400" dirty="0"/>
          </a:p>
        </p:txBody>
      </p:sp>
      <p:sp>
        <p:nvSpPr>
          <p:cNvPr id="9" name="标题 29"/>
          <p:cNvSpPr txBox="1"/>
          <p:nvPr/>
        </p:nvSpPr>
        <p:spPr>
          <a:xfrm>
            <a:off x="1035410" y="2122064"/>
            <a:ext cx="6271770" cy="157881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单行注释 </a:t>
            </a:r>
            <a:r>
              <a:rPr lang="en-US" altLang="zh-CN" sz="2000" b="0" dirty="0">
                <a:latin typeface="+mj-ea"/>
              </a:rPr>
              <a:t>   // this</a:t>
            </a:r>
            <a:r>
              <a:rPr lang="zh-CN" altLang="en-US" sz="2000" b="0" dirty="0">
                <a:latin typeface="+mj-ea"/>
              </a:rPr>
              <a:t> </a:t>
            </a:r>
            <a:r>
              <a:rPr lang="en-US" altLang="zh-CN" sz="2000" b="0" dirty="0">
                <a:latin typeface="+mj-ea"/>
              </a:rPr>
              <a:t>is</a:t>
            </a:r>
            <a:r>
              <a:rPr lang="zh-CN" altLang="en-US" sz="2000" b="0" dirty="0">
                <a:latin typeface="+mj-ea"/>
              </a:rPr>
              <a:t> </a:t>
            </a:r>
            <a:r>
              <a:rPr lang="en-US" altLang="zh-CN" sz="2000" b="0" dirty="0">
                <a:latin typeface="+mj-ea"/>
              </a:rPr>
              <a:t>a</a:t>
            </a:r>
            <a:r>
              <a:rPr lang="zh-CN" altLang="en-US" sz="2000" b="0" dirty="0">
                <a:latin typeface="+mj-ea"/>
              </a:rPr>
              <a:t> </a:t>
            </a:r>
            <a:r>
              <a:rPr lang="en-US" altLang="zh-CN" sz="2000" b="0" dirty="0">
                <a:latin typeface="+mj-ea"/>
              </a:rPr>
              <a:t>line of note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跨行注释    </a:t>
            </a:r>
            <a:r>
              <a:rPr lang="en-US" altLang="zh-CN" sz="2000" b="0" dirty="0">
                <a:latin typeface="+mj-ea"/>
              </a:rPr>
              <a:t>/* this is the first line of note</a:t>
            </a:r>
          </a:p>
          <a:p>
            <a:pPr>
              <a:lnSpc>
                <a:spcPct val="150000"/>
              </a:lnSpc>
            </a:pPr>
            <a:r>
              <a:rPr lang="en-US" altLang="zh-CN" sz="2000" b="0" dirty="0">
                <a:latin typeface="+mj-ea"/>
              </a:rPr>
              <a:t>		this is the second line of note */</a:t>
            </a:r>
          </a:p>
        </p:txBody>
      </p:sp>
      <p:sp>
        <p:nvSpPr>
          <p:cNvPr id="2" name="标题 29"/>
          <p:cNvSpPr txBox="1"/>
          <p:nvPr/>
        </p:nvSpPr>
        <p:spPr>
          <a:xfrm>
            <a:off x="859214" y="3356314"/>
            <a:ext cx="4025608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难点</a:t>
            </a:r>
            <a:endParaRPr lang="en-US" sz="2400" dirty="0"/>
          </a:p>
        </p:txBody>
      </p:sp>
      <p:sp>
        <p:nvSpPr>
          <p:cNvPr id="3" name="标题 29"/>
          <p:cNvSpPr txBox="1"/>
          <p:nvPr/>
        </p:nvSpPr>
        <p:spPr>
          <a:xfrm>
            <a:off x="1035410" y="3917251"/>
            <a:ext cx="5954670" cy="6649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注释符号与除号、乘号混合</a:t>
            </a:r>
            <a:endParaRPr lang="en-US" altLang="zh-CN" sz="2000" b="0" dirty="0">
              <a:latin typeface="+mj-ea"/>
            </a:endParaRPr>
          </a:p>
        </p:txBody>
      </p:sp>
      <p:sp>
        <p:nvSpPr>
          <p:cNvPr id="6" name="标题 29"/>
          <p:cNvSpPr txBox="1"/>
          <p:nvPr/>
        </p:nvSpPr>
        <p:spPr>
          <a:xfrm>
            <a:off x="1035410" y="4520702"/>
            <a:ext cx="5954670" cy="66490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b="0" dirty="0">
                <a:latin typeface="+mj-ea"/>
              </a:rPr>
              <a:t>单行注释与多行注释混合</a:t>
            </a:r>
            <a:endParaRPr lang="en-US" altLang="zh-CN" sz="2000" b="0" dirty="0">
              <a:latin typeface="+mj-ea"/>
            </a:endParaRPr>
          </a:p>
        </p:txBody>
      </p:sp>
      <p:sp>
        <p:nvSpPr>
          <p:cNvPr id="8" name="标题 29"/>
          <p:cNvSpPr txBox="1"/>
          <p:nvPr/>
        </p:nvSpPr>
        <p:spPr>
          <a:xfrm>
            <a:off x="1035410" y="5189029"/>
            <a:ext cx="3342641" cy="12000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+mj-ea"/>
              </a:rPr>
              <a:t>// ////////////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b="0" dirty="0">
                <a:latin typeface="+mj-ea"/>
              </a:rPr>
              <a:t>/* **** *  /// / *  /*** */</a:t>
            </a:r>
          </a:p>
        </p:txBody>
      </p:sp>
      <p:sp>
        <p:nvSpPr>
          <p:cNvPr id="5" name="标题 29"/>
          <p:cNvSpPr txBox="1"/>
          <p:nvPr/>
        </p:nvSpPr>
        <p:spPr>
          <a:xfrm>
            <a:off x="859213" y="1134640"/>
            <a:ext cx="4941511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编程实现复杂有限状态自动机</a:t>
            </a:r>
            <a:endParaRPr lang="en-US" sz="2400" dirty="0"/>
          </a:p>
        </p:txBody>
      </p:sp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词法分析难点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931986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注释处理</a:t>
            </a:r>
            <a:r>
              <a:rPr lang="en-US" altLang="zh-CN" sz="2400" dirty="0"/>
              <a:t>——</a:t>
            </a:r>
            <a:r>
              <a:rPr lang="zh-CN" altLang="en-US" sz="2400" dirty="0"/>
              <a:t>复杂有限状态自动机</a:t>
            </a:r>
            <a:endParaRPr lang="en-US" sz="2400" dirty="0"/>
          </a:p>
        </p:txBody>
      </p:sp>
      <p:sp>
        <p:nvSpPr>
          <p:cNvPr id="5" name="椭圆 4"/>
          <p:cNvSpPr/>
          <p:nvPr/>
        </p:nvSpPr>
        <p:spPr>
          <a:xfrm>
            <a:off x="3784973" y="256717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5321980" y="2571521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109145" y="256717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箭头连接符 11"/>
          <p:cNvCxnSpPr>
            <a:endCxn id="11" idx="2"/>
          </p:cNvCxnSpPr>
          <p:nvPr/>
        </p:nvCxnSpPr>
        <p:spPr>
          <a:xfrm>
            <a:off x="1657025" y="2993896"/>
            <a:ext cx="452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1" idx="6"/>
            <a:endCxn id="5" idx="2"/>
          </p:cNvCxnSpPr>
          <p:nvPr/>
        </p:nvCxnSpPr>
        <p:spPr>
          <a:xfrm>
            <a:off x="2977825" y="2993896"/>
            <a:ext cx="8071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5" idx="6"/>
            <a:endCxn id="10" idx="2"/>
          </p:cNvCxnSpPr>
          <p:nvPr/>
        </p:nvCxnSpPr>
        <p:spPr>
          <a:xfrm>
            <a:off x="4653653" y="2993896"/>
            <a:ext cx="668327" cy="4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3078200" y="2653258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17" name="文本框 16"/>
          <p:cNvSpPr txBox="1"/>
          <p:nvPr/>
        </p:nvSpPr>
        <p:spPr>
          <a:xfrm>
            <a:off x="1472136" y="26245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起始</a:t>
            </a:r>
          </a:p>
        </p:txBody>
      </p:sp>
      <p:sp>
        <p:nvSpPr>
          <p:cNvPr id="18" name="对话气泡: 椭圆形 17"/>
          <p:cNvSpPr/>
          <p:nvPr/>
        </p:nvSpPr>
        <p:spPr>
          <a:xfrm>
            <a:off x="8449553" y="1743052"/>
            <a:ext cx="1231523" cy="754384"/>
          </a:xfrm>
          <a:prstGeom prst="wedgeEllipse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/>
              <p:cNvSpPr txBox="1"/>
              <p:nvPr/>
            </p:nvSpPr>
            <p:spPr>
              <a:xfrm>
                <a:off x="2384924" y="2806105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9" name="文本框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924" y="2806105"/>
                <a:ext cx="290401" cy="276999"/>
              </a:xfrm>
              <a:prstGeom prst="rect">
                <a:avLst/>
              </a:prstGeom>
              <a:blipFill rotWithShape="1">
                <a:blip r:embed="rId4"/>
                <a:stretch>
                  <a:fillRect l="-172" t="-14" r="-6317" b="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4085057" y="2849360"/>
                <a:ext cx="2850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057" y="2849360"/>
                <a:ext cx="285078" cy="276999"/>
              </a:xfrm>
              <a:prstGeom prst="rect">
                <a:avLst/>
              </a:prstGeom>
              <a:blipFill rotWithShape="1">
                <a:blip r:embed="rId5"/>
                <a:stretch>
                  <a:fillRect l="-36" t="-42" r="-7551" b="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/>
              <p:cNvSpPr txBox="1"/>
              <p:nvPr/>
            </p:nvSpPr>
            <p:spPr>
              <a:xfrm>
                <a:off x="5632158" y="2811038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2158" y="2811038"/>
                <a:ext cx="290401" cy="276999"/>
              </a:xfrm>
              <a:prstGeom prst="rect">
                <a:avLst/>
              </a:prstGeom>
              <a:blipFill rotWithShape="1">
                <a:blip r:embed="rId6"/>
                <a:stretch>
                  <a:fillRect l="-118" t="-191" r="-6371" b="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连接符: 曲线 21"/>
          <p:cNvCxnSpPr>
            <a:stCxn id="10" idx="6"/>
            <a:endCxn id="10" idx="0"/>
          </p:cNvCxnSpPr>
          <p:nvPr/>
        </p:nvCxnSpPr>
        <p:spPr>
          <a:xfrm flipH="1" flipV="1">
            <a:off x="5756320" y="2571521"/>
            <a:ext cx="434340" cy="426720"/>
          </a:xfrm>
          <a:prstGeom prst="curvedConnector4">
            <a:avLst>
              <a:gd name="adj1" fmla="val -89423"/>
              <a:gd name="adj2" fmla="val 1868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/>
          <p:cNvSpPr txBox="1"/>
          <p:nvPr/>
        </p:nvSpPr>
        <p:spPr>
          <a:xfrm>
            <a:off x="4839438" y="2650500"/>
            <a:ext cx="2487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24" name="文本框 23"/>
          <p:cNvSpPr txBox="1"/>
          <p:nvPr/>
        </p:nvSpPr>
        <p:spPr>
          <a:xfrm>
            <a:off x="6360253" y="1847429"/>
            <a:ext cx="1338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非换行字符</a:t>
            </a:r>
          </a:p>
        </p:txBody>
      </p:sp>
      <p:sp>
        <p:nvSpPr>
          <p:cNvPr id="25" name="椭圆 24"/>
          <p:cNvSpPr/>
          <p:nvPr/>
        </p:nvSpPr>
        <p:spPr>
          <a:xfrm>
            <a:off x="8076827" y="2575560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6" name="直接箭头连接符 25"/>
          <p:cNvCxnSpPr>
            <a:stCxn id="10" idx="6"/>
            <a:endCxn id="25" idx="2"/>
          </p:cNvCxnSpPr>
          <p:nvPr/>
        </p:nvCxnSpPr>
        <p:spPr>
          <a:xfrm>
            <a:off x="6190660" y="2998241"/>
            <a:ext cx="1886167" cy="40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/>
              <p:cNvSpPr txBox="1"/>
              <p:nvPr/>
            </p:nvSpPr>
            <p:spPr>
              <a:xfrm>
                <a:off x="8382311" y="2820526"/>
                <a:ext cx="29040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7" name="文本框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311" y="2820526"/>
                <a:ext cx="290401" cy="276999"/>
              </a:xfrm>
              <a:prstGeom prst="rect">
                <a:avLst/>
              </a:prstGeom>
              <a:blipFill rotWithShape="1">
                <a:blip r:embed="rId7"/>
                <a:stretch>
                  <a:fillRect l="-107" t="-177" r="-6382" b="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文本框 27"/>
          <p:cNvSpPr txBox="1"/>
          <p:nvPr/>
        </p:nvSpPr>
        <p:spPr>
          <a:xfrm>
            <a:off x="6809022" y="26267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换行字符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8485762" y="1922452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单行注释</a:t>
            </a:r>
          </a:p>
        </p:txBody>
      </p:sp>
      <p:cxnSp>
        <p:nvCxnSpPr>
          <p:cNvPr id="30" name="连接符: 曲线 29"/>
          <p:cNvCxnSpPr>
            <a:stCxn id="5" idx="4"/>
            <a:endCxn id="46" idx="2"/>
          </p:cNvCxnSpPr>
          <p:nvPr/>
        </p:nvCxnSpPr>
        <p:spPr>
          <a:xfrm rot="16200000" flipH="1">
            <a:off x="5871146" y="1768783"/>
            <a:ext cx="553849" cy="3857514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4665033" y="3934451"/>
            <a:ext cx="195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非*非</a:t>
            </a:r>
            <a:r>
              <a:rPr lang="en-US" altLang="zh-CN" dirty="0"/>
              <a:t>/</a:t>
            </a:r>
            <a:r>
              <a:rPr lang="zh-CN" altLang="en-US" dirty="0"/>
              <a:t>的其他字符</a:t>
            </a:r>
          </a:p>
        </p:txBody>
      </p:sp>
      <p:sp>
        <p:nvSpPr>
          <p:cNvPr id="46" name="椭圆 45"/>
          <p:cNvSpPr/>
          <p:nvPr/>
        </p:nvSpPr>
        <p:spPr>
          <a:xfrm>
            <a:off x="8076827" y="3547745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/>
              <p:cNvSpPr txBox="1"/>
              <p:nvPr/>
            </p:nvSpPr>
            <p:spPr>
              <a:xfrm>
                <a:off x="8382311" y="3792711"/>
                <a:ext cx="292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7" name="文本框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311" y="3792711"/>
                <a:ext cx="292003" cy="276999"/>
              </a:xfrm>
              <a:prstGeom prst="rect">
                <a:avLst/>
              </a:prstGeom>
              <a:blipFill rotWithShape="1">
                <a:blip r:embed="rId8"/>
                <a:stretch>
                  <a:fillRect l="-107" t="-177" r="-6016" b="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对话气泡: 椭圆形 49"/>
          <p:cNvSpPr/>
          <p:nvPr/>
        </p:nvSpPr>
        <p:spPr>
          <a:xfrm>
            <a:off x="8984408" y="3051808"/>
            <a:ext cx="1231523" cy="754384"/>
          </a:xfrm>
          <a:prstGeom prst="wedgeEllipse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9275401" y="3244334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除号</a:t>
            </a:r>
          </a:p>
        </p:txBody>
      </p:sp>
      <p:sp>
        <p:nvSpPr>
          <p:cNvPr id="53" name="椭圆 52"/>
          <p:cNvSpPr/>
          <p:nvPr/>
        </p:nvSpPr>
        <p:spPr>
          <a:xfrm>
            <a:off x="5338918" y="484706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/>
              <p:cNvSpPr txBox="1"/>
              <p:nvPr/>
            </p:nvSpPr>
            <p:spPr>
              <a:xfrm>
                <a:off x="5644402" y="5092032"/>
                <a:ext cx="292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4" name="文本框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402" y="5092032"/>
                <a:ext cx="292003" cy="276999"/>
              </a:xfrm>
              <a:prstGeom prst="rect">
                <a:avLst/>
              </a:prstGeom>
              <a:blipFill rotWithShape="1">
                <a:blip r:embed="rId9"/>
                <a:stretch>
                  <a:fillRect l="-179" t="-217" r="-5943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连接符: 曲线 54"/>
          <p:cNvCxnSpPr>
            <a:stCxn id="5" idx="4"/>
            <a:endCxn id="53" idx="2"/>
          </p:cNvCxnSpPr>
          <p:nvPr/>
        </p:nvCxnSpPr>
        <p:spPr>
          <a:xfrm rot="16200000" flipH="1">
            <a:off x="3852530" y="3787398"/>
            <a:ext cx="1853170" cy="111960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4171361" y="4526987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*</a:t>
            </a:r>
          </a:p>
        </p:txBody>
      </p:sp>
      <p:sp>
        <p:nvSpPr>
          <p:cNvPr id="59" name="椭圆 58"/>
          <p:cNvSpPr/>
          <p:nvPr/>
        </p:nvSpPr>
        <p:spPr>
          <a:xfrm>
            <a:off x="7390763" y="484706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/>
              <p:cNvSpPr txBox="1"/>
              <p:nvPr/>
            </p:nvSpPr>
            <p:spPr>
              <a:xfrm>
                <a:off x="7700941" y="5086583"/>
                <a:ext cx="292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0" name="文本框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0941" y="5086583"/>
                <a:ext cx="292003" cy="276999"/>
              </a:xfrm>
              <a:prstGeom prst="rect">
                <a:avLst/>
              </a:prstGeom>
              <a:blipFill rotWithShape="1">
                <a:blip r:embed="rId10"/>
                <a:stretch>
                  <a:fillRect l="-101" t="-84" r="-6021" b="1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连接符: 曲线 60"/>
          <p:cNvCxnSpPr>
            <a:stCxn id="59" idx="6"/>
            <a:endCxn id="59" idx="0"/>
          </p:cNvCxnSpPr>
          <p:nvPr/>
        </p:nvCxnSpPr>
        <p:spPr>
          <a:xfrm flipH="1" flipV="1">
            <a:off x="7825103" y="4847066"/>
            <a:ext cx="434340" cy="426720"/>
          </a:xfrm>
          <a:prstGeom prst="curvedConnector4">
            <a:avLst>
              <a:gd name="adj1" fmla="val -89423"/>
              <a:gd name="adj2" fmla="val 1868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53" idx="6"/>
            <a:endCxn id="59" idx="2"/>
          </p:cNvCxnSpPr>
          <p:nvPr/>
        </p:nvCxnSpPr>
        <p:spPr>
          <a:xfrm>
            <a:off x="6207598" y="5273786"/>
            <a:ext cx="11831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6094387" y="4332477"/>
            <a:ext cx="14285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非*其他字符</a:t>
            </a:r>
          </a:p>
        </p:txBody>
      </p:sp>
      <p:cxnSp>
        <p:nvCxnSpPr>
          <p:cNvPr id="68" name="连接符: 曲线 67"/>
          <p:cNvCxnSpPr>
            <a:stCxn id="53" idx="6"/>
            <a:endCxn id="53" idx="0"/>
          </p:cNvCxnSpPr>
          <p:nvPr/>
        </p:nvCxnSpPr>
        <p:spPr>
          <a:xfrm flipH="1" flipV="1">
            <a:off x="5773258" y="4847066"/>
            <a:ext cx="434340" cy="426720"/>
          </a:xfrm>
          <a:prstGeom prst="curvedConnector4">
            <a:avLst>
              <a:gd name="adj1" fmla="val -52632"/>
              <a:gd name="adj2" fmla="val 1535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6641938" y="4983096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*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8596615" y="4662400"/>
            <a:ext cx="27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*</a:t>
            </a:r>
          </a:p>
        </p:txBody>
      </p:sp>
      <p:sp>
        <p:nvSpPr>
          <p:cNvPr id="73" name="椭圆 72"/>
          <p:cNvSpPr/>
          <p:nvPr/>
        </p:nvSpPr>
        <p:spPr>
          <a:xfrm>
            <a:off x="9303852" y="4847066"/>
            <a:ext cx="868680" cy="85344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本框 73"/>
              <p:cNvSpPr txBox="1"/>
              <p:nvPr/>
            </p:nvSpPr>
            <p:spPr>
              <a:xfrm>
                <a:off x="9609336" y="5092032"/>
                <a:ext cx="292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4" name="文本框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9336" y="5092032"/>
                <a:ext cx="292003" cy="276999"/>
              </a:xfrm>
              <a:prstGeom prst="rect">
                <a:avLst/>
              </a:prstGeom>
              <a:blipFill rotWithShape="1">
                <a:blip r:embed="rId11"/>
                <a:stretch>
                  <a:fillRect l="-177" t="-217" r="-5945" b="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直接箭头连接符 74"/>
          <p:cNvCxnSpPr>
            <a:stCxn id="59" idx="6"/>
            <a:endCxn id="73" idx="2"/>
          </p:cNvCxnSpPr>
          <p:nvPr/>
        </p:nvCxnSpPr>
        <p:spPr>
          <a:xfrm>
            <a:off x="8259443" y="5273786"/>
            <a:ext cx="104440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8745035" y="4983096"/>
            <a:ext cx="248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dirty="0"/>
              <a:t>/</a:t>
            </a:r>
            <a:endParaRPr lang="zh-CN" altLang="en-US" dirty="0"/>
          </a:p>
        </p:txBody>
      </p:sp>
      <p:sp>
        <p:nvSpPr>
          <p:cNvPr id="79" name="对话气泡: 椭圆形 78"/>
          <p:cNvSpPr/>
          <p:nvPr/>
        </p:nvSpPr>
        <p:spPr>
          <a:xfrm>
            <a:off x="9954187" y="4227713"/>
            <a:ext cx="1231523" cy="754384"/>
          </a:xfrm>
          <a:prstGeom prst="wedgeEllipseCallou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文本框 79"/>
          <p:cNvSpPr txBox="1"/>
          <p:nvPr/>
        </p:nvSpPr>
        <p:spPr>
          <a:xfrm>
            <a:off x="9990396" y="4407113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跨行注释</a:t>
            </a:r>
          </a:p>
        </p:txBody>
      </p:sp>
      <p:cxnSp>
        <p:nvCxnSpPr>
          <p:cNvPr id="81" name="直接箭头连接符 80"/>
          <p:cNvCxnSpPr/>
          <p:nvPr/>
        </p:nvCxnSpPr>
        <p:spPr>
          <a:xfrm flipH="1">
            <a:off x="6274263" y="5484973"/>
            <a:ext cx="10735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836454" y="5602816"/>
            <a:ext cx="1954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/>
              <a:t>非*非</a:t>
            </a:r>
            <a:r>
              <a:rPr lang="en-US" altLang="zh-CN" dirty="0"/>
              <a:t>/</a:t>
            </a:r>
            <a:r>
              <a:rPr lang="zh-CN" altLang="en-US" dirty="0"/>
              <a:t>的其他字符</a:t>
            </a:r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词法分析难点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931986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单行注释编程</a:t>
            </a:r>
            <a:endParaRPr 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670718" y="2002426"/>
            <a:ext cx="9686694" cy="477053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Consolas" panose="020B0609020204030204" pitchFamily="49" charset="0"/>
              </a:rPr>
              <a:t> 	else if(c == ‘/’) {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第一个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 /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token += c;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if(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 &lt;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600" dirty="0">
                <a:latin typeface="Consolas" panose="020B0609020204030204" pitchFamily="49" charset="0"/>
              </a:rPr>
              <a:t>() &amp;&amp;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) == '/') { //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		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第二个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endParaRPr lang="zh-CN" altLang="en-US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</a:t>
            </a:r>
            <a:r>
              <a:rPr lang="en-US" altLang="zh-CN" sz="1600" dirty="0">
                <a:latin typeface="Consolas" panose="020B0609020204030204" pitchFamily="49" charset="0"/>
              </a:rPr>
              <a:t>c =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++); //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</a:t>
            </a:r>
            <a:r>
              <a:rPr lang="en-US" altLang="zh-CN" sz="1600" dirty="0">
                <a:latin typeface="Consolas" panose="020B0609020204030204" pitchFamily="49" charset="0"/>
              </a:rPr>
              <a:t>token += c;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while(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 &lt;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600" dirty="0">
                <a:latin typeface="Consolas" panose="020B0609020204030204" pitchFamily="49" charset="0"/>
              </a:rPr>
              <a:t>() &amp;&amp;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) != '\n’) {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		   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非换行字符</a:t>
            </a:r>
            <a:endParaRPr lang="en-US" altLang="zh-CN" sz="16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    c =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    token += c;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if(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 &lt; </a:t>
            </a:r>
            <a:r>
              <a:rPr lang="en-US" altLang="zh-CN" sz="16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600" dirty="0">
                <a:latin typeface="Consolas" panose="020B0609020204030204" pitchFamily="49" charset="0"/>
              </a:rPr>
              <a:t>()) { </a:t>
            </a:r>
            <a:r>
              <a:rPr lang="en-US" altLang="zh-CN" sz="1600" dirty="0">
                <a:solidFill>
                  <a:srgbClr val="FF0000"/>
                </a:solidFill>
                <a:latin typeface="Consolas" panose="020B0609020204030204" pitchFamily="49" charset="0"/>
              </a:rPr>
              <a:t>// \n </a:t>
            </a:r>
            <a:r>
              <a:rPr lang="zh-CN" alt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或 直接结束</a:t>
            </a:r>
          </a:p>
          <a:p>
            <a:r>
              <a:rPr lang="zh-CN" altLang="en-US" sz="1600" dirty="0">
                <a:latin typeface="Consolas" panose="020B0609020204030204" pitchFamily="49" charset="0"/>
              </a:rPr>
              <a:t>                    </a:t>
            </a:r>
            <a:r>
              <a:rPr lang="en-US" altLang="zh-CN" sz="1600" dirty="0">
                <a:latin typeface="Consolas" panose="020B0609020204030204" pitchFamily="49" charset="0"/>
              </a:rPr>
              <a:t>c = </a:t>
            </a:r>
            <a:r>
              <a:rPr lang="en-US" altLang="zh-CN" sz="16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600" dirty="0"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latin typeface="Consolas" panose="020B0609020204030204" pitchFamily="49" charset="0"/>
              </a:rPr>
              <a:t>curPos</a:t>
            </a:r>
            <a:r>
              <a:rPr lang="en-US" altLang="zh-CN" sz="16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    token += c;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    </a:t>
            </a:r>
            <a:r>
              <a:rPr lang="en-US" altLang="zh-CN" sz="1600" dirty="0" err="1">
                <a:latin typeface="Consolas" panose="020B0609020204030204" pitchFamily="49" charset="0"/>
              </a:rPr>
              <a:t>lineNum</a:t>
            </a:r>
            <a:r>
              <a:rPr lang="en-US" altLang="zh-CN" sz="1600" dirty="0">
                <a:latin typeface="Consolas" panose="020B0609020204030204" pitchFamily="49" charset="0"/>
              </a:rPr>
              <a:t>++; // </a:t>
            </a:r>
            <a:r>
              <a:rPr lang="zh-CN" altLang="en-US" sz="1600" dirty="0">
                <a:latin typeface="Consolas" panose="020B0609020204030204" pitchFamily="49" charset="0"/>
              </a:rPr>
              <a:t>单行注释末尾的</a:t>
            </a:r>
            <a:r>
              <a:rPr lang="en-US" altLang="zh-CN" sz="1600" dirty="0">
                <a:latin typeface="Consolas" panose="020B0609020204030204" pitchFamily="49" charset="0"/>
              </a:rPr>
              <a:t>\n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</a:t>
            </a:r>
            <a:r>
              <a:rPr lang="en-US" altLang="zh-CN" sz="1600" dirty="0" err="1">
                <a:latin typeface="Consolas" panose="020B0609020204030204" pitchFamily="49" charset="0"/>
              </a:rPr>
              <a:t>lexType</a:t>
            </a:r>
            <a:r>
              <a:rPr lang="en-US" altLang="zh-CN" sz="1600" dirty="0">
                <a:latin typeface="Consolas" panose="020B0609020204030204" pitchFamily="49" charset="0"/>
              </a:rPr>
              <a:t> = </a:t>
            </a:r>
            <a:r>
              <a:rPr lang="en-US" altLang="zh-CN" sz="1600" dirty="0" err="1">
                <a:latin typeface="Consolas" panose="020B0609020204030204" pitchFamily="49" charset="0"/>
              </a:rPr>
              <a:t>LexType.NOTE</a:t>
            </a:r>
            <a:r>
              <a:rPr lang="en-US" altLang="zh-CN" sz="16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    return next();</a:t>
            </a:r>
          </a:p>
          <a:p>
            <a:r>
              <a:rPr lang="en-US" altLang="zh-CN" sz="1600" dirty="0">
                <a:latin typeface="Consolas" panose="020B0609020204030204" pitchFamily="49" charset="0"/>
              </a:rPr>
              <a:t>            }</a:t>
            </a:r>
            <a:endParaRPr lang="zh-CN" altLang="en-US" sz="1600" dirty="0">
              <a:latin typeface="Consolas" panose="020B0609020204030204" pitchFamily="49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6758" y="71501"/>
            <a:ext cx="4600023" cy="203903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325207" y="988095"/>
            <a:ext cx="8731969" cy="569386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Consolas" panose="020B0609020204030204" pitchFamily="49" charset="0"/>
              </a:rPr>
              <a:t> 	 else if(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 == '*')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/*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跨行注释 用状态机判断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        </a:t>
            </a:r>
            <a:r>
              <a:rPr lang="en-US" altLang="zh-CN" sz="1400" dirty="0">
                <a:latin typeface="Consolas" panose="020B0609020204030204" pitchFamily="49" charset="0"/>
              </a:rPr>
              <a:t>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token += c;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while(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()) { 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状态转换循环（直至末尾）</a:t>
            </a:r>
            <a:endParaRPr lang="en-US" altLang="zh-CN" sz="14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while 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 != '*’)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			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非*字符 对应状态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q5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token += c;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if(c == '\n') </a:t>
            </a:r>
            <a:r>
              <a:rPr lang="en-US" altLang="zh-CN" sz="1400" dirty="0" err="1">
                <a:latin typeface="Consolas" panose="020B0609020204030204" pitchFamily="49" charset="0"/>
              </a:rPr>
              <a:t>lineNum</a:t>
            </a:r>
            <a:r>
              <a:rPr lang="en-US" altLang="zh-CN" sz="1400" dirty="0">
                <a:latin typeface="Consolas" panose="020B0609020204030204" pitchFamily="49" charset="0"/>
              </a:rPr>
              <a:t>++; // </a:t>
            </a:r>
            <a:r>
              <a:rPr lang="zh-CN" altLang="en-US" sz="1400" dirty="0">
                <a:latin typeface="Consolas" panose="020B0609020204030204" pitchFamily="49" charset="0"/>
              </a:rPr>
              <a:t>多行注释中 每行最后的回车</a:t>
            </a:r>
          </a:p>
          <a:p>
            <a:r>
              <a:rPr lang="zh-CN" altLang="en-US" sz="1400" dirty="0">
                <a:latin typeface="Consolas" panose="020B0609020204030204" pitchFamily="49" charset="0"/>
              </a:rPr>
              <a:t>                    </a:t>
            </a:r>
            <a:r>
              <a:rPr lang="en-US" altLang="zh-CN" sz="14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// *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while(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 == '*’)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			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*字符 对应状态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q6 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如果没有转移到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q7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，则会在循环中转移到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q5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token += c;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if 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 &lt;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string.length</a:t>
            </a:r>
            <a:r>
              <a:rPr lang="en-US" altLang="zh-CN" sz="1400" dirty="0">
                <a:latin typeface="Consolas" panose="020B0609020204030204" pitchFamily="49" charset="0"/>
              </a:rPr>
              <a:t>() &amp;&amp;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) == '/’) {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			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//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/</a:t>
            </a:r>
            <a:r>
              <a:rPr lang="zh-CN" alt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字符 对应状态</a:t>
            </a:r>
            <a:r>
              <a:rPr lang="en-US" altLang="zh-CN" sz="1400" dirty="0">
                <a:solidFill>
                  <a:srgbClr val="FF0000"/>
                </a:solidFill>
                <a:latin typeface="Consolas" panose="020B0609020204030204" pitchFamily="49" charset="0"/>
              </a:rPr>
              <a:t>q7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c = </a:t>
            </a:r>
            <a:r>
              <a:rPr lang="en-US" altLang="zh-CN" sz="1400" dirty="0" err="1">
                <a:latin typeface="Consolas" panose="020B0609020204030204" pitchFamily="49" charset="0"/>
              </a:rPr>
              <a:t>string.charAt</a:t>
            </a:r>
            <a:r>
              <a:rPr lang="en-US" altLang="zh-CN" sz="1400" dirty="0"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latin typeface="Consolas" panose="020B0609020204030204" pitchFamily="49" charset="0"/>
              </a:rPr>
              <a:t>curPos</a:t>
            </a:r>
            <a:r>
              <a:rPr lang="en-US" altLang="zh-CN" sz="1400" dirty="0">
                <a:latin typeface="Consolas" panose="020B0609020204030204" pitchFamily="49" charset="0"/>
              </a:rPr>
              <a:t>++);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token += c;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</a:t>
            </a:r>
            <a:r>
              <a:rPr lang="en-US" altLang="zh-CN" sz="1400" dirty="0" err="1">
                <a:latin typeface="Consolas" panose="020B0609020204030204" pitchFamily="49" charset="0"/>
              </a:rPr>
              <a:t>lexType</a:t>
            </a:r>
            <a:r>
              <a:rPr lang="en-US" altLang="zh-CN" sz="1400" dirty="0"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latin typeface="Consolas" panose="020B0609020204030204" pitchFamily="49" charset="0"/>
              </a:rPr>
              <a:t>LexType.NOTE</a:t>
            </a:r>
            <a:r>
              <a:rPr lang="en-US" altLang="zh-CN" sz="1400" dirty="0"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    return next();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    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    }</a:t>
            </a:r>
          </a:p>
          <a:p>
            <a:r>
              <a:rPr lang="en-US" altLang="zh-CN" sz="1400" dirty="0">
                <a:latin typeface="Consolas" panose="020B0609020204030204" pitchFamily="49" charset="0"/>
              </a:rPr>
              <a:t>            }</a:t>
            </a:r>
            <a:endParaRPr lang="zh-CN" altLang="en-US" sz="1400" dirty="0">
              <a:latin typeface="Consolas" panose="020B0609020204030204" pitchFamily="49" charset="0"/>
            </a:endParaRPr>
          </a:p>
        </p:txBody>
      </p:sp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词法分析难点</a:t>
            </a:r>
            <a:endParaRPr lang="en-US" dirty="0"/>
          </a:p>
        </p:txBody>
      </p:sp>
      <p:cxnSp>
        <p:nvCxnSpPr>
          <p:cNvPr id="16" name="直接连接符 15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标题 29"/>
          <p:cNvSpPr txBox="1"/>
          <p:nvPr/>
        </p:nvSpPr>
        <p:spPr>
          <a:xfrm>
            <a:off x="859214" y="1222714"/>
            <a:ext cx="4931986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跨行注释编程</a:t>
            </a:r>
            <a:endParaRPr 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52698"/>
            <a:ext cx="5274300" cy="233792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ACE6D-C627-0190-BED0-85F099380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>
            <a:extLst>
              <a:ext uri="{FF2B5EF4-FFF2-40B4-BE49-F238E27FC236}">
                <a16:creationId xmlns:a16="http://schemas.microsoft.com/office/drawing/2014/main" id="{84DB8622-847C-AB4C-8086-9DCB11E71D1D}"/>
              </a:ext>
            </a:extLst>
          </p:cNvPr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错误处理</a:t>
            </a:r>
            <a:endParaRPr lang="en-US" dirty="0"/>
          </a:p>
        </p:txBody>
      </p: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127EE88B-970D-25B2-0A99-A82E9562C776}"/>
              </a:ext>
            </a:extLst>
          </p:cNvPr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29">
            <a:extLst>
              <a:ext uri="{FF2B5EF4-FFF2-40B4-BE49-F238E27FC236}">
                <a16:creationId xmlns:a16="http://schemas.microsoft.com/office/drawing/2014/main" id="{A8B79A35-6BE2-4542-B5DC-E1B284562B11}"/>
              </a:ext>
            </a:extLst>
          </p:cNvPr>
          <p:cNvSpPr txBox="1"/>
          <p:nvPr/>
        </p:nvSpPr>
        <p:spPr>
          <a:xfrm>
            <a:off x="859213" y="1195386"/>
            <a:ext cx="4941511" cy="4496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/>
              <a:t>本次作业只有文法中的</a:t>
            </a:r>
            <a:r>
              <a:rPr lang="en-US" altLang="zh-CN" sz="2400" dirty="0"/>
              <a:t>a</a:t>
            </a:r>
            <a:r>
              <a:rPr lang="zh-CN" altLang="en-US" sz="2400" dirty="0"/>
              <a:t>类错误</a:t>
            </a:r>
            <a:endParaRPr lang="en-US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54107D7C-5CCC-BB87-055F-7803761BC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6566" y="2040294"/>
            <a:ext cx="8685714" cy="345714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7887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9"/>
          <p:cNvSpPr txBox="1"/>
          <p:nvPr/>
        </p:nvSpPr>
        <p:spPr>
          <a:xfrm>
            <a:off x="670718" y="384515"/>
            <a:ext cx="10850563" cy="63817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词法分析总结</a:t>
            </a:r>
            <a:endParaRPr lang="en-US" dirty="0"/>
          </a:p>
        </p:txBody>
      </p:sp>
      <p:sp>
        <p:nvSpPr>
          <p:cNvPr id="2" name="标题 29"/>
          <p:cNvSpPr txBox="1"/>
          <p:nvPr/>
        </p:nvSpPr>
        <p:spPr>
          <a:xfrm>
            <a:off x="1430714" y="1706484"/>
            <a:ext cx="9589711" cy="261786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/>
              <a:t>编程难度较小</a:t>
            </a:r>
            <a:endParaRPr lang="en-US" altLang="zh-CN" sz="2400" b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/>
              <a:t>作为语法分析的基础，词法分析应该提供</a:t>
            </a:r>
            <a:r>
              <a:rPr lang="zh-CN" altLang="en-US" sz="2400" b="0" dirty="0">
                <a:solidFill>
                  <a:srgbClr val="FF0000"/>
                </a:solidFill>
              </a:rPr>
              <a:t>尽可能丰富的信息</a:t>
            </a:r>
            <a:r>
              <a:rPr lang="zh-CN" altLang="en-US" sz="2400" b="0" dirty="0"/>
              <a:t>（如词类、行号等）</a:t>
            </a:r>
            <a:endParaRPr lang="en-US" altLang="zh-CN" sz="2400" b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0" dirty="0"/>
              <a:t>重点在于用编程实现有限状态自动机</a:t>
            </a:r>
            <a:endParaRPr lang="en-US" altLang="zh-CN" sz="2400" b="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2400" b="0" dirty="0"/>
          </a:p>
          <a:p>
            <a:endParaRPr lang="en-US" sz="2400" b="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670718" y="902369"/>
            <a:ext cx="64760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29"/>
          <p:cNvSpPr txBox="1"/>
          <p:nvPr/>
        </p:nvSpPr>
        <p:spPr>
          <a:xfrm>
            <a:off x="1430714" y="2737193"/>
            <a:ext cx="7960936" cy="81563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2400" b="0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SHOWCASE" val="b5e9a9e8-6d4e-4eab-8b76-6cdff33635ca"/>
  <p:tag name="COMMONDATA" val="eyJoZGlkIjoiZTM2OWI4ZGYyMzhmZjM2ZGE1MTUxYjQ1ZGZhMjFiNz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318;"/>
</p:tagLst>
</file>

<file path=ppt/theme/theme1.xml><?xml version="1.0" encoding="utf-8"?>
<a:theme xmlns:a="http://schemas.openxmlformats.org/drawingml/2006/main" name="OfficePLUS主题">
  <a:themeElements>
    <a:clrScheme name="房利美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F08300"/>
      </a:accent1>
      <a:accent2>
        <a:srgbClr val="66B3E1"/>
      </a:accent2>
      <a:accent3>
        <a:srgbClr val="1165A0"/>
      </a:accent3>
      <a:accent4>
        <a:srgbClr val="EBA417"/>
      </a:accent4>
      <a:accent5>
        <a:srgbClr val="2E9EDA"/>
      </a:accent5>
      <a:accent6>
        <a:srgbClr val="053675"/>
      </a:accent6>
      <a:hlink>
        <a:srgbClr val="4472C4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5"/>
    </a:dk2>
    <a:lt2>
      <a:srgbClr val="F0F0F0"/>
    </a:lt2>
    <a:accent1>
      <a:srgbClr val="F08300"/>
    </a:accent1>
    <a:accent2>
      <a:srgbClr val="66B3E1"/>
    </a:accent2>
    <a:accent3>
      <a:srgbClr val="1165A0"/>
    </a:accent3>
    <a:accent4>
      <a:srgbClr val="EBA417"/>
    </a:accent4>
    <a:accent5>
      <a:srgbClr val="2E9EDA"/>
    </a:accent5>
    <a:accent6>
      <a:srgbClr val="053675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房利美">
    <a:dk1>
      <a:srgbClr val="000000"/>
    </a:dk1>
    <a:lt1>
      <a:srgbClr val="FFFFFF"/>
    </a:lt1>
    <a:dk2>
      <a:srgbClr val="768395"/>
    </a:dk2>
    <a:lt2>
      <a:srgbClr val="F0F0F0"/>
    </a:lt2>
    <a:accent1>
      <a:srgbClr val="F08300"/>
    </a:accent1>
    <a:accent2>
      <a:srgbClr val="66B3E1"/>
    </a:accent2>
    <a:accent3>
      <a:srgbClr val="1165A0"/>
    </a:accent3>
    <a:accent4>
      <a:srgbClr val="EBA417"/>
    </a:accent4>
    <a:accent5>
      <a:srgbClr val="2E9EDA"/>
    </a:accent5>
    <a:accent6>
      <a:srgbClr val="053675"/>
    </a:accent6>
    <a:hlink>
      <a:srgbClr val="4472C4"/>
    </a:hlink>
    <a:folHlink>
      <a:srgbClr val="BFBFB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934b4b-eba6-486d-bfc1-4b8e3fe39092" xsi:nil="true"/>
    <lcf76f155ced4ddcb4097134ff3c332f xmlns="0a5c0dea-e5d7-4228-9256-3793bb42faa5">
      <Terms xmlns="http://schemas.microsoft.com/office/infopath/2007/PartnerControls"/>
    </lcf76f155ced4ddcb4097134ff3c332f>
    <OneNoteFluid_FileOrder xmlns="0a5c0dea-e5d7-4228-9256-3793bb42faa5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443A8EF62DE444B1FF07917E22EF72" ma:contentTypeVersion="17" ma:contentTypeDescription="Create a new document." ma:contentTypeScope="" ma:versionID="ae809626c8abf568b6a415226af21ced">
  <xsd:schema xmlns:xsd="http://www.w3.org/2001/XMLSchema" xmlns:xs="http://www.w3.org/2001/XMLSchema" xmlns:p="http://schemas.microsoft.com/office/2006/metadata/properties" xmlns:ns1="http://schemas.microsoft.com/sharepoint/v3" xmlns:ns2="0a5c0dea-e5d7-4228-9256-3793bb42faa5" xmlns:ns3="97934b4b-eba6-486d-bfc1-4b8e3fe39092" targetNamespace="http://schemas.microsoft.com/office/2006/metadata/properties" ma:root="true" ma:fieldsID="1ffe3db4c8c97a24da98b2b5f963ec28" ns1:_="" ns2:_="" ns3:_="">
    <xsd:import namespace="http://schemas.microsoft.com/sharepoint/v3"/>
    <xsd:import namespace="0a5c0dea-e5d7-4228-9256-3793bb42faa5"/>
    <xsd:import namespace="97934b4b-eba6-486d-bfc1-4b8e3fe39092"/>
    <xsd:element name="properties">
      <xsd:complexType>
        <xsd:sequence>
          <xsd:element name="documentManagement">
            <xsd:complexType>
              <xsd:all>
                <xsd:element ref="ns2:OneNoteFluid_FileOrder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5c0dea-e5d7-4228-9256-3793bb42faa5" elementFormDefault="qualified">
    <xsd:import namespace="http://schemas.microsoft.com/office/2006/documentManagement/types"/>
    <xsd:import namespace="http://schemas.microsoft.com/office/infopath/2007/PartnerControls"/>
    <xsd:element name="OneNoteFluid_FileOrder" ma:index="8" nillable="true" ma:displayName="OneNoteFluid_FileOrder" ma:internalName="OneNoteFluid_FileOrder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934b4b-eba6-486d-bfc1-4b8e3fe3909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a885aa0b-334b-483f-9125-6409c6335a4b}" ma:internalName="TaxCatchAll" ma:showField="CatchAllData" ma:web="97934b4b-eba6-486d-bfc1-4b8e3fe3909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282ED70-2812-4AEA-B3D1-B9B7204CDC18}">
  <ds:schemaRefs/>
</ds:datastoreItem>
</file>

<file path=customXml/itemProps2.xml><?xml version="1.0" encoding="utf-8"?>
<ds:datastoreItem xmlns:ds="http://schemas.openxmlformats.org/officeDocument/2006/customXml" ds:itemID="{8B2CF345-0079-449D-8461-CEC7455F54DD}">
  <ds:schemaRefs/>
</ds:datastoreItem>
</file>

<file path=customXml/itemProps3.xml><?xml version="1.0" encoding="utf-8"?>
<ds:datastoreItem xmlns:ds="http://schemas.openxmlformats.org/officeDocument/2006/customXml" ds:itemID="{F5467BB9-3D7B-4457-AA5B-CE31D9D7CAD8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iSlide</Template>
  <TotalTime>87</TotalTime>
  <Words>1980</Words>
  <Application>Microsoft Office PowerPoint</Application>
  <PresentationFormat>宽屏</PresentationFormat>
  <Paragraphs>220</Paragraphs>
  <Slides>16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宋体</vt:lpstr>
      <vt:lpstr>Arial</vt:lpstr>
      <vt:lpstr>Calibri</vt:lpstr>
      <vt:lpstr>Cambria Math</vt:lpstr>
      <vt:lpstr>Consolas</vt:lpstr>
      <vt:lpstr>OfficePLUS主题</vt:lpstr>
      <vt:lpstr>编译技术实验专题报告</vt:lpstr>
      <vt:lpstr>编译器整体架构</vt:lpstr>
      <vt:lpstr>PowerPoint 演示文稿</vt:lpstr>
      <vt:lpstr>PowerPoint 演示文稿</vt:lpstr>
      <vt:lpstr>词法分析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Base>https://www.islide.cc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wang feiyang</cp:lastModifiedBy>
  <cp:revision>178</cp:revision>
  <cp:lastPrinted>2019-12-18T16:00:00Z</cp:lastPrinted>
  <dcterms:created xsi:type="dcterms:W3CDTF">2019-12-18T16:00:00Z</dcterms:created>
  <dcterms:modified xsi:type="dcterms:W3CDTF">2025-08-26T11:38:51Z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ContentTypeId">
    <vt:lpwstr>0x010100D1443A8EF62DE444B1FF07917E22EF72</vt:lpwstr>
  </property>
  <property fmtid="{D5CDD505-2E9C-101B-9397-08002B2CF9AE}" pid="4" name="ICV">
    <vt:lpwstr>8B6FB9306AC4418CAEACC9A10EB6E188_12</vt:lpwstr>
  </property>
  <property fmtid="{D5CDD505-2E9C-101B-9397-08002B2CF9AE}" pid="5" name="KSOProductBuildVer">
    <vt:lpwstr>2052-12.1.0.18276</vt:lpwstr>
  </property>
</Properties>
</file>