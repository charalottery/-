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85" r:id="rId20"/>
    <p:sldId id="290" r:id="rId21"/>
    <p:sldId id="267" r:id="rId22"/>
    <p:sldId id="275" r:id="rId23"/>
    <p:sldId id="276" r:id="rId24"/>
    <p:sldId id="277" r:id="rId25"/>
    <p:sldId id="278" r:id="rId26"/>
    <p:sldId id="279" r:id="rId27"/>
    <p:sldId id="292" r:id="rId28"/>
    <p:sldId id="282" r:id="rId29"/>
    <p:sldId id="286" r:id="rId30"/>
    <p:sldId id="283" r:id="rId31"/>
    <p:sldId id="280" r:id="rId32"/>
    <p:sldId id="281" r:id="rId33"/>
    <p:sldId id="284" r:id="rId34"/>
    <p:sldId id="294" r:id="rId35"/>
    <p:sldId id="287" r:id="rId36"/>
    <p:sldId id="295" r:id="rId37"/>
    <p:sldId id="303" r:id="rId38"/>
    <p:sldId id="296" r:id="rId39"/>
    <p:sldId id="304" r:id="rId40"/>
    <p:sldId id="305" r:id="rId41"/>
    <p:sldId id="306" r:id="rId42"/>
    <p:sldId id="307" r:id="rId43"/>
    <p:sldId id="308" r:id="rId44"/>
    <p:sldId id="310" r:id="rId45"/>
    <p:sldId id="309" r:id="rId46"/>
    <p:sldId id="311" r:id="rId47"/>
    <p:sldId id="293" r:id="rId48"/>
    <p:sldId id="291" r:id="rId49"/>
    <p:sldId id="297" r:id="rId50"/>
    <p:sldId id="298" r:id="rId51"/>
    <p:sldId id="299" r:id="rId52"/>
    <p:sldId id="300" r:id="rId53"/>
    <p:sldId id="301" r:id="rId54"/>
    <p:sldId id="302" r:id="rId55"/>
    <p:sldId id="288" r:id="rId56"/>
    <p:sldId id="289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822755149@qq.com" initials="1" lastIdx="1" clrIdx="0">
    <p:extLst>
      <p:ext uri="{19B8F6BF-5375-455C-9EA6-DF929625EA0E}">
        <p15:presenceInfo xmlns:p15="http://schemas.microsoft.com/office/powerpoint/2012/main" userId="44327bdbae081e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4" autoAdjust="0"/>
  </p:normalViewPr>
  <p:slideViewPr>
    <p:cSldViewPr snapToGrid="0">
      <p:cViewPr varScale="1">
        <p:scale>
          <a:sx n="71" d="100"/>
          <a:sy n="71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15T13:48:57.854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8F876-50CE-48EE-B274-55D24D0FD48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E3A02-2CF0-4C1B-965F-8674DA0859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396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我们介绍中间代码生成之前，首先先来回顾一下编译的各个阶段。在之前的讲座中，我们已经分别介绍了词法分析到语义分析的内容。此时，我们已经从开始的源代码，得到了一颗完整的语法树，以及一张符号表。再加上错误处理，保证了到此阶段是正确无误的，所以就可以放心地进行中间代码生成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E3A02-2CF0-4C1B-965F-8674DA0859D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200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我们这里要讲的，是使用 </a:t>
            </a:r>
            <a:r>
              <a:rPr lang="en-US" altLang="zh-CN" dirty="0"/>
              <a:t>LLVM IR </a:t>
            </a:r>
            <a:r>
              <a:rPr lang="zh-CN" altLang="en-US" dirty="0"/>
              <a:t>的中间代码生成。</a:t>
            </a:r>
            <a:r>
              <a:rPr lang="en-US" altLang="zh-CN" dirty="0"/>
              <a:t>LLVM </a:t>
            </a:r>
            <a:r>
              <a:rPr lang="zh-CN" altLang="en-US" dirty="0"/>
              <a:t>是一个完整的编译工具链技术，</a:t>
            </a:r>
            <a:r>
              <a:rPr lang="en-US" altLang="zh-CN" dirty="0"/>
              <a:t>LLVM IR </a:t>
            </a:r>
            <a:r>
              <a:rPr lang="zh-CN" altLang="en-US" dirty="0"/>
              <a:t>是其使用的中间代码。由于 </a:t>
            </a:r>
            <a:r>
              <a:rPr lang="en-US" altLang="zh-CN" dirty="0"/>
              <a:t>LLVM IR </a:t>
            </a:r>
            <a:r>
              <a:rPr lang="zh-CN" altLang="en-US" dirty="0"/>
              <a:t>结构良好，很容易扩展，非常适合学习。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E3A02-2CF0-4C1B-965F-8674DA0859D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85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LLVM </a:t>
            </a:r>
            <a:r>
              <a:rPr lang="zh-CN" altLang="en-US" dirty="0"/>
              <a:t>正是这样一种设计，其将编译分为前中后三端。大家之前已经实现了前端，现在就处于中端生成 </a:t>
            </a:r>
            <a:r>
              <a:rPr lang="en-US" altLang="zh-CN" dirty="0"/>
              <a:t>LLVM IR </a:t>
            </a:r>
            <a:r>
              <a:rPr lang="zh-CN" altLang="en-US" dirty="0"/>
              <a:t>的位置。在生成中间代码后，我们又会进行后端目标代码生成，以及代码优化等工作。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E3A02-2CF0-4C1B-965F-8674DA0859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2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下面，让我们来深入了解一下 </a:t>
            </a:r>
            <a:r>
              <a:rPr lang="en-US" altLang="zh-CN" dirty="0"/>
              <a:t>LLVM IR</a:t>
            </a:r>
            <a:r>
              <a:rPr lang="zh-CN" altLang="en-US" dirty="0"/>
              <a:t>。在 </a:t>
            </a:r>
            <a:r>
              <a:rPr lang="en-US" altLang="zh-CN" dirty="0"/>
              <a:t>LLVM IR </a:t>
            </a:r>
            <a:r>
              <a:rPr lang="zh-CN" altLang="en-US" dirty="0"/>
              <a:t>中，一直流传着一句话，“一切皆 </a:t>
            </a:r>
            <a:r>
              <a:rPr lang="en-US" altLang="zh-CN" dirty="0"/>
              <a:t>Value</a:t>
            </a:r>
            <a:r>
              <a:rPr lang="zh-CN" altLang="en-US" dirty="0"/>
              <a:t>”。什么意思呢？</a:t>
            </a:r>
            <a:endParaRPr lang="en-US" altLang="zh-CN" dirty="0"/>
          </a:p>
          <a:p>
            <a:r>
              <a:rPr lang="en-US" altLang="zh-CN" dirty="0"/>
              <a:t>LLVM </a:t>
            </a:r>
            <a:r>
              <a:rPr lang="zh-CN" altLang="en-US" dirty="0"/>
              <a:t>的实现使用了继承结构，其所有成分最终都由 </a:t>
            </a:r>
            <a:r>
              <a:rPr lang="en-US" altLang="zh-CN" dirty="0"/>
              <a:t>Value </a:t>
            </a:r>
            <a:r>
              <a:rPr lang="zh-CN" altLang="en-US" dirty="0"/>
              <a:t>类派生而来，因此十分灵活。</a:t>
            </a:r>
            <a:endParaRPr lang="en-US" altLang="zh-CN" dirty="0"/>
          </a:p>
          <a:p>
            <a:r>
              <a:rPr lang="zh-CN" altLang="en-US" dirty="0"/>
              <a:t>一个源文件对应 </a:t>
            </a:r>
            <a:r>
              <a:rPr lang="en-US" altLang="zh-CN" dirty="0"/>
              <a:t>LLVM IR </a:t>
            </a:r>
            <a:r>
              <a:rPr lang="zh-CN" altLang="en-US" dirty="0"/>
              <a:t>的一个构建单元，即 </a:t>
            </a:r>
            <a:r>
              <a:rPr lang="en-US" altLang="zh-CN" dirty="0"/>
              <a:t>Module</a:t>
            </a:r>
            <a:r>
              <a:rPr lang="zh-CN" altLang="en-US" dirty="0"/>
              <a:t>，其中所有的成分都是 </a:t>
            </a:r>
            <a:r>
              <a:rPr lang="en-US" altLang="zh-CN" dirty="0"/>
              <a:t>Value</a:t>
            </a:r>
            <a:r>
              <a:rPr lang="zh-CN" altLang="en-US" dirty="0"/>
              <a:t>，从而相互之间引用非常方便。</a:t>
            </a:r>
            <a:endParaRPr lang="en-US" altLang="zh-CN" dirty="0"/>
          </a:p>
          <a:p>
            <a:r>
              <a:rPr lang="zh-CN" altLang="en-US" dirty="0"/>
              <a:t>我们刚才看到的，有全局变量、函数，基本块以及指令，都是</a:t>
            </a:r>
            <a:r>
              <a:rPr lang="en-US" altLang="zh-CN" dirty="0"/>
              <a:t> Value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其中，</a:t>
            </a:r>
            <a:r>
              <a:rPr lang="en-US" altLang="zh-CN" dirty="0"/>
              <a:t>Value </a:t>
            </a:r>
            <a:r>
              <a:rPr lang="zh-CN" altLang="en-US" dirty="0"/>
              <a:t>有一个特殊的子类，叫做 </a:t>
            </a:r>
            <a:r>
              <a:rPr lang="en-US" altLang="zh-CN" dirty="0"/>
              <a:t>User</a:t>
            </a:r>
            <a:r>
              <a:rPr lang="zh-CN" altLang="en-US" dirty="0"/>
              <a:t>。从字面意思也很好理解，继承自 </a:t>
            </a:r>
            <a:r>
              <a:rPr lang="en-US" altLang="zh-CN" dirty="0"/>
              <a:t>Value </a:t>
            </a:r>
            <a:r>
              <a:rPr lang="zh-CN" altLang="en-US" dirty="0"/>
              <a:t>的类都只能作为“值”，而只有 </a:t>
            </a:r>
            <a:r>
              <a:rPr lang="en-US" altLang="zh-CN" dirty="0"/>
              <a:t>User </a:t>
            </a:r>
            <a:r>
              <a:rPr lang="zh-CN" altLang="en-US" dirty="0"/>
              <a:t>才能使用这些 </a:t>
            </a:r>
            <a:r>
              <a:rPr lang="en-US" altLang="zh-CN" dirty="0"/>
              <a:t>Value</a:t>
            </a:r>
            <a:r>
              <a:rPr lang="zh-CN" altLang="en-US" dirty="0"/>
              <a:t>。于是，就引出了我们下一个话题，</a:t>
            </a:r>
            <a:r>
              <a:rPr lang="en-US" altLang="zh-CN" dirty="0"/>
              <a:t>Use-Def </a:t>
            </a:r>
            <a:r>
              <a:rPr lang="zh-CN" altLang="en-US" dirty="0"/>
              <a:t>链。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E3A02-2CF0-4C1B-965F-8674DA0859D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46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D9C67-8B89-4AAE-B82B-D2F81C975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329EC6-3B95-4E3F-B9AD-AFDD35152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29C6F-734C-43BC-BDCF-E029E1F7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096BF-C3EE-45A0-AA9D-756D6332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EBFDB9-A047-4559-A67E-5EBC278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10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B66AA-9BF8-437E-BD7C-F10B043F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1B5F6-1817-45EF-8F4A-E288690E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15E91-A9EA-426C-9098-A7C0F6BD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3E4FF2-5DCA-423B-BA78-EEA4119F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42938F-6CAC-40EB-906D-428B67E2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6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29056-A8EC-4B9A-906F-77C8BDD1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E5B88F-2C7D-44AE-B7E4-1C9D51D84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FC2DD-9DC1-4C96-B20D-C910A8C6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678BF-E2A6-4ACE-B10A-3DE0F94D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7D806-92C7-43BB-81C3-651B7210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0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35F22-C828-4F22-BF86-E74C1019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CC924-500B-4D7B-9B55-8A1672813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10257E-CCD3-4679-96D1-BC4E1BD35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479CCC-425A-45B4-92E1-D0F6CEA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C58F9-DB1C-40F4-81CC-BCC3061F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BBD4E1-F795-4DF5-8D13-C3919C9A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7E55-B94C-47C5-A46E-ED131D56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0BBED-8930-4C60-80D6-D3C165024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882F00-ABBE-40F0-B513-7F553692B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2594C8-2C6C-4A84-9450-59F81D8BB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92FF8E-AA0B-4042-8E21-5FC8A7E9A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12B2F3-14A5-4498-93A7-DE2F1CCEC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9B5F86-A405-4A2A-AAA6-A5738174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59FBAB-43EE-47BB-B4E7-6CB60E76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2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F6992-9BE6-4C7A-8E31-61C7D31E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98EA38-1F45-482B-A808-17E159C3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8F1B54-1AB7-4F61-BFCF-92D5CF86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5B406C-3466-4D20-BD9C-79B9F274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3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3CE4A8-E961-4EBB-8F32-05EDA482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030A17-3BB5-4D60-8F8C-4E33AF33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9BD6B-DC30-4EC6-8600-FF374E23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39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A52CD-2E47-4A57-9F29-62560759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ED8D1-022D-475E-92D4-669DC8F30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D8ED8-1871-49B9-A116-9C0BCC4D1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0F4608-5B10-4775-96ED-D059EF2B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9F42F8-A2D4-4984-AAE4-FB889993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7D6BF-F23D-4B4C-8A2C-E1E7935D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88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99363-276D-4955-92C7-25EF4755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E560C4-94F9-4E9C-B89D-A96B5C1CD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B25ED3-2F2C-432D-96BF-12737DD9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D37C97-AAAF-4199-96A6-737C8B90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FC8292-B2FD-4DA0-B185-61D0884F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35D0FB-77AE-45EE-B61B-96D479DA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18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F9B66-6125-4D95-A867-EECD8512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1AE1A6-D9C6-4F07-B3CD-E90D999F8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ECB0D-0A9A-4C74-AC17-CA6B70B2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45497-A0A4-4BED-B85C-9B345787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AADD1-3FA8-4736-888E-0C3E48B3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35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86E084-0D38-49CC-B08E-6F9A63D40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77AA01-F046-4C80-8AD6-B366A553A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808A29-9B36-4B7D-8325-6BFDE204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E6DFA5-4A23-4724-8D56-2EAB77B2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2188C3-2E98-4EEF-AEA1-351051A4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76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AE852E-DB2C-4391-AAAF-E7B93B51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686A57-54B6-4DF9-A188-832973D0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628D9-EF54-43DC-BD0A-19C03B881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4471F-B793-46CD-A683-0E07B7A0CB8E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CC71C6-747D-4F4A-AB9D-BC04497BB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F79181-4A8E-4A95-B5F3-B6E57ACEA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D69B0-43F7-4DFD-B519-2F5684BC6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28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oxygen/classllvm_1_1Value.html" TargetMode="External"/><Relationship Id="rId2" Type="http://schemas.openxmlformats.org/officeDocument/2006/relationships/hyperlink" Target="https://github.com/wokron/tolangc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llvm/llvm-project" TargetMode="External"/><Relationship Id="rId5" Type="http://schemas.openxmlformats.org/officeDocument/2006/relationships/hyperlink" Target="https://github.com/llvm-mirror/llvm" TargetMode="External"/><Relationship Id="rId4" Type="http://schemas.openxmlformats.org/officeDocument/2006/relationships/hyperlink" Target="https://llvm.org/doxygen/classllvm_1_1Type.html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CBB14-CC12-4EB6-99F7-F238B7FA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032" y="1806677"/>
            <a:ext cx="9733935" cy="3244646"/>
          </a:xfrm>
        </p:spPr>
        <p:txBody>
          <a:bodyPr>
            <a:normAutofit/>
          </a:bodyPr>
          <a:lstStyle/>
          <a:p>
            <a:r>
              <a:rPr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中间代码生成</a:t>
            </a:r>
            <a:b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87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35CD63-E142-4EEA-A84F-561BE93F751A}"/>
              </a:ext>
            </a:extLst>
          </p:cNvPr>
          <p:cNvSpPr txBox="1"/>
          <p:nvPr/>
        </p:nvSpPr>
        <p:spPr>
          <a:xfrm>
            <a:off x="3077496" y="569467"/>
            <a:ext cx="6037007" cy="5719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前情提要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词法分析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语法分析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语义分析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中间代码生成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代码优化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目标代码生成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372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6F8BB8-220C-4738-9164-A3BF17953EB5}"/>
              </a:ext>
            </a:extLst>
          </p:cNvPr>
          <p:cNvSpPr txBox="1"/>
          <p:nvPr/>
        </p:nvSpPr>
        <p:spPr>
          <a:xfrm>
            <a:off x="1749910" y="441064"/>
            <a:ext cx="8692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为什么要有中间代码生成？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CA5822-98EC-4750-A5F0-02218D601CF3}"/>
              </a:ext>
            </a:extLst>
          </p:cNvPr>
          <p:cNvSpPr txBox="1"/>
          <p:nvPr/>
        </p:nvSpPr>
        <p:spPr>
          <a:xfrm>
            <a:off x="475129" y="1678193"/>
            <a:ext cx="112417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中间代码是源代码无关，同时也是目标代码无关的代码。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可以将中间代码理解为对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程序逻辑的概括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不关注具体的表现形式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开发更加方便。假设有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种高级语言，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种目标语言，不使用中间代码，编译器的开发时间复杂度是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O(M * 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；使用中间代码，就变成了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O(M + N)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优化更加自然。由于中间代码是程序逻辑的表示，其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剥离了复杂的语法结构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，可以更好地发现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潜在优化点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。由于中间代码是程序逻辑的表示，更加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便于人类阅读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，我们可以更好地检查翻译后的程序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是否是语义不变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</a:p>
        </p:txBody>
      </p:sp>
    </p:spTree>
    <p:extLst>
      <p:ext uri="{BB962C8B-B14F-4D97-AF65-F5344CB8AC3E}">
        <p14:creationId xmlns:p14="http://schemas.microsoft.com/office/powerpoint/2010/main" val="269520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E097289E-4777-4CD5-BBD7-6F13879D7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149" y="481404"/>
            <a:ext cx="9586309" cy="340210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EFBBCD-5EB3-4E10-A8FD-EF3798A6BD7D}"/>
              </a:ext>
            </a:extLst>
          </p:cNvPr>
          <p:cNvSpPr txBox="1"/>
          <p:nvPr/>
        </p:nvSpPr>
        <p:spPr>
          <a:xfrm>
            <a:off x="925158" y="4539727"/>
            <a:ext cx="1017673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：没有什么是加一层无法解决的；如果有，那就再加一层！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Springboot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层结构、计算机网络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层结构设计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28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D2022C-BC80-4EF8-8C6F-94FF511C7234}"/>
              </a:ext>
            </a:extLst>
          </p:cNvPr>
          <p:cNvSpPr txBox="1"/>
          <p:nvPr/>
        </p:nvSpPr>
        <p:spPr>
          <a:xfrm>
            <a:off x="1965960" y="400050"/>
            <a:ext cx="84239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C77247-5435-4FFC-BA88-948717853148}"/>
              </a:ext>
            </a:extLst>
          </p:cNvPr>
          <p:cNvSpPr txBox="1"/>
          <p:nvPr/>
        </p:nvSpPr>
        <p:spPr>
          <a:xfrm>
            <a:off x="748665" y="1447072"/>
            <a:ext cx="108585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并不是缩写，其指的是 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Compiler Infrastructure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，即编译器基础设施，提供了一系列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模块化可复用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的编译工具链技术。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最初为 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Illinois 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大学的研究项目，目的是提供一种编译策略，从而支持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任意编程语言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的静态或动态编译。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出色的设计，其在各类编译器中都得到了广泛的使用，是被实践证实了的，关于中间代码生成的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先进设计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913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718D4D4-456A-4199-9332-3CEA85534A2F}"/>
              </a:ext>
            </a:extLst>
          </p:cNvPr>
          <p:cNvSpPr txBox="1"/>
          <p:nvPr/>
        </p:nvSpPr>
        <p:spPr>
          <a:xfrm>
            <a:off x="955632" y="921596"/>
            <a:ext cx="1062728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工具链采用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三端架构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，其使用的中间代码形式就叫做 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编译前后端的解耦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可以方便地将各种语言编译为不同平台的目标代码。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Content Placeholder 12">
            <a:extLst>
              <a:ext uri="{FF2B5EF4-FFF2-40B4-BE49-F238E27FC236}">
                <a16:creationId xmlns:a16="http://schemas.microsoft.com/office/drawing/2014/main" id="{06DF8F33-CA5A-40EB-9905-110728151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16" y="2526229"/>
            <a:ext cx="1042751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74C40C-BE7C-4F55-9AD1-37BF6121E3A4}"/>
              </a:ext>
            </a:extLst>
          </p:cNvPr>
          <p:cNvSpPr txBox="1"/>
          <p:nvPr/>
        </p:nvSpPr>
        <p:spPr>
          <a:xfrm>
            <a:off x="3761591" y="139850"/>
            <a:ext cx="4668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WARNING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A21470-E27C-4484-A245-04E35559862E}"/>
              </a:ext>
            </a:extLst>
          </p:cNvPr>
          <p:cNvSpPr txBox="1"/>
          <p:nvPr/>
        </p:nvSpPr>
        <p:spPr>
          <a:xfrm>
            <a:off x="453614" y="1519717"/>
            <a:ext cx="112847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内容十分丰富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。正如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的设计初衷，其支持任意语言的编译过程，这也就代表着，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的部分设计抽象层次高，内容多，同学们必须要进行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个性化裁剪。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有严格地规范。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在编译器的其他阶段，同学们都可以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随心所欲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地进行设计，但是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想要执行是有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十分严格的要求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的，你必须按照它的规则进行生成。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完善的类型系统。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我们的文法中虽然只有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类型，但是在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中，除了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类型，还会引入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类型（先前还有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类型），而且也会引入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，这对于同学们深入理解编译有着很好的锻炼作用，但难免会经历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优化上限极高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，但是由于对于大部分的同学而言，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 IR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是全新的，不是自己原初的设计，所以优化思路可能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反而受其限制。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25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4E5F67-C8BD-4B4F-920B-356EF70551F3}"/>
              </a:ext>
            </a:extLst>
          </p:cNvPr>
          <p:cNvSpPr txBox="1"/>
          <p:nvPr/>
        </p:nvSpPr>
        <p:spPr>
          <a:xfrm>
            <a:off x="4010415" y="237994"/>
            <a:ext cx="3630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4400" b="1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106641-8CE2-4F2C-8398-84286C07D5A4}"/>
              </a:ext>
            </a:extLst>
          </p:cNvPr>
          <p:cNvSpPr txBox="1"/>
          <p:nvPr/>
        </p:nvSpPr>
        <p:spPr>
          <a:xfrm>
            <a:off x="2718148" y="1192483"/>
            <a:ext cx="7612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clang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-S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-emit-llvm main.c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-o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main.ll  </a:t>
            </a:r>
            <a:r>
              <a:rPr lang="pt-BR" altLang="zh-CN" b="0" i="1" dirty="0">
                <a:solidFill>
                  <a:srgbClr val="9FA0A6"/>
                </a:solidFill>
                <a:effectLst/>
                <a:latin typeface="Consolas" panose="020B0609020204030204" pitchFamily="49" charset="0"/>
              </a:rPr>
              <a:t># 生成 LLVM IR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64E775-AFF3-467A-B599-705C78ED2AB4}"/>
              </a:ext>
            </a:extLst>
          </p:cNvPr>
          <p:cNvSpPr txBox="1"/>
          <p:nvPr/>
        </p:nvSpPr>
        <p:spPr>
          <a:xfrm>
            <a:off x="1243207" y="2928330"/>
            <a:ext cx="6093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x,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y) 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y;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BFA5AC-2472-414F-9FAB-76878B626D13}"/>
              </a:ext>
            </a:extLst>
          </p:cNvPr>
          <p:cNvSpPr txBox="1"/>
          <p:nvPr/>
        </p:nvSpPr>
        <p:spPr>
          <a:xfrm>
            <a:off x="5230661" y="2305046"/>
            <a:ext cx="6093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15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7709790-316E-4C7D-B713-58914CAD3811}"/>
              </a:ext>
            </a:extLst>
          </p:cNvPr>
          <p:cNvSpPr txBox="1"/>
          <p:nvPr/>
        </p:nvSpPr>
        <p:spPr>
          <a:xfrm>
            <a:off x="729641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{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%3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%4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i32 %0,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i32 %1,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%5 = load i32,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%6 = load i32,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%7 = add i32 %5, %6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ret i32 %7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801292-1E92-43AA-A57E-85C99C775B77}"/>
              </a:ext>
            </a:extLst>
          </p:cNvPr>
          <p:cNvSpPr txBox="1"/>
          <p:nvPr/>
        </p:nvSpPr>
        <p:spPr>
          <a:xfrm>
            <a:off x="6652364" y="1433909"/>
            <a:ext cx="4722313" cy="326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定义全局变量 </a:t>
            </a:r>
            <a:r>
              <a:rPr lang="en-US" altLang="zh-CN" sz="20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，类型为 </a:t>
            </a:r>
            <a:r>
              <a:rPr lang="en-US" altLang="zh-CN" sz="20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20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，初值为 </a:t>
            </a:r>
            <a:r>
              <a:rPr lang="en-US" altLang="zh-CN" sz="20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全局变量、函数通过前缀 </a:t>
            </a:r>
            <a:r>
              <a:rPr lang="en-US" altLang="zh-CN" sz="20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sz="20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表示，其本质是一个</a:t>
            </a:r>
            <a:r>
              <a:rPr lang="zh-CN" altLang="en-US" sz="20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地址（指针！）</a:t>
            </a:r>
            <a:endParaRPr lang="en-US" altLang="zh-CN" sz="2000" b="1" i="0" dirty="0">
              <a:solidFill>
                <a:srgbClr val="38394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dso_local</a:t>
            </a:r>
            <a:r>
              <a:rPr lang="en-US" altLang="zh-CN" sz="20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表示在同一个链接单元内解析</a:t>
            </a:r>
            <a:endParaRPr lang="en-US" altLang="zh-CN" sz="20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global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表示全局变量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位整型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align 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表示四字节对齐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2766DA-6A01-4388-8C94-A830B61D20BD}"/>
              </a:ext>
            </a:extLst>
          </p:cNvPr>
          <p:cNvSpPr txBox="1"/>
          <p:nvPr/>
        </p:nvSpPr>
        <p:spPr>
          <a:xfrm>
            <a:off x="6652364" y="5348614"/>
            <a:ext cx="5838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align 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不是必须的</a:t>
            </a:r>
          </a:p>
        </p:txBody>
      </p:sp>
    </p:spTree>
    <p:extLst>
      <p:ext uri="{BB962C8B-B14F-4D97-AF65-F5344CB8AC3E}">
        <p14:creationId xmlns:p14="http://schemas.microsoft.com/office/powerpoint/2010/main" val="226633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043CB72-6A6A-449E-90F8-CC3B527D512A}"/>
              </a:ext>
            </a:extLst>
          </p:cNvPr>
          <p:cNvSpPr txBox="1"/>
          <p:nvPr/>
        </p:nvSpPr>
        <p:spPr>
          <a:xfrm>
            <a:off x="679537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dso_local global i32 1, align 4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@add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E0B4E-AED4-4A2F-8290-A5E8B45B3EBC}"/>
              </a:ext>
            </a:extLst>
          </p:cNvPr>
          <p:cNvSpPr txBox="1"/>
          <p:nvPr/>
        </p:nvSpPr>
        <p:spPr>
          <a:xfrm>
            <a:off x="6098088" y="2731986"/>
            <a:ext cx="609391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，包含返回值以及参数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局部变量（以及参数）通过 </a:t>
            </a:r>
            <a:r>
              <a:rPr lang="en-US" altLang="zh-CN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前缀表示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94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12A261-4437-4F05-84EE-F31300C55ECD}"/>
              </a:ext>
            </a:extLst>
          </p:cNvPr>
          <p:cNvSpPr txBox="1"/>
          <p:nvPr/>
        </p:nvSpPr>
        <p:spPr>
          <a:xfrm>
            <a:off x="742167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global i32 1,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3337A3-62BD-4323-A8C3-9F271CD75DC5}"/>
              </a:ext>
            </a:extLst>
          </p:cNvPr>
          <p:cNvSpPr txBox="1"/>
          <p:nvPr/>
        </p:nvSpPr>
        <p:spPr>
          <a:xfrm>
            <a:off x="6600922" y="1417659"/>
            <a:ext cx="4725370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函数体由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一系列基本块组成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（此处只有一个）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基本块由一系列指令组成，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一定以一个跳转语句结束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（跳转、分支、返回）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84CEFE-C82A-4E5D-82BF-F38D6EF3FDEB}"/>
              </a:ext>
            </a:extLst>
          </p:cNvPr>
          <p:cNvSpPr txBox="1"/>
          <p:nvPr/>
        </p:nvSpPr>
        <p:spPr>
          <a:xfrm>
            <a:off x="6600922" y="4902982"/>
            <a:ext cx="439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不要求一个基本块必须要有跳转语句，在那种情况下，就会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顺序执行。</a:t>
            </a:r>
          </a:p>
        </p:txBody>
      </p:sp>
    </p:spTree>
    <p:extLst>
      <p:ext uri="{BB962C8B-B14F-4D97-AF65-F5344CB8AC3E}">
        <p14:creationId xmlns:p14="http://schemas.microsoft.com/office/powerpoint/2010/main" val="49300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C407265-389C-4EF6-A710-5D13B4261AD5}"/>
              </a:ext>
            </a:extLst>
          </p:cNvPr>
          <p:cNvSpPr txBox="1"/>
          <p:nvPr/>
        </p:nvSpPr>
        <p:spPr>
          <a:xfrm>
            <a:off x="804797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global i32 1,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i32 %0,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i32 %1,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%5 = load i32,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%6 = load i32,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%7 = add i32 %5, %6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ret i32 %7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F9BA46-3DB3-4330-AB2E-F88B718519F8}"/>
              </a:ext>
            </a:extLst>
          </p:cNvPr>
          <p:cNvSpPr txBox="1"/>
          <p:nvPr/>
        </p:nvSpPr>
        <p:spPr>
          <a:xfrm>
            <a:off x="6526060" y="-290405"/>
            <a:ext cx="5332956" cy="6121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b="0" i="0" dirty="0">
              <a:solidFill>
                <a:srgbClr val="38394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 IR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类似四元式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，由返回值、操作符，以及参数组成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表示分配内存，对应局部变量的声明，其返回值为变量对应的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，这里分配了两个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位整型变量，类型为 </a:t>
            </a:r>
            <a:r>
              <a:rPr lang="en-US" altLang="zh-CN" sz="2400" b="0" i="0" dirty="0">
                <a:solidFill>
                  <a:srgbClr val="B66A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en-US" altLang="zh-CN" sz="2400" b="0" i="0" dirty="0">
                <a:solidFill>
                  <a:srgbClr val="38394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 IR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中，所有中间结果都被显式表示出来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466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80C04E7-2E73-45F7-ACE1-CF20F3D5836D}"/>
              </a:ext>
            </a:extLst>
          </p:cNvPr>
          <p:cNvSpPr txBox="1"/>
          <p:nvPr/>
        </p:nvSpPr>
        <p:spPr>
          <a:xfrm>
            <a:off x="566803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dso_local global i32 1, align 4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dso_local i32 @add(i32 %0, i32 %1) {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%3 = alloca i32, align 4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%4 = alloca i32, align 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%0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%5 = load i32, i32* %3, align 4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%6 = load i32, i32* %4, align 4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%7 = add i32 %5, %6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ret i32 %7</a:t>
            </a:r>
            <a:br>
              <a:rPr lang="en-US" altLang="zh-CN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EBA8AB-3852-461A-8179-98AF76463B91}"/>
              </a:ext>
            </a:extLst>
          </p:cNvPr>
          <p:cNvSpPr txBox="1"/>
          <p:nvPr/>
        </p:nvSpPr>
        <p:spPr>
          <a:xfrm>
            <a:off x="5652370" y="2584474"/>
            <a:ext cx="6093912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指令将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变量保存至指定地址</a:t>
            </a:r>
            <a:endParaRPr lang="en-US" altLang="zh-CN" sz="2400" b="1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</a:t>
            </a:r>
            <a:r>
              <a:rPr lang="en-US" altLang="zh-CN" sz="2400" dirty="0" err="1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指令的返回值类型为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i32*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，是一个地址，即指向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类型的指针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337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74FD926-1C8C-4510-98BC-A1501C9B5AA2}"/>
              </a:ext>
            </a:extLst>
          </p:cNvPr>
          <p:cNvSpPr txBox="1"/>
          <p:nvPr/>
        </p:nvSpPr>
        <p:spPr>
          <a:xfrm>
            <a:off x="540707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global i32 1,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{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%3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%4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i32 %0,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i32 %1, i32* %4, align 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%7 = add i32 %5, %6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ret i32 %7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81FBB3-5391-4C12-9648-75BBD95020C5}"/>
              </a:ext>
            </a:extLst>
          </p:cNvPr>
          <p:cNvSpPr txBox="1"/>
          <p:nvPr/>
        </p:nvSpPr>
        <p:spPr>
          <a:xfrm>
            <a:off x="5557381" y="3314602"/>
            <a:ext cx="609391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指令加载指定地址的值，与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635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A395CFD-9D62-4AD8-BEFD-9D9B6B466EA2}"/>
              </a:ext>
            </a:extLst>
          </p:cNvPr>
          <p:cNvSpPr txBox="1"/>
          <p:nvPr/>
        </p:nvSpPr>
        <p:spPr>
          <a:xfrm>
            <a:off x="717115" y="912093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global i32 1,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{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%3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%4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i32 %0,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i32 %1,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%5 = load i32,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%6 = load i32, i32* %4, align 4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%6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ret i32 %7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917DA1-85B8-4237-B669-6E057425D7EE}"/>
              </a:ext>
            </a:extLst>
          </p:cNvPr>
          <p:cNvSpPr txBox="1"/>
          <p:nvPr/>
        </p:nvSpPr>
        <p:spPr>
          <a:xfrm>
            <a:off x="5927941" y="3303740"/>
            <a:ext cx="609391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指令将两个变量相加，返回其和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20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D4FB86-CDF7-4323-9B97-D3CA336BCC53}"/>
              </a:ext>
            </a:extLst>
          </p:cNvPr>
          <p:cNvSpPr txBox="1"/>
          <p:nvPr/>
        </p:nvSpPr>
        <p:spPr>
          <a:xfrm>
            <a:off x="516698" y="1027958"/>
            <a:ext cx="6093912" cy="503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@a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global i32 1,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@add(i32 %0, i32 %1) {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%3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%4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i32 %0,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store i32 %1,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%5 = load i32, i32* %3,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%6 = load i32, i32* %4, align 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%7 = add i32 %5, %6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%7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B2E6B7-2416-4B53-BD0A-434BCD8F7095}"/>
              </a:ext>
            </a:extLst>
          </p:cNvPr>
          <p:cNvSpPr txBox="1"/>
          <p:nvPr/>
        </p:nvSpPr>
        <p:spPr>
          <a:xfrm>
            <a:off x="5451953" y="3101421"/>
            <a:ext cx="609391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指令对应 </a:t>
            </a: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en-US" sz="2400" b="1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基本块的结束，也是函数的结束</a:t>
            </a:r>
            <a:endParaRPr lang="en-US" altLang="zh-CN" sz="2400" b="1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00FC4E-3B82-4573-BBE6-3F5D7144A495}"/>
              </a:ext>
            </a:extLst>
          </p:cNvPr>
          <p:cNvSpPr txBox="1"/>
          <p:nvPr/>
        </p:nvSpPr>
        <p:spPr>
          <a:xfrm>
            <a:off x="5451953" y="5148197"/>
            <a:ext cx="573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注意：即使是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函数也需要有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458967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5038BC-9A1E-4E10-857F-A39E7C01A341}"/>
              </a:ext>
            </a:extLst>
          </p:cNvPr>
          <p:cNvSpPr txBox="1"/>
          <p:nvPr/>
        </p:nvSpPr>
        <p:spPr>
          <a:xfrm>
            <a:off x="717115" y="1177016"/>
            <a:ext cx="6093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sum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470291-91A0-447F-A9E7-4EFBE4DA732E}"/>
              </a:ext>
            </a:extLst>
          </p:cNvPr>
          <p:cNvSpPr txBox="1"/>
          <p:nvPr/>
        </p:nvSpPr>
        <p:spPr>
          <a:xfrm>
            <a:off x="717115" y="3358329"/>
            <a:ext cx="6093912" cy="254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@main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() 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@add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CA65F6-A5F5-4430-8198-2B36AAE11EFE}"/>
              </a:ext>
            </a:extLst>
          </p:cNvPr>
          <p:cNvSpPr txBox="1"/>
          <p:nvPr/>
        </p:nvSpPr>
        <p:spPr>
          <a:xfrm>
            <a:off x="5380973" y="2654344"/>
            <a:ext cx="609391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</a:t>
            </a:r>
            <a:r>
              <a:rPr lang="zh-CN" altLang="en-US" sz="2400" dirty="0">
                <a:solidFill>
                  <a:srgbClr val="3839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指令进行函数调用，返回类型与被调用函数一致</a:t>
            </a:r>
            <a:endParaRPr lang="en-US" altLang="zh-CN" sz="2400" dirty="0">
              <a:solidFill>
                <a:srgbClr val="3839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877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D6CD16-121E-455F-9857-8AA5EE951BE0}"/>
              </a:ext>
            </a:extLst>
          </p:cNvPr>
          <p:cNvSpPr txBox="1"/>
          <p:nvPr/>
        </p:nvSpPr>
        <p:spPr>
          <a:xfrm>
            <a:off x="2304789" y="1929008"/>
            <a:ext cx="74404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初见端倪</a:t>
            </a:r>
          </a:p>
        </p:txBody>
      </p:sp>
    </p:spTree>
    <p:extLst>
      <p:ext uri="{BB962C8B-B14F-4D97-AF65-F5344CB8AC3E}">
        <p14:creationId xmlns:p14="http://schemas.microsoft.com/office/powerpoint/2010/main" val="138604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7E2B8A8-66C5-4184-A036-73DCBED5C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6966" y="685800"/>
            <a:ext cx="7741086" cy="5486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620811F-F653-428C-9D89-3A7EB5978BF2}"/>
              </a:ext>
            </a:extLst>
          </p:cNvPr>
          <p:cNvSpPr txBox="1"/>
          <p:nvPr/>
        </p:nvSpPr>
        <p:spPr>
          <a:xfrm>
            <a:off x="662651" y="2842113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一切皆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4985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E819D1-5C0E-48E9-AFE9-8D86336D8372}"/>
              </a:ext>
            </a:extLst>
          </p:cNvPr>
          <p:cNvSpPr txBox="1"/>
          <p:nvPr/>
        </p:nvSpPr>
        <p:spPr>
          <a:xfrm>
            <a:off x="1518621" y="2921168"/>
            <a:ext cx="9154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一切皆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的深入理解</a:t>
            </a:r>
          </a:p>
        </p:txBody>
      </p:sp>
    </p:spTree>
    <p:extLst>
      <p:ext uri="{BB962C8B-B14F-4D97-AF65-F5344CB8AC3E}">
        <p14:creationId xmlns:p14="http://schemas.microsoft.com/office/powerpoint/2010/main" val="2975834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68B4580-A212-473A-81D5-EF64834D2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67" y="992529"/>
            <a:ext cx="9728665" cy="48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CB28901-5554-4F59-AFE4-D58717D0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20" y="396708"/>
            <a:ext cx="9461967" cy="60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6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66CFE7-2BD4-46BD-82F9-72B4A78A140D}"/>
              </a:ext>
            </a:extLst>
          </p:cNvPr>
          <p:cNvSpPr txBox="1"/>
          <p:nvPr/>
        </p:nvSpPr>
        <p:spPr>
          <a:xfrm>
            <a:off x="1594789" y="1382286"/>
            <a:ext cx="90024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两个重要发现：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基本块自身也是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编号（作为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被使用）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的，其可以被有条件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无条件跳转语句使用；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有一个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统一的返回块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基本块关系的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最终块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，便于到达定义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活跃变量分析</a:t>
            </a:r>
          </a:p>
        </p:txBody>
      </p:sp>
    </p:spTree>
    <p:extLst>
      <p:ext uri="{BB962C8B-B14F-4D97-AF65-F5344CB8AC3E}">
        <p14:creationId xmlns:p14="http://schemas.microsoft.com/office/powerpoint/2010/main" val="3844021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5616C66-078F-4149-8DE8-9A80EC6E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77" y="844952"/>
            <a:ext cx="10372454" cy="504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99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F975BD-087F-4AAC-AA62-0FD90DE1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7" y="185285"/>
            <a:ext cx="7773485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60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D6718C-1CE2-4176-BF62-7BFF39E60CAB}"/>
              </a:ext>
            </a:extLst>
          </p:cNvPr>
          <p:cNvSpPr txBox="1"/>
          <p:nvPr/>
        </p:nvSpPr>
        <p:spPr>
          <a:xfrm>
            <a:off x="1738131" y="2257063"/>
            <a:ext cx="87157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问题：短路求值引入了在源代码中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没有的基本块</a:t>
            </a:r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思考应该如何维护符号表与基本块之间的关系！</a:t>
            </a:r>
          </a:p>
        </p:txBody>
      </p:sp>
    </p:spTree>
    <p:extLst>
      <p:ext uri="{BB962C8B-B14F-4D97-AF65-F5344CB8AC3E}">
        <p14:creationId xmlns:p14="http://schemas.microsoft.com/office/powerpoint/2010/main" val="3273633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D21266C-DE91-447B-B105-12A1F77077CF}"/>
              </a:ext>
            </a:extLst>
          </p:cNvPr>
          <p:cNvSpPr txBox="1"/>
          <p:nvPr/>
        </p:nvSpPr>
        <p:spPr>
          <a:xfrm>
            <a:off x="421709" y="3013501"/>
            <a:ext cx="113485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SSA</a:t>
            </a:r>
            <a:r>
              <a:rPr lang="zh-CN" altLang="zh-CN" sz="4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sz="4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Single Static Assignment form</a:t>
            </a:r>
            <a:r>
              <a:rPr lang="zh-CN" altLang="zh-CN" sz="4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zh-CN" sz="4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71981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EA2C5C-BE00-4D8B-B916-BDFEDE8473A1}"/>
              </a:ext>
            </a:extLst>
          </p:cNvPr>
          <p:cNvSpPr txBox="1"/>
          <p:nvPr/>
        </p:nvSpPr>
        <p:spPr>
          <a:xfrm>
            <a:off x="1947123" y="1950625"/>
            <a:ext cx="1687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a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b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a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b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6" name="Graphic 13" descr="Close with solid fill">
            <a:extLst>
              <a:ext uri="{FF2B5EF4-FFF2-40B4-BE49-F238E27FC236}">
                <a16:creationId xmlns:a16="http://schemas.microsoft.com/office/drawing/2014/main" id="{01903112-45CC-4920-845A-A3F98E72E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508" y="2693754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5A8D00-921F-40C5-BFE2-20A5578531DD}"/>
              </a:ext>
            </a:extLst>
          </p:cNvPr>
          <p:cNvSpPr txBox="1"/>
          <p:nvPr/>
        </p:nvSpPr>
        <p:spPr>
          <a:xfrm>
            <a:off x="6282806" y="1963810"/>
            <a:ext cx="1909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a0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b0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a0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a1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lang="pt-BR" altLang="zh-CN" dirty="0">
                <a:latin typeface="Consolas" panose="020B0609020204030204" pitchFamily="49" charset="0"/>
              </a:rPr>
            </a:b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b1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a1 </a:t>
            </a:r>
            <a:r>
              <a:rPr lang="pt-BR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9" name="Graphic 15" descr="Checkmark with solid fill">
            <a:extLst>
              <a:ext uri="{FF2B5EF4-FFF2-40B4-BE49-F238E27FC236}">
                <a16:creationId xmlns:a16="http://schemas.microsoft.com/office/drawing/2014/main" id="{8B07FD3D-0042-47B3-BC75-7CDC02091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6479" y="2693754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0CD6252-E850-4B89-B2D3-15C6E6CD6EF8}"/>
              </a:ext>
            </a:extLst>
          </p:cNvPr>
          <p:cNvSpPr txBox="1"/>
          <p:nvPr/>
        </p:nvSpPr>
        <p:spPr>
          <a:xfrm>
            <a:off x="1446306" y="3894083"/>
            <a:ext cx="9274335" cy="2601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变量被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赋值一次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，使用若干次，即变量的值不会发生改变！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这一良好的特性在后续的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代码优化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中十分重要。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实际上，在开启优化之前，所有被定义的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（除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AllocaInst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）也只会被使用一次。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88995A-1153-4B06-8B73-1D548F38EF49}"/>
              </a:ext>
            </a:extLst>
          </p:cNvPr>
          <p:cNvSpPr txBox="1"/>
          <p:nvPr/>
        </p:nvSpPr>
        <p:spPr>
          <a:xfrm>
            <a:off x="1446305" y="561502"/>
            <a:ext cx="92743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未经经过优化的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SSA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</p:spTree>
    <p:extLst>
      <p:ext uri="{BB962C8B-B14F-4D97-AF65-F5344CB8AC3E}">
        <p14:creationId xmlns:p14="http://schemas.microsoft.com/office/powerpoint/2010/main" val="4082361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82F8546-6F69-4045-A62B-2D0EDAFF02FA}"/>
              </a:ext>
            </a:extLst>
          </p:cNvPr>
          <p:cNvSpPr txBox="1"/>
          <p:nvPr/>
        </p:nvSpPr>
        <p:spPr>
          <a:xfrm>
            <a:off x="5072606" y="1443841"/>
            <a:ext cx="60940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define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dso_local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i32 @main() 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%2 = load i32, i32* @condition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%3 =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icmp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ne i32 %2, 0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i1 %3, label %4, label %5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4:          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              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1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; preds = %0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label %6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5:                             </a:t>
            </a:r>
            <a:r>
              <a:rPr lang="en-US" altLang="zh-CN" b="0" i="1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; preds = %0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%1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label %6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6:                             </a:t>
            </a:r>
            <a:r>
              <a:rPr lang="en-US" altLang="zh-CN" b="0" i="1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; preds = %5, %4</a:t>
            </a:r>
            <a:br>
              <a:rPr lang="en-US" altLang="zh-CN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    ret i32 0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616F2A-5722-4DCC-B2EF-02EB35F6AF3F}"/>
              </a:ext>
            </a:extLst>
          </p:cNvPr>
          <p:cNvSpPr txBox="1"/>
          <p:nvPr/>
        </p:nvSpPr>
        <p:spPr>
          <a:xfrm>
            <a:off x="1553902" y="2136338"/>
            <a:ext cx="6094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(condition)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a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   a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069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93438B-FDF4-4808-908A-B305060F4E18}"/>
              </a:ext>
            </a:extLst>
          </p:cNvPr>
          <p:cNvSpPr txBox="1"/>
          <p:nvPr/>
        </p:nvSpPr>
        <p:spPr>
          <a:xfrm>
            <a:off x="752354" y="1228397"/>
            <a:ext cx="109033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SSA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十分有益于优化？因为通过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，我们把语义上是同一个变量的值的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活跃区间进行了拆分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，使得其活跃区间大幅度缩短，这就更有利于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寄存器的分配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这也是为什么在寄存器分配时，选择溢出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的原因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如果没有减少活跃区间，那么再次尝试分配寄存器时，还是会遇到冲突！</a:t>
            </a:r>
          </a:p>
        </p:txBody>
      </p:sp>
    </p:spTree>
    <p:extLst>
      <p:ext uri="{BB962C8B-B14F-4D97-AF65-F5344CB8AC3E}">
        <p14:creationId xmlns:p14="http://schemas.microsoft.com/office/powerpoint/2010/main" val="191785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669EE9-80EC-4EA3-BBCD-DEA54E3EF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801" y="729204"/>
            <a:ext cx="9207530" cy="519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32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26EB61-511F-494C-824B-FFB5016F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3" y="538497"/>
            <a:ext cx="10324618" cy="585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61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E446F9-CC99-4FE3-8D6C-3D258E9D19C1}"/>
              </a:ext>
            </a:extLst>
          </p:cNvPr>
          <p:cNvSpPr txBox="1"/>
          <p:nvPr/>
        </p:nvSpPr>
        <p:spPr>
          <a:xfrm>
            <a:off x="1223058" y="797510"/>
            <a:ext cx="97458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为什么要为每一个参数单独开一个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？为什么不直接使用参数？这不是非常愚笨吗？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假设一个函数传入了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个参数，只有在最后的基本块同时使用了这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个参数，那么这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活跃区间会贯穿整个函数，并且同时活跃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，那寄存器分配简直就是灾难！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发现：这里的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其实可以直接对应到函数调用中，调用者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通过内存传参的部分！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另一种思想：部分参数预先分配，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不参与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到后续的寄存器分配工程中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参数寄存器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诞生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138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5794B58-2642-4106-BED8-75FA9E6E0383}"/>
              </a:ext>
            </a:extLst>
          </p:cNvPr>
          <p:cNvSpPr txBox="1"/>
          <p:nvPr/>
        </p:nvSpPr>
        <p:spPr>
          <a:xfrm>
            <a:off x="3905511" y="2767280"/>
            <a:ext cx="43809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0" b="1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1402703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FEA4CDD-8295-47A4-8921-DCDF9D1A937F}"/>
              </a:ext>
            </a:extLst>
          </p:cNvPr>
          <p:cNvSpPr txBox="1"/>
          <p:nvPr/>
        </p:nvSpPr>
        <p:spPr>
          <a:xfrm>
            <a:off x="1530752" y="2366335"/>
            <a:ext cx="6094070" cy="212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50A0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A625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b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Consolas" panose="020B0609020204030204" pitchFamily="49" charset="0"/>
              </a:rPr>
              <a:t>98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dirty="0">
                <a:latin typeface="Consolas" panose="020B0609020204030204" pitchFamily="49" charset="0"/>
              </a:rPr>
            </a:b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b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a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Consolas" panose="020B0609020204030204" pitchFamily="49" charset="0"/>
              </a:rPr>
              <a:t> b;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20685B-560C-4E7B-B18A-9E1A2896CE37}"/>
              </a:ext>
            </a:extLst>
          </p:cNvPr>
          <p:cNvSpPr txBox="1"/>
          <p:nvPr/>
        </p:nvSpPr>
        <p:spPr>
          <a:xfrm>
            <a:off x="4806388" y="700591"/>
            <a:ext cx="6094070" cy="54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97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%1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; </a:t>
            </a:r>
            <a:r>
              <a:rPr lang="zh-CN" altLang="en-US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常量可直接由编译器进行类型转换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%2</a:t>
            </a:r>
            <a:r>
              <a:rPr lang="zh-CN" altLang="en-US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alloca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98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  </a:t>
            </a:r>
            <a:r>
              <a:rPr lang="en-US" altLang="zh-CN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; </a:t>
            </a:r>
            <a:r>
              <a:rPr lang="zh-CN" altLang="en-US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常量可直接由编译器进行类型转换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%3</a:t>
            </a:r>
            <a:r>
              <a:rPr lang="zh-CN" altLang="en-US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%1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load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%2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%5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zext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%4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to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 </a:t>
            </a:r>
            <a:r>
              <a:rPr lang="en-US" altLang="zh-CN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; char </a:t>
            </a:r>
            <a:r>
              <a:rPr lang="zh-CN" altLang="en-US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参与运算时需要扩展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%6</a:t>
            </a:r>
            <a:r>
              <a:rPr lang="zh-CN" altLang="en-US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=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add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nsw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%3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%5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= </a:t>
            </a:r>
            <a:r>
              <a:rPr lang="en-US" altLang="zh-CN" b="0" i="0" dirty="0" err="1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trunc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i32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%6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to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; </a:t>
            </a:r>
            <a:r>
              <a:rPr lang="zh-CN" altLang="en-US" b="0" i="1" dirty="0">
                <a:solidFill>
                  <a:srgbClr val="9FA0A6"/>
                </a:solidFill>
                <a:effectLst/>
                <a:latin typeface="Fira Code" panose="020B0809050000020004" pitchFamily="49" charset="0"/>
              </a:rPr>
              <a:t>保存时注意截断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A625A4"/>
                </a:solidFill>
                <a:effectLst/>
                <a:latin typeface="Fira Code" panose="020B0809050000020004" pitchFamily="49" charset="0"/>
              </a:rPr>
              <a:t>store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%7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, </a:t>
            </a:r>
            <a:r>
              <a:rPr lang="en-US" altLang="zh-CN" b="0" i="0" dirty="0">
                <a:solidFill>
                  <a:srgbClr val="B66A00"/>
                </a:solidFill>
                <a:effectLst/>
                <a:latin typeface="Fira Code" panose="020B0809050000020004" pitchFamily="49" charset="0"/>
              </a:rPr>
              <a:t>i8</a:t>
            </a:r>
            <a:r>
              <a:rPr lang="en-US" altLang="zh-CN" b="0" i="0" dirty="0">
                <a:solidFill>
                  <a:srgbClr val="383942"/>
                </a:solidFill>
                <a:effectLst/>
                <a:latin typeface="Fira Code" panose="020B0809050000020004" pitchFamily="49" charset="0"/>
              </a:rPr>
              <a:t>* </a:t>
            </a:r>
            <a:r>
              <a:rPr lang="en-US" altLang="zh-CN" b="0" i="0" dirty="0">
                <a:solidFill>
                  <a:srgbClr val="4078F1"/>
                </a:solidFill>
                <a:effectLst/>
                <a:latin typeface="Fira Code" panose="020B0809050000020004" pitchFamily="49" charset="0"/>
              </a:rPr>
              <a:t>%2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422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0CA71B-87CC-4F60-A884-40E111E072B0}"/>
              </a:ext>
            </a:extLst>
          </p:cNvPr>
          <p:cNvSpPr txBox="1"/>
          <p:nvPr/>
        </p:nvSpPr>
        <p:spPr>
          <a:xfrm>
            <a:off x="1302707" y="475988"/>
            <a:ext cx="915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“全局变量、函数与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都应该视作指针”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ED01AE-D6DB-43DF-B664-4B5E2354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67" y="2402974"/>
            <a:ext cx="3762222" cy="26951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F0B4AB-E7FD-4C39-816C-58764539B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059" y="1484209"/>
            <a:ext cx="7661052" cy="46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93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C24FAA-0A18-450E-BF6D-9F777E1230C2}"/>
              </a:ext>
            </a:extLst>
          </p:cNvPr>
          <p:cNvSpPr txBox="1"/>
          <p:nvPr/>
        </p:nvSpPr>
        <p:spPr>
          <a:xfrm>
            <a:off x="1108332" y="407171"/>
            <a:ext cx="9795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数组？？指针？？数组指针？？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86D6CD-6FCE-4DB0-AFBC-A7B19D0A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73" y="1771419"/>
            <a:ext cx="5706271" cy="16575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C6B560-0F46-4F2C-9E15-D5BB8FBD4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9918"/>
            <a:ext cx="12192000" cy="22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43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C24FAA-0A18-450E-BF6D-9F777E1230C2}"/>
              </a:ext>
            </a:extLst>
          </p:cNvPr>
          <p:cNvSpPr txBox="1"/>
          <p:nvPr/>
        </p:nvSpPr>
        <p:spPr>
          <a:xfrm>
            <a:off x="1108332" y="407171"/>
            <a:ext cx="9795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数组？？指针？？数组指针？？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24DDEF-EF99-46CA-92D2-26716D38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858" y="1432117"/>
            <a:ext cx="5296299" cy="17654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08DA88-9D5F-4F56-87C0-E3CE08FE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5" y="3299166"/>
            <a:ext cx="11660227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24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9FE95F-0CE0-4C17-AA66-683BFBA34C45}"/>
              </a:ext>
            </a:extLst>
          </p:cNvPr>
          <p:cNvSpPr txBox="1"/>
          <p:nvPr/>
        </p:nvSpPr>
        <p:spPr>
          <a:xfrm>
            <a:off x="5350136" y="333486"/>
            <a:ext cx="1491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CC1CA3-9AAA-4ED3-B4C3-31C46D9147CD}"/>
              </a:ext>
            </a:extLst>
          </p:cNvPr>
          <p:cNvSpPr txBox="1"/>
          <p:nvPr/>
        </p:nvSpPr>
        <p:spPr>
          <a:xfrm>
            <a:off x="1151068" y="1473798"/>
            <a:ext cx="95097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我们的文法虽然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只有一维数组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，但数组可以进行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递归定义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，所以直接上升到多维数组反而更有利于同学们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把握数组类型的本质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，尤其是在面对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的难点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getelementptr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）指令的时候，能够更加游刃有余。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另外，通过之前的观察，我们也不难得出如下重要但是十分自然的结论：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指令操作的，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一定是一个指针（地址）类型。</a:t>
            </a:r>
          </a:p>
        </p:txBody>
      </p:sp>
    </p:spTree>
    <p:extLst>
      <p:ext uri="{BB962C8B-B14F-4D97-AF65-F5344CB8AC3E}">
        <p14:creationId xmlns:p14="http://schemas.microsoft.com/office/powerpoint/2010/main" val="822574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D688237-2F7C-4FF9-9373-8BC48AA5055C}"/>
              </a:ext>
            </a:extLst>
          </p:cNvPr>
          <p:cNvSpPr txBox="1"/>
          <p:nvPr/>
        </p:nvSpPr>
        <p:spPr>
          <a:xfrm>
            <a:off x="3751729" y="489472"/>
            <a:ext cx="46885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数组，指针与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89C8C5-1D09-436E-B8FA-B6BE13CEEA12}"/>
              </a:ext>
            </a:extLst>
          </p:cNvPr>
          <p:cNvSpPr txBox="1"/>
          <p:nvPr/>
        </p:nvSpPr>
        <p:spPr>
          <a:xfrm>
            <a:off x="1427181" y="1441255"/>
            <a:ext cx="9337638" cy="5186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我们令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(k,i32)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表示包含了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类型的数组，也即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%1=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[k x i32]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那么就可以进行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递归的定义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。例如，对于一个三维数组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(k1,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(k2,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(k3, i32)))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表达就是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%2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[k1 x [k2 x [k3 x i32]]]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这也是很自然的，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对于数组的定义也不过如此。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而指针无非就是在维数和类型的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末尾添加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643599-770E-45FF-A289-EEAF5286A0C8}"/>
              </a:ext>
            </a:extLst>
          </p:cNvPr>
          <p:cNvSpPr txBox="1"/>
          <p:nvPr/>
        </p:nvSpPr>
        <p:spPr>
          <a:xfrm>
            <a:off x="9057939" y="503699"/>
            <a:ext cx="2495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注意：全局变量关于维度部分的定义是类似的，只用的不是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9190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430740-BEF1-4CFA-8569-F965D81B4842}"/>
              </a:ext>
            </a:extLst>
          </p:cNvPr>
          <p:cNvSpPr txBox="1"/>
          <p:nvPr/>
        </p:nvSpPr>
        <p:spPr>
          <a:xfrm>
            <a:off x="3751729" y="489472"/>
            <a:ext cx="46885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数组，指针与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E0A20-7A71-4895-AEA9-C1E8B63FAE27}"/>
              </a:ext>
            </a:extLst>
          </p:cNvPr>
          <p:cNvSpPr txBox="1"/>
          <p:nvPr/>
        </p:nvSpPr>
        <p:spPr>
          <a:xfrm>
            <a:off x="1215614" y="1581374"/>
            <a:ext cx="10058400" cy="4437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现在就是对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getelementptr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）指令的理解了。需要理解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，我们只需要记住以下三点：</a:t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GEP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的类型一定是一个指针；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GEP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是逐类型维度展开的；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数组不等于指针；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那就可以很好地理解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指令了。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742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795786-1020-440F-B741-C7CF19166276}"/>
              </a:ext>
            </a:extLst>
          </p:cNvPr>
          <p:cNvSpPr txBox="1"/>
          <p:nvPr/>
        </p:nvSpPr>
        <p:spPr>
          <a:xfrm>
            <a:off x="3048897" y="493064"/>
            <a:ext cx="5761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的类型一定是一个指针</a:t>
            </a:r>
            <a:endParaRPr lang="zh-CN" altLang="en-US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AAD256-E94A-483D-B1B5-1568D082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5152"/>
            <a:ext cx="12192000" cy="225707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585FCE0-9DD9-44A6-8D5A-A6849CC084B2}"/>
              </a:ext>
            </a:extLst>
          </p:cNvPr>
          <p:cNvSpPr txBox="1"/>
          <p:nvPr/>
        </p:nvSpPr>
        <p:spPr>
          <a:xfrm>
            <a:off x="763793" y="4399878"/>
            <a:ext cx="102735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上述代码其实就是要返回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[0][0][0]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被定义为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[2][2][2]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）元素。可以看到，在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指令之后，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指令使用了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根据我们先前的结论，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一定是一个指针类型。</a:t>
            </a:r>
          </a:p>
        </p:txBody>
      </p:sp>
    </p:spTree>
    <p:extLst>
      <p:ext uri="{BB962C8B-B14F-4D97-AF65-F5344CB8AC3E}">
        <p14:creationId xmlns:p14="http://schemas.microsoft.com/office/powerpoint/2010/main" val="666820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BD70052-D53E-4026-94B7-EC8D2665FD8A}"/>
              </a:ext>
            </a:extLst>
          </p:cNvPr>
          <p:cNvSpPr txBox="1"/>
          <p:nvPr/>
        </p:nvSpPr>
        <p:spPr>
          <a:xfrm>
            <a:off x="3462618" y="374731"/>
            <a:ext cx="5266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是逐类型维度展开的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A1755D-A466-499F-9D62-037A36831370}"/>
              </a:ext>
            </a:extLst>
          </p:cNvPr>
          <p:cNvSpPr txBox="1"/>
          <p:nvPr/>
        </p:nvSpPr>
        <p:spPr>
          <a:xfrm>
            <a:off x="1237129" y="1182231"/>
            <a:ext cx="10004611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如果仔细观察，会发现，如果访问一个三维数组的某元素，假设是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[0][0][0]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，那么我们的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内容是：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[2 x [2 x [2 x i32]]], [2 x [2 x [2 x i32]]]* %0,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 0, i64 0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而如果是对一个指向二维数组的指针取某元素，同样的也是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[0][0][0]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，但是我们的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内容却变成了：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[2 x [2 x i32], [2 x [2 x 32]]* %1,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 0, i64 0, i64 0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（以上例子就出自于我们先前的示例）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2E5D75-6B5C-4066-B56A-28C7556C7F65}"/>
              </a:ext>
            </a:extLst>
          </p:cNvPr>
          <p:cNvSpPr txBox="1"/>
          <p:nvPr/>
        </p:nvSpPr>
        <p:spPr>
          <a:xfrm>
            <a:off x="1237129" y="4808668"/>
            <a:ext cx="9886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这里我们只需要关注类型。按道理，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[2][2][2]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的定义是一个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三维数组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[][2][2]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指向二维数组的指针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，它们的访问形式应该是一样的，但是为什么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下标的数量不一致？？</a:t>
            </a:r>
          </a:p>
        </p:txBody>
      </p:sp>
    </p:spTree>
    <p:extLst>
      <p:ext uri="{BB962C8B-B14F-4D97-AF65-F5344CB8AC3E}">
        <p14:creationId xmlns:p14="http://schemas.microsoft.com/office/powerpoint/2010/main" val="2699420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7437BD-022F-48F0-9AAC-488AFC0FB007}"/>
              </a:ext>
            </a:extLst>
          </p:cNvPr>
          <p:cNvSpPr txBox="1"/>
          <p:nvPr/>
        </p:nvSpPr>
        <p:spPr>
          <a:xfrm>
            <a:off x="3462618" y="374731"/>
            <a:ext cx="5266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是逐类型维度展开的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6B722E-E796-42F6-8E0B-029316B5B99F}"/>
              </a:ext>
            </a:extLst>
          </p:cNvPr>
          <p:cNvSpPr txBox="1"/>
          <p:nvPr/>
        </p:nvSpPr>
        <p:spPr>
          <a:xfrm>
            <a:off x="1518621" y="1312433"/>
            <a:ext cx="915475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其实破局之处在于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的维度部分：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[2 x [2 x [2 x i32]]],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 x [2 x [2 x i32]]]*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[2 x [2 x i32],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 x [2 x 32]]*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可以看到，对于一个三维的数组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[2][2][2]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将其解析成为了一个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指向三维数组的指针！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原因其实很简单，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[2][2][2]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可以被理解为一个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x 2 x 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的连续内存块，而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就是指向这个连续内存块的首地址的一个标识。换句话说，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就是一个指向三维数组的指针。很显然，我们访问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[0][0][0]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时，肯定访问的是第一个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x 2 x 2 x int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的块，所以多出来额外一个维度的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 0.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98539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F38EB26-7810-4527-B843-AFED64F74A86}"/>
              </a:ext>
            </a:extLst>
          </p:cNvPr>
          <p:cNvSpPr txBox="1"/>
          <p:nvPr/>
        </p:nvSpPr>
        <p:spPr>
          <a:xfrm>
            <a:off x="4365364" y="622157"/>
            <a:ext cx="3461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数组不等于指针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F91370-D2FA-4B53-AA3C-09B1C0049294}"/>
              </a:ext>
            </a:extLst>
          </p:cNvPr>
          <p:cNvSpPr txBox="1"/>
          <p:nvPr/>
        </p:nvSpPr>
        <p:spPr>
          <a:xfrm>
            <a:off x="1161826" y="1463039"/>
            <a:ext cx="9509760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这里表达的意思是，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维的数组不等于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维的指针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，也即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[2][2][2]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int***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并不是等价的。不难发现，在我们的文法定义中，最多出现二重指针（传入的参数是数组，然后进行了一次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alloca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操作，所以至多产生二重指针）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F46D80-00E3-47B8-881D-48F0BE8E08D4}"/>
              </a:ext>
            </a:extLst>
          </p:cNvPr>
          <p:cNvSpPr txBox="1"/>
          <p:nvPr/>
        </p:nvSpPr>
        <p:spPr>
          <a:xfrm>
            <a:off x="1161826" y="5174428"/>
            <a:ext cx="9810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注意：其实指针的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本质就是一个地址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位上我们甚至可以直接使用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i64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来表示一个指针，而不需要考虑是几重的指针。再次声明，指针就是地址！</a:t>
            </a:r>
          </a:p>
        </p:txBody>
      </p:sp>
    </p:spTree>
    <p:extLst>
      <p:ext uri="{BB962C8B-B14F-4D97-AF65-F5344CB8AC3E}">
        <p14:creationId xmlns:p14="http://schemas.microsoft.com/office/powerpoint/2010/main" val="859692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2B371B-074C-4FA5-B9DD-268F7F5F143F}"/>
              </a:ext>
            </a:extLst>
          </p:cNvPr>
          <p:cNvSpPr txBox="1"/>
          <p:nvPr/>
        </p:nvSpPr>
        <p:spPr>
          <a:xfrm>
            <a:off x="609600" y="1536174"/>
            <a:ext cx="10972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如果你觉得太复杂，不用担心，因为我们的文法的数组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只有一个维度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，所以，如果觉得上述内容还是太复杂，那我们可以得出如下简要的结论：</a:t>
            </a:r>
            <a:b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一个数组参数，那就不需要额外地添加一个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，否则需要在最前面添加一个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8113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170CC-FBDA-4504-9EB0-56626B8063A6}"/>
              </a:ext>
            </a:extLst>
          </p:cNvPr>
          <p:cNvSpPr txBox="1"/>
          <p:nvPr/>
        </p:nvSpPr>
        <p:spPr>
          <a:xfrm>
            <a:off x="1279742" y="2274838"/>
            <a:ext cx="9632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中间代码生成与与带属性的递归下降翻译</a:t>
            </a:r>
          </a:p>
        </p:txBody>
      </p:sp>
    </p:spTree>
    <p:extLst>
      <p:ext uri="{BB962C8B-B14F-4D97-AF65-F5344CB8AC3E}">
        <p14:creationId xmlns:p14="http://schemas.microsoft.com/office/powerpoint/2010/main" val="7917190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544CEF-57FD-4D1E-B280-0729945BD1EA}"/>
              </a:ext>
            </a:extLst>
          </p:cNvPr>
          <p:cNvSpPr txBox="1"/>
          <p:nvPr/>
        </p:nvSpPr>
        <p:spPr>
          <a:xfrm>
            <a:off x="1323583" y="363255"/>
            <a:ext cx="9544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带属性的递归下降翻译：继承属性和综合属性</a:t>
            </a:r>
          </a:p>
        </p:txBody>
      </p:sp>
      <p:pic>
        <p:nvPicPr>
          <p:cNvPr id="3" name="Picture 4" descr="A diagram of a function&#10;&#10;Description automatically generated">
            <a:extLst>
              <a:ext uri="{FF2B5EF4-FFF2-40B4-BE49-F238E27FC236}">
                <a16:creationId xmlns:a16="http://schemas.microsoft.com/office/drawing/2014/main" id="{2B1B2528-57AE-4A49-A5CB-814811DF0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57" y="1009586"/>
            <a:ext cx="581008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494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6F8C59-FAAF-49A5-A923-D07B49EF77AA}"/>
              </a:ext>
            </a:extLst>
          </p:cNvPr>
          <p:cNvSpPr txBox="1"/>
          <p:nvPr/>
        </p:nvSpPr>
        <p:spPr>
          <a:xfrm>
            <a:off x="1066800" y="49831"/>
            <a:ext cx="4830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短路求值问题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5ADFCD4-6A4E-452F-A7FF-3F8C3680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97" y="297257"/>
            <a:ext cx="5223903" cy="6400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2E9EF1-41B4-4CFF-ABA5-E3F68224B07A}"/>
              </a:ext>
            </a:extLst>
          </p:cNvPr>
          <p:cNvSpPr txBox="1"/>
          <p:nvPr/>
        </p:nvSpPr>
        <p:spPr>
          <a:xfrm>
            <a:off x="338335" y="1720420"/>
            <a:ext cx="6094206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（左上角）代表条件为真要跳转到的基本块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（右上角）代表条件为假要跳转到的基本块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（左下角）代表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将要生成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的条件所在的基本块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右下角（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没有）代表当前节点新创建的基本块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 表示该基本块由父节点传递下来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 表示进入时即将该基本块插入函数，并作为当前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基本块，即之后生成的指令（条件计算）会添加到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该基本块中。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762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D4C1DB-7254-481B-BF45-6122D298FED2}"/>
              </a:ext>
            </a:extLst>
          </p:cNvPr>
          <p:cNvSpPr txBox="1"/>
          <p:nvPr/>
        </p:nvSpPr>
        <p:spPr>
          <a:xfrm>
            <a:off x="1658470" y="344245"/>
            <a:ext cx="8875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905749-54F1-4A83-844B-589FCCBA8800}"/>
              </a:ext>
            </a:extLst>
          </p:cNvPr>
          <p:cNvSpPr txBox="1"/>
          <p:nvPr/>
        </p:nvSpPr>
        <p:spPr>
          <a:xfrm>
            <a:off x="1658469" y="1764254"/>
            <a:ext cx="88750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如果按照书上的标准方法，继承属性我们就需要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传入值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，而综合属性我们就需要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传入指针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，这对于使用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书写编译器的同学们并不方便；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由于在处理一个语法成分的时候，我们已经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了其需要的继承属性和综合属性，一旦需要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，就十分麻烦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4936DD-6AA7-4F54-B1C9-D99C09E8E737}"/>
              </a:ext>
            </a:extLst>
          </p:cNvPr>
          <p:cNvSpPr txBox="1"/>
          <p:nvPr/>
        </p:nvSpPr>
        <p:spPr>
          <a:xfrm>
            <a:off x="3309767" y="5185186"/>
            <a:ext cx="5572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如何解决？栈！！</a:t>
            </a:r>
          </a:p>
        </p:txBody>
      </p:sp>
    </p:spTree>
    <p:extLst>
      <p:ext uri="{BB962C8B-B14F-4D97-AF65-F5344CB8AC3E}">
        <p14:creationId xmlns:p14="http://schemas.microsoft.com/office/powerpoint/2010/main" val="2793158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EEEBE4-710A-430D-AF53-F328FA6D9908}"/>
              </a:ext>
            </a:extLst>
          </p:cNvPr>
          <p:cNvSpPr txBox="1"/>
          <p:nvPr/>
        </p:nvSpPr>
        <p:spPr>
          <a:xfrm>
            <a:off x="1427181" y="2151727"/>
            <a:ext cx="93376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对于任意的继承属性，其由父结点压栈，而由子结点弹栈；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对于任意的综合属性，其由子结点压栈，而由父结点弹栈。</a:t>
            </a:r>
          </a:p>
        </p:txBody>
      </p:sp>
    </p:spTree>
    <p:extLst>
      <p:ext uri="{BB962C8B-B14F-4D97-AF65-F5344CB8AC3E}">
        <p14:creationId xmlns:p14="http://schemas.microsoft.com/office/powerpoint/2010/main" val="42686836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diagram of a function&#10;&#10;Description automatically generated">
            <a:extLst>
              <a:ext uri="{FF2B5EF4-FFF2-40B4-BE49-F238E27FC236}">
                <a16:creationId xmlns:a16="http://schemas.microsoft.com/office/drawing/2014/main" id="{93BC9630-32D1-4025-A26B-3C75DE6C0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26" y="685800"/>
            <a:ext cx="5810084" cy="5486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BAB9464-1288-44F9-9126-98C3A29E2741}"/>
              </a:ext>
            </a:extLst>
          </p:cNvPr>
          <p:cNvSpPr txBox="1"/>
          <p:nvPr/>
        </p:nvSpPr>
        <p:spPr>
          <a:xfrm>
            <a:off x="6214810" y="1563361"/>
            <a:ext cx="5810084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在处理最顶层的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时，我们需要一个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和一个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，那么我们可以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，在调用了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parseAddExp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parseMulExp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函数之后，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栈（一切皆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！）中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，最顶层的两个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一定是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AddExp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MulExp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此时，我们弹出栈顶两个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MulExp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v3=v1+v2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AddExp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，此时再压入栈。</a:t>
            </a:r>
          </a:p>
        </p:txBody>
      </p:sp>
    </p:spTree>
    <p:extLst>
      <p:ext uri="{BB962C8B-B14F-4D97-AF65-F5344CB8AC3E}">
        <p14:creationId xmlns:p14="http://schemas.microsoft.com/office/powerpoint/2010/main" val="3502165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3F4246-B12E-4BAC-829B-45164710C88D}"/>
              </a:ext>
            </a:extLst>
          </p:cNvPr>
          <p:cNvSpPr txBox="1"/>
          <p:nvPr/>
        </p:nvSpPr>
        <p:spPr>
          <a:xfrm>
            <a:off x="711797" y="763794"/>
            <a:ext cx="10768405" cy="544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同样地，对于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短路求值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问题，我们可以构造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当前基本块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、条件为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真跳转到的基本块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trueBB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以及条件为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假跳转到的基本块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falseBB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而言，其被处理成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，那么我们可以为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创建一个基本块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，这个基本块是：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为假时，跳转到的基本块；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所在的基本块；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所以，在递归翻译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的时候，我们可以将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压入到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falseBB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中，而在翻译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的时候，我们就将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压入到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那么何时弹栈呢？注意到在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IR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基本块是线性的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，也即在翻译完成父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之后，由于后续的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中，这也就代表着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栈顶的基本块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不会再放入新的指令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，所以我们要在翻译完子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，即将翻译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LAndExp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进行弹栈。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注意，由于这个过程是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递归下降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的，所以翻译完子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中的基本块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不一定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就是父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LOrExp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所在的基本块。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事实上，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压缩为单变量，而不使用栈。</a:t>
            </a:r>
          </a:p>
        </p:txBody>
      </p:sp>
    </p:spTree>
    <p:extLst>
      <p:ext uri="{BB962C8B-B14F-4D97-AF65-F5344CB8AC3E}">
        <p14:creationId xmlns:p14="http://schemas.microsoft.com/office/powerpoint/2010/main" val="590701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A93C91-DFE4-4A4F-B8A5-1B7874C9E824}"/>
              </a:ext>
            </a:extLst>
          </p:cNvPr>
          <p:cNvSpPr txBox="1"/>
          <p:nvPr/>
        </p:nvSpPr>
        <p:spPr>
          <a:xfrm>
            <a:off x="475129" y="889843"/>
            <a:ext cx="112417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实际上，这样的方法与将继承属性和综合属性作为函数参数传入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没有本质区别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函数调用的本质就是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压入了函数的栈帧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，而我们为继承和综合属性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单独维护一个栈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，其实就是将原先应该被押入到函数栈中的数据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换到另一个栈空间上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，这个栈空间的行为应该是与函数栈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保持一致的。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所以，采用自己喜欢的方式进行涉及即可！</a:t>
            </a:r>
          </a:p>
        </p:txBody>
      </p:sp>
    </p:spTree>
    <p:extLst>
      <p:ext uri="{BB962C8B-B14F-4D97-AF65-F5344CB8AC3E}">
        <p14:creationId xmlns:p14="http://schemas.microsoft.com/office/powerpoint/2010/main" val="20942711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42458D-6513-435D-B7F3-E402606FED3F}"/>
              </a:ext>
            </a:extLst>
          </p:cNvPr>
          <p:cNvSpPr txBox="1"/>
          <p:nvPr/>
        </p:nvSpPr>
        <p:spPr>
          <a:xfrm>
            <a:off x="1196051" y="714682"/>
            <a:ext cx="10995949" cy="518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希冀平台在线教程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tolangc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https://github.com/wokron/tolangc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继承结构：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https://llvm.org/doxygen/classllvm_1_1Value.html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继承结构：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https://llvm.org/doxygen/classllvm_1_1Type.html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https://github.com/llvm-mirror/llvm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https://github.com/llvm/llvm-project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7227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55A123-33E1-4C94-9AC7-D531D69D988D}"/>
              </a:ext>
            </a:extLst>
          </p:cNvPr>
          <p:cNvSpPr txBox="1"/>
          <p:nvPr/>
        </p:nvSpPr>
        <p:spPr>
          <a:xfrm>
            <a:off x="4122516" y="2828835"/>
            <a:ext cx="3946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285134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5008</Words>
  <Application>Microsoft Office PowerPoint</Application>
  <PresentationFormat>宽屏</PresentationFormat>
  <Paragraphs>196</Paragraphs>
  <Slides>56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3" baseType="lpstr">
      <vt:lpstr>等线</vt:lpstr>
      <vt:lpstr>等线 Light</vt:lpstr>
      <vt:lpstr>微软雅黑</vt:lpstr>
      <vt:lpstr>Arial</vt:lpstr>
      <vt:lpstr>Consolas</vt:lpstr>
      <vt:lpstr>Fira Code</vt:lpstr>
      <vt:lpstr>Office 主题​​</vt:lpstr>
      <vt:lpstr>中间代码生成   LLVM IR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中间代码生成 LLVM IR</dc:title>
  <dc:creator>1822755149@qq.com</dc:creator>
  <cp:lastModifiedBy>1822755149@qq.com</cp:lastModifiedBy>
  <cp:revision>295</cp:revision>
  <dcterms:created xsi:type="dcterms:W3CDTF">2025-09-15T05:43:31Z</dcterms:created>
  <dcterms:modified xsi:type="dcterms:W3CDTF">2025-09-15T22:18:57Z</dcterms:modified>
</cp:coreProperties>
</file>